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45720"/>
          </a:xfrm>
          <a:prstGeom prst="rect">
            <a:avLst/>
          </a:prstGeom>
          <a:solidFill>
            <a:srgbClr val="C5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STARTER MOTOR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0">
                <a:solidFill>
                  <a:srgbClr val="C58B1F"/>
                </a:solidFill>
                <a:latin typeface="Calibri"/>
              </a:defRPr>
            </a:pPr>
            <a:r>
              <a:t>From Roadside No-Starts to a Monitored Fleet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0B8C4"/>
                </a:solidFill>
                <a:latin typeface="Calibri"/>
              </a:defRPr>
            </a:pPr>
            <a:r>
              <a:t>BharatBenz 5528T Heavy-Duty Trucks  |  34-Vehicle Study  |  June 2026  |  V1.1_SM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663440"/>
            <a:ext cx="2697480" cy="1005840"/>
          </a:xfrm>
          <a:prstGeom prst="roundRect">
            <a:avLst/>
          </a:prstGeom>
          <a:solidFill>
            <a:srgbClr val="15253A"/>
          </a:solidFill>
          <a:ln w="19050">
            <a:solidFill>
              <a:srgbClr val="C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3659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B0B8C4"/>
                </a:solidFill>
                <a:latin typeface="Calibri"/>
              </a:defRPr>
            </a:pPr>
            <a:r>
              <a:t>FAILURES 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83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C58B1F"/>
                </a:solidFill>
                <a:latin typeface="Calibri"/>
              </a:defRPr>
            </a:pPr>
            <a:r>
              <a:t>13 of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13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Catch-most setting -- also flags 5 of 20 healthy trucks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4663440"/>
            <a:ext cx="2697480" cy="1005840"/>
          </a:xfrm>
          <a:prstGeom prst="roundRect">
            <a:avLst/>
          </a:prstGeom>
          <a:solidFill>
            <a:srgbClr val="15253A"/>
          </a:solidFill>
          <a:ln w="19050">
            <a:solidFill>
              <a:srgbClr val="C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473659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B0B8C4"/>
                </a:solidFill>
                <a:latin typeface="Calibri"/>
              </a:defRPr>
            </a:pPr>
            <a:r>
              <a:t>EARLY-WARNING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983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C58B1F"/>
                </a:solidFill>
                <a:latin typeface="Calibri"/>
              </a:defRPr>
            </a:pPr>
            <a:r>
              <a:t>~10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5413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Flagged trucks are typically within ~2.3 months of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663440"/>
            <a:ext cx="2697480" cy="1005840"/>
          </a:xfrm>
          <a:prstGeom prst="roundRect">
            <a:avLst/>
          </a:prstGeom>
          <a:solidFill>
            <a:srgbClr val="15253A"/>
          </a:solidFill>
          <a:ln w="19050">
            <a:solidFill>
              <a:srgbClr val="C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473659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B0B8C4"/>
                </a:solidFill>
                <a:latin typeface="Calibri"/>
              </a:defRPr>
            </a:pPr>
            <a:r>
              <a:t>FALSE ALARMS (RED TIER)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4983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C58B1F"/>
                </a:solidFill>
                <a:latin typeface="Calibri"/>
              </a:defRPr>
            </a:pPr>
            <a:r>
              <a:t>2 of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5413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Stricter RED-tier setting -- catches 10 of 14 failures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4663440"/>
            <a:ext cx="2697480" cy="1005840"/>
          </a:xfrm>
          <a:prstGeom prst="roundRect">
            <a:avLst/>
          </a:prstGeom>
          <a:solidFill>
            <a:srgbClr val="15253A"/>
          </a:solidFill>
          <a:ln w="19050">
            <a:solidFill>
              <a:srgbClr val="C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473659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B0B8C4"/>
                </a:solidFill>
                <a:latin typeface="Calibri"/>
              </a:defRPr>
            </a:pPr>
            <a:r>
              <a:t>FLEET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4983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C58B1F"/>
                </a:solidFill>
                <a:latin typeface="Calibri"/>
              </a:defRPr>
            </a:pPr>
            <a:r>
              <a:t>34 Trucks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5413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Every truck scored, tiered, explained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Turning existing truck telemetry into actionable starter motor maintenance intelligence</a:t>
            </a:r>
          </a:p>
        </p:txBody>
      </p:sp>
      <p:pic>
        <p:nvPicPr>
          <p:cNvPr id="5" name="Picture 4" descr="valu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94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THREE PLAIN-LANGUAGE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60520"/>
            <a:ext cx="3474720" cy="146304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5CB0"/>
                </a:solidFill>
                <a:latin typeface="Calibri"/>
              </a:defRPr>
            </a:pPr>
            <a:r>
              <a:t>1. RISK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Every truck gets a calibrated risk score from its own voltage patterns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Scores map to GREEN / AMBER / RED maintenance tiers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13 of 14 past failures flagged before they failed (catch-most setting)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160520"/>
            <a:ext cx="3474720" cy="146304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B87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B87A0F"/>
                </a:solidFill>
                <a:latin typeface="Calibri"/>
              </a:defRPr>
            </a:pPr>
            <a:r>
              <a:t>2. EARLY-WARNING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A flagged truck is typically within ~10 weeks of failure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Battery-cascade alert: ~9.5-week median lead, zero false alarms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13 of 14 failed trucks fired at least one alert 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160520"/>
            <a:ext cx="3474720" cy="146304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57F3D"/>
                </a:solidFill>
                <a:latin typeface="Calibri"/>
              </a:defRPr>
            </a:pPr>
            <a:r>
              <a:t>3. BATTERY-VS-STARTER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Detects the battery-degradation cascade that mimics starter failure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Routes the work order battery-first -- the cheapest correct fix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Provably ignores battery replacements (no false trigger)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06440"/>
            <a:ext cx="11430000" cy="59436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852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6247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No new sensors needed -- the system runs on existing CAN bus data already collected from the fleet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636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Every alert comes with its reasons: which signal moved, by how much, and what would clear the 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WELL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Validated results across 34 trucks (14 known failures + 20 in-service)</a:t>
            </a:r>
          </a:p>
        </p:txBody>
      </p:sp>
      <p:pic>
        <p:nvPicPr>
          <p:cNvPr id="5" name="Picture 4" descr="V1_1_SM_daily_risk_VIN6_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4041648" cy="26097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10972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D1B2A"/>
                </a:solidFill>
                <a:latin typeface="Calibri"/>
              </a:defRPr>
            </a:pPr>
            <a:r>
              <a:t>DAILY DEGRADATION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Each truck gets a daily-updated degradation view; colors = action tiers (green = healthy, red = act now).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This failed truck (VIN6) walked the full green-to-red path before its starter failed -- the battery alert fired ~70 days early.</a:t>
            </a:r>
          </a:p>
          <a:p>
            <a:pPr>
              <a:spcAft>
                <a:spcPts val="4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•  The dotted tail is a fleet-average projection, not a failure date.</a:t>
            </a:r>
          </a:p>
        </p:txBody>
      </p:sp>
      <p:pic>
        <p:nvPicPr>
          <p:cNvPr id="8" name="Picture 7" descr="fleet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051560"/>
            <a:ext cx="4114800" cy="25855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7490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HEADLINE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803904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750" b="0">
                <a:solidFill>
                  <a:srgbClr val="606060"/>
                </a:solidFill>
                <a:latin typeface="Calibri"/>
              </a:defRPr>
            </a:pPr>
            <a:r>
              <a:t>Sequential fleet numbering: VIN1-14 failed, VIN15-34 in-service (raw-file mapping: results/V1_1_SM_vin_naming_map.csv).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406908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029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 Impact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Failure detection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 of 14 caught at the catch-most setting (5 of 20 healthy flagged)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High-risk trucks inspected before they strand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False-alarm burden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 of 20 healthy at RED tier -- the stricter setting, which catches 10 of 14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Inspection effort goes where the risk is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Early warning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Flagged trucks typically within ~10 weeks; battery alerts ~9.5 weeks ahead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Time to schedule, source parts, avoid roadside events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Triage routing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Battery-cascade detector: 0 false alarms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Cheapest correct intervention happens first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 status today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 LOW / 2 WATCH / 2 HIGH risk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Two trucks (VIN19_NF, VIN34_NF) need inspection now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5989320"/>
            <a:ext cx="11430000" cy="4114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453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One dial, one honest trade: the catch-most setting flags 13 of 14 failures but 5 of 20 healthy trucks; the stricter RED tier flags 10 of 14 at 2 of 20 -- operations picks the setting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Versus the first-generation system: one more failure caught (including its worst miss), trustworthy probabilities, and an early-warning capability it did not have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IT CANNOT DO --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Transparent assessment of current system boundaries</a:t>
            </a:r>
          </a:p>
        </p:txBody>
      </p:sp>
      <p:pic>
        <p:nvPicPr>
          <p:cNvPr id="5" name="Picture 4" descr="effect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40080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051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HONEST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173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•  It does not predict failure dates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With only 14 failure examples, a countdown clock is mathematically unsupportable -- every attempted timing model lost to a simple constant. The system says 'within ~10 weeks', never 'on June 14th'.</a:t>
            </a:r>
          </a:p>
          <a:p>
            <a:pPr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•  ~4 of 14 failures are invisible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Sudden internal failures (windings, seizure) and trucks whose telemetry goes silent give no electrical warning at this data resolution.</a:t>
            </a:r>
          </a:p>
          <a:p>
            <a:pPr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•  Some alerts will be early or wrong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A few healthy trucks get flagged: one shows genuinely stressed electrical signals; another is flagged on its risk score alone. Those inspections are cheap insurance, but they are not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DATA GAPS LIMITING ACCURACY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06908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4114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on System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to Close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Voltage sampled only every 5 seconds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The 2-4 month brush-wear warning signal is physically unreadable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High-frequency crank logging (post-2026 vehicle architecture)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cranking current or battery health signal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Battery vs starter cannot be proven, only inferred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Add current or battery SoC/SoH instrumentation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maintenance/parts records in the 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Failure modes are inferred from patterns, not confirmed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Link workshop records to telemetry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Only 14 failure examples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Statistical uncertainty on every number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Keep collecting failures as the fleet ages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Some trucks transmit no crank 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 of 34 trucks have a config that hides starter activity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Telemetry-config audit; treat silence as a maintenance trigger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5989320"/>
            <a:ext cx="11430000" cy="4114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2453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These are physics and data-size constraints, not model deficiencies -- the system performs at the honest ceiling of what this data allows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The boundaries are measured and stated, which is what makes the rest of the numbers trustworthy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RECOMMENDED ACTIONS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Priority actions for fleet operations and what to invest in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E8C45"/>
                </a:solidFill>
                <a:latin typeface="Calibri"/>
              </a:defRPr>
            </a:pPr>
            <a:r>
              <a:t>IMMEDIATE ACTIONS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651760"/>
                <a:gridCol w="11887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Inspect the 2 RED trucks (VIN19_NF, VIN34_NF): starter + battery circuit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 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2-4 weeks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Bundle the 2 AMBER trucks (VIN16_NF, VIN24_NF) into next service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 Ops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Next service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Stand up weekly fleet scoring with monthly tier review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Engineering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This quarter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Enable battery-first routing on cascade alerts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Maintenance Planning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This quarter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5CB0"/>
                </a:solidFill>
                <a:latin typeface="Calibri"/>
              </a:defRPr>
            </a:pPr>
            <a:r>
              <a:t>WHAT TO INVEST IN NEXT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1732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21031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Investment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Impact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High-frequency crank logging (&gt;=1 Hz)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Unlocks months-ahead brush-wear warning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Cranking current or battery health signal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Proves battery-vs-starter; sharper alerts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Link maintenance/parts records to telemetry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Confirms failure modes; better labels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Keep collecting failure examples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Narrows uncertainty on every number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Telemetry-config and transmission-health audit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Closes the silent-truck blind spot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OPERATING RHYTHM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Weekly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Re-score every truck; new RED or battery-cascade alert triggers a work order</a:t>
            </a:r>
          </a:p>
          <a:p>
            <a:pPr>
              <a:spcAft>
                <a:spcPts val="4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Monthly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Tier review with fleet ops; track the watch-list trucks for drift or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On each confirmed failure or repair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Feed the outcome back; retrain only under the audited validation protocol</a:t>
            </a:r>
          </a:p>
          <a:p>
            <a:pPr>
              <a:spcAft>
                <a:spcPts val="4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Rule of communication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Quote risk tiers and the ~10-week window -- never a failure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11430000" cy="4114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453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The system delivers value today: two RED trucks to inspect, a weekly scoring rhythm, and battery-first triage on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Highest-leverage investments are new signals (crank logging, battery health), not more modeling on the same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