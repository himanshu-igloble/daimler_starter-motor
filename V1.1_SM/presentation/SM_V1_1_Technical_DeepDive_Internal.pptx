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E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1783080"/>
            <a:ext cx="128016" cy="1481328"/>
          </a:xfrm>
          <a:prstGeom prst="rect">
            <a:avLst/>
          </a:prstGeom>
          <a:solidFill>
            <a:srgbClr val="0E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11556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9FB3C8"/>
                </a:solidFill>
                <a:latin typeface="Segoe UI"/>
              </a:rPr>
              <a:t>INTERNAL — SENIOR ENGINEERING REVIEW FOR WORK APPROVAL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0432" y="1783080"/>
            <a:ext cx="1042416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 i="0">
                <a:solidFill>
                  <a:srgbClr val="FFFFFF"/>
                </a:solidFill>
                <a:latin typeface="Segoe UI"/>
              </a:rPr>
              <a:t>Starter Motor Failure Prediction V1.1</a:t>
            </a:r>
          </a:p>
          <a:p>
            <a:pPr algn="l">
              <a:spcAft>
                <a:spcPts val="600"/>
              </a:spcAft>
            </a:pPr>
            <a:r>
              <a:rPr sz="2200" b="0" i="0">
                <a:solidFill>
                  <a:srgbClr val="C9D6E3"/>
                </a:solidFill>
                <a:latin typeface="Segoe UI"/>
              </a:rPr>
              <a:t>Technical Deep-Dive: Data, Methods, Validation, Results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70432" y="3429000"/>
            <a:ext cx="10241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9FB3C8"/>
                </a:solidFill>
                <a:latin typeface="Segoe UI"/>
              </a:rPr>
              <a:t>Nested leave-one-vehicle-out RidgeClassifier pipeline · 34-truck fleet · 106.4M telemetry rows · frozen 4-feature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0432" y="4526280"/>
            <a:ext cx="2514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400" b="1" i="0">
                <a:solidFill>
                  <a:srgbClr val="FFFFFF"/>
                </a:solidFill>
                <a:latin typeface="Segoe UI"/>
              </a:rPr>
              <a:t>0.9321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70432" y="5010912"/>
            <a:ext cx="2514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9FB3C8"/>
                </a:solidFill>
                <a:latin typeface="Segoe UI"/>
              </a:rPr>
              <a:t>nested-LOVO AUROC [0.811, 0.986]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94760" y="4526280"/>
            <a:ext cx="2514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400" b="1" i="0">
                <a:solidFill>
                  <a:srgbClr val="FFFFFF"/>
                </a:solidFill>
                <a:latin typeface="Segoe UI"/>
              </a:rPr>
              <a:t>p = 0.005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94760" y="5010912"/>
            <a:ext cx="2514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9FB3C8"/>
                </a:solidFill>
                <a:latin typeface="Segoe UI"/>
              </a:rPr>
              <a:t>full-pipeline permutation test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4526280"/>
            <a:ext cx="2514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400" b="1" i="0">
                <a:solidFill>
                  <a:srgbClr val="FFFFFF"/>
                </a:solidFill>
                <a:latin typeface="Segoe UI"/>
              </a:rPr>
              <a:t>13 / 14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9088" y="5010912"/>
            <a:ext cx="2514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9FB3C8"/>
                </a:solidFill>
                <a:latin typeface="Segoe UI"/>
              </a:rPr>
              <a:t>recall @ per-fold Youden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43416" y="4526280"/>
            <a:ext cx="2514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400" b="1" i="0">
                <a:solidFill>
                  <a:srgbClr val="FFFFFF"/>
                </a:solidFill>
                <a:latin typeface="Segoe UI"/>
              </a:rPr>
              <a:t>k* = 10 wk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43416" y="5010912"/>
            <a:ext cx="2514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9FB3C8"/>
                </a:solidFill>
                <a:latin typeface="Segoe UI"/>
              </a:rPr>
              <a:t>validated prequential horizon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70432" y="6080760"/>
            <a:ext cx="9875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 i="0">
                <a:solidFill>
                  <a:srgbClr val="9FB3C8"/>
                </a:solidFill>
                <a:latin typeface="Segoe UI"/>
              </a:rPr>
              <a:t>July 2026  ·  V1.1 frozen 2026-06-10  ·  artifacts: STARTER MOTOR/V1.1/{results, reports, audit, discovery, graphs}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42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" y="0"/>
            <a:ext cx="91440" cy="566928"/>
          </a:xfrm>
          <a:prstGeom prst="rect">
            <a:avLst/>
          </a:prstGeom>
          <a:solidFill>
            <a:srgbClr val="0E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01168"/>
            <a:ext cx="9692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5B6B7C"/>
                </a:solidFill>
                <a:latin typeface="Segoe UI"/>
              </a:rPr>
              <a:t>INTERNAL · TECHNICAL REVIEW  — 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29768"/>
            <a:ext cx="104241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300" b="1" i="0">
                <a:solidFill>
                  <a:srgbClr val="14263A"/>
                </a:solidFill>
                <a:latin typeface="Segoe UI"/>
              </a:rPr>
              <a:t>What V1.1 delivers, and what we are asking you to approve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219456"/>
            <a:ext cx="868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1000" b="0" i="0">
                <a:solidFill>
                  <a:srgbClr val="5B6B7C"/>
                </a:solidFill>
                <a:latin typeface="Segoe UI"/>
              </a:rPr>
              <a:t>02 / 25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234440"/>
            <a:ext cx="54864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9496" y="1307592"/>
            <a:ext cx="523036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14263A"/>
                </a:solidFill>
                <a:latin typeface="Segoe UI"/>
              </a:rPr>
              <a:t>SCOPE OF THE V1.1 ITERATION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600200"/>
            <a:ext cx="512064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1">
                <a:solidFill>
                  <a:srgbClr val="14263A"/>
                </a:solidFill>
                <a:latin typeface="Segoe UI"/>
              </a:rPr>
              <a:t>Objective:  </a:t>
            </a:r>
            <a:r>
              <a:rPr sz="1000" b="0">
                <a:solidFill>
                  <a:srgbClr val="212B36"/>
                </a:solidFill>
                <a:latin typeface="Segoe UI"/>
              </a:rPr>
              <a:t>weekly per-vehicle starter-motor failure-risk classification on the 34-truck SM fleet (14 failed / 20 non-failed).</a:t>
            </a:r>
          </a:p>
          <a:p>
            <a:pPr algn="l">
              <a:spcAft>
                <a:spcPts val="600"/>
              </a:spcAft>
            </a:pPr>
            <a:r>
              <a:rPr sz="1000" b="1">
                <a:solidFill>
                  <a:srgbClr val="14263A"/>
                </a:solidFill>
                <a:latin typeface="Segoe UI"/>
              </a:rPr>
              <a:t>Method:  </a:t>
            </a:r>
            <a:r>
              <a:rPr sz="1000" b="0">
                <a:solidFill>
                  <a:srgbClr val="212B36"/>
                </a:solidFill>
                <a:latin typeface="Segoe UI"/>
              </a:rPr>
              <a:t>nested leave-one-vehicle-out (LOVO) RidgeClassifier(alpha=1.0), fold-internal imputation/scaling/selection, per-fold Platt recalibration, pre-registered thresholds.</a:t>
            </a:r>
          </a:p>
          <a:p>
            <a:pPr algn="l">
              <a:spcAft>
                <a:spcPts val="600"/>
              </a:spcAft>
            </a:pPr>
            <a:r>
              <a:rPr sz="1000" b="1">
                <a:solidFill>
                  <a:srgbClr val="14263A"/>
                </a:solidFill>
                <a:latin typeface="Segoe UI"/>
              </a:rPr>
              <a:t>Deliverables:  </a:t>
            </a:r>
            <a:r>
              <a:rPr sz="1000" b="0">
                <a:solidFill>
                  <a:srgbClr val="212B36"/>
                </a:solidFill>
                <a:latin typeface="Segoe UI"/>
              </a:rPr>
              <a:t>recalibrated probabilities + GREEN/AMBER/RED tiers, 3-channel alert layer, 10-week validity horizon, 34 per-VIN dashboards, full audit trail.</a:t>
            </a:r>
          </a:p>
          <a:p>
            <a:pPr algn="l">
              <a:spcAft>
                <a:spcPts val="600"/>
              </a:spcAft>
            </a:pPr>
            <a:r>
              <a:rPr sz="1000" b="1">
                <a:solidFill>
                  <a:srgbClr val="14263A"/>
                </a:solidFill>
                <a:latin typeface="Segoe UI"/>
              </a:rPr>
              <a:t>Explicit non-deliverable:  </a:t>
            </a:r>
            <a:r>
              <a:rPr sz="1000" b="0">
                <a:solidFill>
                  <a:srgbClr val="212B36"/>
                </a:solidFill>
                <a:latin typeface="Segoe UI"/>
              </a:rPr>
              <a:t>day-level RUL / failure-date forecasts (all survival variants lose to a constant — evidence on slide 17).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3703320"/>
            <a:ext cx="548640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9496" y="3776472"/>
            <a:ext cx="523036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14263A"/>
                </a:solidFill>
                <a:latin typeface="Segoe UI"/>
              </a:rPr>
              <a:t>WHY V1.1 EXISTS (V1 POST-MORTEM)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4069080"/>
            <a:ext cx="512064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212B36"/>
                </a:solidFill>
                <a:latin typeface="Segoe UI"/>
              </a:rPr>
              <a:t>V1 reported 0.9214 without nested selection; honest restatement is 0.8929 (selection optimism +0.0285).</a:t>
            </a:r>
          </a:p>
          <a:p>
            <a:pPr algn="l">
              <a:spcAft>
                <a:spcPts val="600"/>
              </a:spcAft>
            </a:pPr>
            <a:r>
              <a:rPr sz="1000" b="0">
                <a:solidFill>
                  <a:srgbClr val="212B36"/>
                </a:solidFill>
                <a:latin typeface="Segoe UI"/>
              </a:rPr>
              <a:t>V1's vsi_dominant_freq was exposed as a 1/n_weeks observation-length artifact (fake TP on VIN2_F) - banned in V1.1.</a:t>
            </a:r>
          </a:p>
          <a:p>
            <a:pPr algn="l">
              <a:spcAft>
                <a:spcPts val="600"/>
              </a:spcAft>
            </a:pPr>
            <a:r>
              <a:rPr sz="1000" b="0">
                <a:solidFill>
                  <a:srgbClr val="212B36"/>
                </a:solidFill>
                <a:latin typeface="Segoe UI"/>
              </a:rPr>
              <a:t>V1 missed VIN8_F (P 0.303). V1.1 recovers it (P 0.716, RED) via the battery-step-aware rest-VSI baseline.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1234440"/>
            <a:ext cx="5605272" cy="4663440"/>
          </a:xfrm>
          <a:prstGeom prst="rect">
            <a:avLst/>
          </a:prstGeom>
          <a:solidFill>
            <a:srgbClr val="14263A"/>
          </a:solidFill>
          <a:ln w="12700">
            <a:solidFill>
              <a:srgbClr val="1426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0216" y="1307592"/>
            <a:ext cx="53492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FFFFFF"/>
                </a:solidFill>
                <a:latin typeface="Segoe UI"/>
              </a:rPr>
              <a:t>APPROVAL ASKS (THIS REVIEW)</a:t>
            </a:r>
          </a:p>
        </p:txBody>
      </p:sp>
      <p:sp>
        <p:nvSpPr>
          <p:cNvPr id="15" name="Oval 14"/>
          <p:cNvSpPr/>
          <p:nvPr/>
        </p:nvSpPr>
        <p:spPr>
          <a:xfrm>
            <a:off x="6382512" y="1691640"/>
            <a:ext cx="274320" cy="274320"/>
          </a:xfrm>
          <a:prstGeom prst="ellipse">
            <a:avLst/>
          </a:prstGeom>
          <a:solidFill>
            <a:srgbClr val="0E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82512" y="1709928"/>
            <a:ext cx="2743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84848" y="1673352"/>
            <a:ext cx="48463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Segoe UI"/>
              </a:rPr>
              <a:t>Freeze the modal 4-feature nested model as the V1.1 production scorer (spec: V1_1_SM_model_spec.json).</a:t>
            </a:r>
          </a:p>
        </p:txBody>
      </p:sp>
      <p:sp>
        <p:nvSpPr>
          <p:cNvPr id="18" name="Oval 17"/>
          <p:cNvSpPr/>
          <p:nvPr/>
        </p:nvSpPr>
        <p:spPr>
          <a:xfrm>
            <a:off x="6382512" y="2496312"/>
            <a:ext cx="274320" cy="274320"/>
          </a:xfrm>
          <a:prstGeom prst="ellipse">
            <a:avLst/>
          </a:prstGeom>
          <a:solidFill>
            <a:srgbClr val="0E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82512" y="2514600"/>
            <a:ext cx="2743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84848" y="2478024"/>
            <a:ext cx="48463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Segoe UI"/>
              </a:rPr>
              <a:t>Ship recalibrated probabilities + tier rule (GREEN &lt; 0.35, AMBER 0.35-0.55, RED &gt;= 0.55) — calibration gate passed (slope 0.86).</a:t>
            </a:r>
          </a:p>
        </p:txBody>
      </p:sp>
      <p:sp>
        <p:nvSpPr>
          <p:cNvPr id="21" name="Oval 20"/>
          <p:cNvSpPr/>
          <p:nvPr/>
        </p:nvSpPr>
        <p:spPr>
          <a:xfrm>
            <a:off x="6382512" y="3300984"/>
            <a:ext cx="274320" cy="274320"/>
          </a:xfrm>
          <a:prstGeom prst="ellipse">
            <a:avLst/>
          </a:prstGeom>
          <a:solidFill>
            <a:srgbClr val="0E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82512" y="3319272"/>
            <a:ext cx="2743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84848" y="3282696"/>
            <a:ext cx="48463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Segoe UI"/>
              </a:rPr>
              <a:t>Adopt the 3-channel alert policy: A2 battery-cascade as pager, persistence as terminal condition flag, A1 as corroborator.</a:t>
            </a:r>
          </a:p>
        </p:txBody>
      </p:sp>
      <p:sp>
        <p:nvSpPr>
          <p:cNvPr id="24" name="Oval 23"/>
          <p:cNvSpPr/>
          <p:nvPr/>
        </p:nvSpPr>
        <p:spPr>
          <a:xfrm>
            <a:off x="6382512" y="4105656"/>
            <a:ext cx="274320" cy="274320"/>
          </a:xfrm>
          <a:prstGeom prst="ellipse">
            <a:avLst/>
          </a:prstGeom>
          <a:solidFill>
            <a:srgbClr val="0E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82512" y="4123944"/>
            <a:ext cx="2743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84848" y="4087368"/>
            <a:ext cx="48463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Segoe UI"/>
              </a:rPr>
              <a:t>Approve weekly scoring cadence (monthly gives only 2 reads inside the 10-week horizon).</a:t>
            </a:r>
          </a:p>
        </p:txBody>
      </p:sp>
      <p:sp>
        <p:nvSpPr>
          <p:cNvPr id="27" name="Oval 26"/>
          <p:cNvSpPr/>
          <p:nvPr/>
        </p:nvSpPr>
        <p:spPr>
          <a:xfrm>
            <a:off x="6382512" y="4910328"/>
            <a:ext cx="274320" cy="274320"/>
          </a:xfrm>
          <a:prstGeom prst="ellipse">
            <a:avLst/>
          </a:prstGeom>
          <a:solidFill>
            <a:srgbClr val="0E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82512" y="4928616"/>
            <a:ext cx="2743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84848" y="4892040"/>
            <a:ext cx="484632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Segoe UI"/>
              </a:rPr>
              <a:t>Endorse instrumentation requests: &gt;=1 Hz crank logging, cranking current / battery SoC, maintenance records, more failure cases.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11480" y="6053328"/>
            <a:ext cx="6720840" cy="530352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11480" y="6053328"/>
            <a:ext cx="64008" cy="530352"/>
          </a:xfrm>
          <a:prstGeom prst="rect">
            <a:avLst/>
          </a:prstGeom>
          <a:solidFill>
            <a:srgbClr val="142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1792" y="6108192"/>
            <a:ext cx="6400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1" i="0">
                <a:solidFill>
                  <a:srgbClr val="5B6B7C"/>
                </a:solidFill>
                <a:latin typeface="Segoe UI"/>
              </a:rPr>
              <a:t>ENGINEERING TAKEAWAY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792" y="6272784"/>
            <a:ext cx="6400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1" i="0">
                <a:solidFill>
                  <a:srgbClr val="14263A"/>
                </a:solidFill>
                <a:latin typeface="Segoe UI"/>
              </a:rPr>
              <a:t>V1.1 is a frozen, fully audited iteration; every claim in this deck is reproducible from committed artifacts.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269480" y="6053328"/>
            <a:ext cx="4507992" cy="530352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269480" y="6053328"/>
            <a:ext cx="64008" cy="530352"/>
          </a:xfrm>
          <a:prstGeom prst="rect">
            <a:avLst/>
          </a:prstGeom>
          <a:solidFill>
            <a:srgbClr val="0E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479792" y="6108192"/>
            <a:ext cx="42062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1" i="0">
                <a:solidFill>
                  <a:srgbClr val="5B6B7C"/>
                </a:solidFill>
                <a:latin typeface="Segoe UI"/>
              </a:rPr>
              <a:t>REVIEW / DECISION POINT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79792" y="6272784"/>
            <a:ext cx="4206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1" i="0">
                <a:solidFill>
                  <a:srgbClr val="0E6E6E"/>
                </a:solidFill>
                <a:latin typeface="Segoe UI"/>
              </a:rPr>
              <a:t>Confirm the five asks or flag which require deeper review.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11480" y="6638544"/>
            <a:ext cx="113842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 i="0">
                <a:solidFill>
                  <a:srgbClr val="5B6B7C"/>
                </a:solidFill>
                <a:latin typeface="Segoe UI"/>
              </a:rPr>
              <a:t>Starter Motor Failure Prediction V1.1  ·  Internal engineering review — full technical disclosure  ·  Not for external distribution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42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" y="0"/>
            <a:ext cx="91440" cy="566928"/>
          </a:xfrm>
          <a:prstGeom prst="rect">
            <a:avLst/>
          </a:prstGeom>
          <a:solidFill>
            <a:srgbClr val="0E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01168"/>
            <a:ext cx="9692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5B6B7C"/>
                </a:solidFill>
                <a:latin typeface="Segoe UI"/>
              </a:rPr>
              <a:t>INTERNAL · TECHNICAL REVIEW  — 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29768"/>
            <a:ext cx="104241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300" b="1" i="0">
                <a:solidFill>
                  <a:srgbClr val="14263A"/>
                </a:solidFill>
                <a:latin typeface="Segoe UI"/>
              </a:rPr>
              <a:t>Data foundation — and the data reality the design had to survive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219456"/>
            <a:ext cx="868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1000" b="0" i="0">
                <a:solidFill>
                  <a:srgbClr val="5B6B7C"/>
                </a:solidFill>
                <a:latin typeface="Segoe UI"/>
              </a:rPr>
              <a:t>03 / 25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234440"/>
            <a:ext cx="5486400" cy="2121408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9496" y="1307592"/>
            <a:ext cx="523036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14263A"/>
                </a:solidFill>
                <a:latin typeface="Segoe UI"/>
              </a:rPr>
              <a:t>CORPUS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600200"/>
            <a:ext cx="5120640" cy="1691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000" b="0">
                <a:solidFill>
                  <a:srgbClr val="212B36"/>
                </a:solidFill>
                <a:latin typeface="Segoe UI"/>
              </a:rPr>
              <a:t>34 trucks (14 F / 20 NF), _SM suffix — fully independent of the ALT fleet (no cross-VIN identity).</a:t>
            </a:r>
          </a:p>
          <a:p>
            <a:pPr algn="l">
              <a:spcAft>
                <a:spcPts val="500"/>
              </a:spcAft>
            </a:pPr>
            <a:r>
              <a:rPr sz="1000" b="0">
                <a:solidFill>
                  <a:srgbClr val="212B36"/>
                </a:solidFill>
                <a:latin typeface="Segoe UI"/>
              </a:rPr>
              <a:t>106,445,161 raw 5-second rows after null-timestamp drop; 17,522 active vin-days.</a:t>
            </a:r>
          </a:p>
          <a:p>
            <a:pPr algn="l">
              <a:spcAft>
                <a:spcPts val="500"/>
              </a:spcAft>
            </a:pPr>
            <a:r>
              <a:rPr sz="1000" b="0">
                <a:solidFill>
                  <a:srgbClr val="212B36"/>
                </a:solidFill>
                <a:latin typeface="Segoe UI"/>
              </a:rPr>
              <a:t>Reduced to 2,636 truck-weeks (weekly cache) + 20,471 crank events (event extraction, artifact-filtered).</a:t>
            </a:r>
          </a:p>
          <a:p>
            <a:pPr algn="l">
              <a:spcAft>
                <a:spcPts val="500"/>
              </a:spcAft>
            </a:pPr>
            <a:r>
              <a:rPr sz="1000" b="0">
                <a:solidFill>
                  <a:srgbClr val="212B36"/>
                </a:solidFill>
                <a:latin typeface="Segoe UI"/>
              </a:rPr>
              <a:t>Signals: VSI, SMA, RPM, CSP, ANR, GED. No current, no temperature, no battery SoC. VSI quantized at 0.2 V.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3547872"/>
            <a:ext cx="548640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9496" y="3621024"/>
            <a:ext cx="523036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8B0000"/>
                </a:solidFill>
                <a:latin typeface="Segoe UI"/>
              </a:rPr>
              <a:t>DATA REALITY (DESIGN CONSTRAINTS)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913632"/>
            <a:ext cx="5120640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1">
                <a:solidFill>
                  <a:srgbClr val="8B0000"/>
                </a:solidFill>
                <a:latin typeface="Segoe UI"/>
              </a:rPr>
              <a:t>SMA-dead cohort (7 trucks):  </a:t>
            </a:r>
            <a:r>
              <a:rPr sz="1000" b="0">
                <a:solidFill>
                  <a:srgbClr val="212B36"/>
                </a:solidFill>
                <a:latin typeface="Segoe UI"/>
              </a:rPr>
              <a:t>VIN8/9_F + 5 NF have &lt;1% SMA coverage - all crank features NaN, fold-internal median-imputed.</a:t>
            </a:r>
          </a:p>
          <a:p>
            <a:pPr algn="l">
              <a:spcAft>
                <a:spcPts val="600"/>
              </a:spcAft>
            </a:pPr>
            <a:r>
              <a:rPr sz="1000" b="1">
                <a:solidFill>
                  <a:srgbClr val="8B0000"/>
                </a:solidFill>
                <a:latin typeface="Segoe UI"/>
              </a:rPr>
              <a:t>Terminal silent gaps (5 failed):  </a:t>
            </a:r>
            <a:r>
              <a:rPr sz="1000" b="0">
                <a:solidFill>
                  <a:srgbClr val="212B36"/>
                </a:solidFill>
                <a:latin typeface="Segoe UI"/>
              </a:rPr>
              <a:t>VIN1 72d, VIN4 97d, VIN5 32d, VIN8 37d, VIN9 142d - no telemetry before failure.</a:t>
            </a:r>
          </a:p>
          <a:p>
            <a:pPr algn="l">
              <a:spcAft>
                <a:spcPts val="600"/>
              </a:spcAft>
            </a:pPr>
            <a:r>
              <a:rPr sz="1000" b="1">
                <a:solidFill>
                  <a:srgbClr val="8B0000"/>
                </a:solidFill>
                <a:latin typeface="Segoe UI"/>
              </a:rPr>
              <a:t>Leakage ceilings:  </a:t>
            </a:r>
            <a:r>
              <a:rPr sz="1000" b="0">
                <a:solidFill>
                  <a:srgbClr val="212B36"/>
                </a:solidFill>
                <a:latin typeface="Segoe UI"/>
              </a:rPr>
              <a:t>observation length ALONE classifies at AUROC 0.952 (n_weeks) / 0.893 (t_start). Every feature must beat the L40 fixed-window control to prove it is not a length proxy.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1234440"/>
            <a:ext cx="5605272" cy="4663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0216" y="1307592"/>
            <a:ext cx="53492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14263A"/>
                </a:solidFill>
                <a:latin typeface="Segoe UI"/>
              </a:rPr>
              <a:t>SIGNAL DICTIONARY (AS USED)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82512" y="1664208"/>
            <a:ext cx="713232" cy="566928"/>
          </a:xfrm>
          <a:prstGeom prst="rect">
            <a:avLst/>
          </a:prstGeom>
          <a:solidFill>
            <a:srgbClr val="E3E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82512" y="1810512"/>
            <a:ext cx="7132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 i="0">
                <a:solidFill>
                  <a:srgbClr val="1565C0"/>
                </a:solidFill>
                <a:latin typeface="Consolas"/>
              </a:rPr>
              <a:t>VSI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42048" y="1677924"/>
            <a:ext cx="44348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1" i="0">
                <a:solidFill>
                  <a:srgbClr val="14263A"/>
                </a:solidFill>
                <a:latin typeface="Segoe UI"/>
              </a:rPr>
              <a:t>Power-supply voltage (V)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42048" y="1901952"/>
            <a:ext cx="443484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5B6B7C"/>
                </a:solidFill>
                <a:latin typeface="Segoe UI"/>
              </a:rPr>
              <a:t>0-36 valid; sentinels 0/255; x0.2 scaling; drive vs rest split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82512" y="2350008"/>
            <a:ext cx="713232" cy="566928"/>
          </a:xfrm>
          <a:prstGeom prst="rect">
            <a:avLst/>
          </a:prstGeom>
          <a:solidFill>
            <a:srgbClr val="E3E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82512" y="2496312"/>
            <a:ext cx="7132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 i="0">
                <a:solidFill>
                  <a:srgbClr val="1565C0"/>
                </a:solidFill>
                <a:latin typeface="Consolas"/>
              </a:rPr>
              <a:t>SMA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42048" y="2363724"/>
            <a:ext cx="44348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1" i="0">
                <a:solidFill>
                  <a:srgbClr val="14263A"/>
                </a:solidFill>
                <a:latin typeface="Segoe UI"/>
              </a:rPr>
              <a:t>Starter Motor Active {0,1}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42048" y="2587752"/>
            <a:ext cx="443484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5B6B7C"/>
                </a:solidFill>
                <a:latin typeface="Segoe UI"/>
              </a:rPr>
              <a:t>crank-event extraction basis; dead on 7 trucks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82512" y="3035808"/>
            <a:ext cx="713232" cy="566928"/>
          </a:xfrm>
          <a:prstGeom prst="rect">
            <a:avLst/>
          </a:prstGeom>
          <a:solidFill>
            <a:srgbClr val="E3E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82512" y="3182112"/>
            <a:ext cx="7132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 i="0">
                <a:solidFill>
                  <a:srgbClr val="1565C0"/>
                </a:solidFill>
                <a:latin typeface="Consolas"/>
              </a:rPr>
              <a:t>RPM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42048" y="3049524"/>
            <a:ext cx="44348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1" i="0">
                <a:solidFill>
                  <a:srgbClr val="14263A"/>
                </a:solidFill>
                <a:latin typeface="Segoe UI"/>
              </a:rPr>
              <a:t>Engine speed (rev/min)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42048" y="3273552"/>
            <a:ext cx="443484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5B6B7C"/>
                </a:solidFill>
                <a:latin typeface="Segoe UI"/>
              </a:rPr>
              <a:t>sentinel 65535; crank success criterion rpm_max_15s &gt;= 550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82512" y="3721608"/>
            <a:ext cx="713232" cy="566928"/>
          </a:xfrm>
          <a:prstGeom prst="rect">
            <a:avLst/>
          </a:prstGeom>
          <a:solidFill>
            <a:srgbClr val="E3E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82512" y="3867912"/>
            <a:ext cx="7132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 i="0">
                <a:solidFill>
                  <a:srgbClr val="1565C0"/>
                </a:solidFill>
                <a:latin typeface="Consolas"/>
              </a:rPr>
              <a:t>CSP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42048" y="3735324"/>
            <a:ext cx="44348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1" i="0">
                <a:solidFill>
                  <a:srgbClr val="14263A"/>
                </a:solidFill>
                <a:latin typeface="Segoe UI"/>
              </a:rPr>
              <a:t>Vehicle speed (km/h)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42048" y="3959352"/>
            <a:ext cx="443484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5B6B7C"/>
                </a:solidFill>
                <a:latin typeface="Segoe UI"/>
              </a:rPr>
              <a:t>sentinel 65535; drive-state gating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82512" y="4407408"/>
            <a:ext cx="713232" cy="566928"/>
          </a:xfrm>
          <a:prstGeom prst="rect">
            <a:avLst/>
          </a:prstGeom>
          <a:solidFill>
            <a:srgbClr val="E3E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82512" y="4553712"/>
            <a:ext cx="7132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 i="0">
                <a:solidFill>
                  <a:srgbClr val="1565C0"/>
                </a:solidFill>
                <a:latin typeface="Consolas"/>
              </a:rPr>
              <a:t>ANR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42048" y="4421124"/>
            <a:ext cx="44348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1" i="0">
                <a:solidFill>
                  <a:srgbClr val="14263A"/>
                </a:solidFill>
                <a:latin typeface="Segoe UI"/>
              </a:rPr>
              <a:t>Engine torque (Nm)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42048" y="4645152"/>
            <a:ext cx="443484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5B6B7C"/>
                </a:solidFill>
                <a:latin typeface="Segoe UI"/>
              </a:rPr>
              <a:t>sentinels 65535 / -5000; load context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82512" y="5093208"/>
            <a:ext cx="713232" cy="566928"/>
          </a:xfrm>
          <a:prstGeom prst="rect">
            <a:avLst/>
          </a:prstGeom>
          <a:solidFill>
            <a:srgbClr val="E3E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82512" y="5239512"/>
            <a:ext cx="7132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 i="0">
                <a:solidFill>
                  <a:srgbClr val="1565C0"/>
                </a:solidFill>
                <a:latin typeface="Consolas"/>
              </a:rPr>
              <a:t>GED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242048" y="5106924"/>
            <a:ext cx="44348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1" i="0">
                <a:solidFill>
                  <a:srgbClr val="14263A"/>
                </a:solidFill>
                <a:latin typeface="Segoe UI"/>
              </a:rPr>
              <a:t>Alternator excitation state {0..3}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242048" y="5330952"/>
            <a:ext cx="443484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5B6B7C"/>
                </a:solidFill>
                <a:latin typeface="Segoe UI"/>
              </a:rPr>
              <a:t>no GED=2 events in failed SM fleet (unlike ALT)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11480" y="6053328"/>
            <a:ext cx="6720840" cy="530352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11480" y="6053328"/>
            <a:ext cx="64008" cy="530352"/>
          </a:xfrm>
          <a:prstGeom prst="rect">
            <a:avLst/>
          </a:prstGeom>
          <a:solidFill>
            <a:srgbClr val="142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21792" y="6108192"/>
            <a:ext cx="6400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1" i="0">
                <a:solidFill>
                  <a:srgbClr val="5B6B7C"/>
                </a:solidFill>
                <a:latin typeface="Segoe UI"/>
              </a:rPr>
              <a:t>ENGINEERING TAKEAWAY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1792" y="6272784"/>
            <a:ext cx="6400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1" i="0">
                <a:solidFill>
                  <a:srgbClr val="14263A"/>
                </a:solidFill>
                <a:latin typeface="Segoe UI"/>
              </a:rPr>
              <a:t>The pipeline is designed around missingness and length-leakage — not around an idealized dataset.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269480" y="6053328"/>
            <a:ext cx="4507992" cy="530352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269480" y="6053328"/>
            <a:ext cx="64008" cy="530352"/>
          </a:xfrm>
          <a:prstGeom prst="rect">
            <a:avLst/>
          </a:prstGeom>
          <a:solidFill>
            <a:srgbClr val="0E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479792" y="6108192"/>
            <a:ext cx="42062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1" i="0">
                <a:solidFill>
                  <a:srgbClr val="5B6B7C"/>
                </a:solidFill>
                <a:latin typeface="Segoe UI"/>
              </a:rPr>
              <a:t>REVIEW / DECISION POINT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479792" y="6272784"/>
            <a:ext cx="4206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1" i="0">
                <a:solidFill>
                  <a:srgbClr val="0E6E6E"/>
                </a:solidFill>
                <a:latin typeface="Segoe UI"/>
              </a:rPr>
              <a:t>Confirm the SMA-dead imputation and L40 anti-leak strategy are acceptable engineering practice.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11480" y="6638544"/>
            <a:ext cx="113842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 i="0">
                <a:solidFill>
                  <a:srgbClr val="5B6B7C"/>
                </a:solidFill>
                <a:latin typeface="Segoe UI"/>
              </a:rPr>
              <a:t>Starter Motor Failure Prediction V1.1  ·  Internal engineering review — full technical disclosure  ·  Not for external distribution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42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" y="0"/>
            <a:ext cx="91440" cy="566928"/>
          </a:xfrm>
          <a:prstGeom prst="rect">
            <a:avLst/>
          </a:prstGeom>
          <a:solidFill>
            <a:srgbClr val="0E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01168"/>
            <a:ext cx="9692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5B6B7C"/>
                </a:solidFill>
                <a:latin typeface="Segoe UI"/>
              </a:rPr>
              <a:t>INTERNAL · TECHNICAL REVIEW  — 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29768"/>
            <a:ext cx="104241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300" b="1" i="0">
                <a:solidFill>
                  <a:srgbClr val="14263A"/>
                </a:solidFill>
                <a:latin typeface="Segoe UI"/>
              </a:rPr>
              <a:t>End-to-end pipeline: raw telemetry to audited risk artifacts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219456"/>
            <a:ext cx="868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1000" b="0" i="0">
                <a:solidFill>
                  <a:srgbClr val="5B6B7C"/>
                </a:solidFill>
                <a:latin typeface="Segoe UI"/>
              </a:rPr>
              <a:t>04 / 25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298448"/>
            <a:ext cx="2139696" cy="969264"/>
          </a:xfrm>
          <a:prstGeom prst="rect">
            <a:avLst/>
          </a:prstGeom>
          <a:solidFill>
            <a:srgbClr val="E3ECF7"/>
          </a:solidFill>
          <a:ln w="12700">
            <a:solidFill>
              <a:srgbClr val="1565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362456"/>
            <a:ext cx="195681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1565C0"/>
                </a:solidFill>
                <a:latin typeface="Segoe UI"/>
              </a:rPr>
              <a:t>1 · RAW TELEMETRY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728216"/>
            <a:ext cx="1956816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212B36"/>
                </a:solidFill>
                <a:latin typeface="Segoe UI"/>
              </a:rPr>
              <a:t>2 SM-fleet CSVs, 106.4M rows @5 s
VSI SMA RPM CSP ANR GED</a:t>
            </a:r>
          </a:p>
        </p:txBody>
      </p:sp>
      <p:sp>
        <p:nvSpPr>
          <p:cNvPr id="10" name="Chevron 9"/>
          <p:cNvSpPr/>
          <p:nvPr/>
        </p:nvSpPr>
        <p:spPr>
          <a:xfrm>
            <a:off x="2523744" y="1709928"/>
            <a:ext cx="182880" cy="146304"/>
          </a:xfrm>
          <a:prstGeom prst="chevron">
            <a:avLst/>
          </a:prstGeom>
          <a:solidFill>
            <a:srgbClr val="142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670048" y="1298448"/>
            <a:ext cx="2139696" cy="969264"/>
          </a:xfrm>
          <a:prstGeom prst="rect">
            <a:avLst/>
          </a:prstGeom>
          <a:solidFill>
            <a:srgbClr val="E3ECF7"/>
          </a:solidFill>
          <a:ln w="12700">
            <a:solidFill>
              <a:srgbClr val="1565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61488" y="1362456"/>
            <a:ext cx="195681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1565C0"/>
                </a:solidFill>
                <a:latin typeface="Segoe UI"/>
              </a:rPr>
              <a:t>2 · CLEANING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61488" y="1728216"/>
            <a:ext cx="1956816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212B36"/>
                </a:solidFill>
                <a:latin typeface="Segoe UI"/>
              </a:rPr>
              <a:t>sentinel handling (65535 / -5000 / 0 / 255)
VSI x0.2 scaling, null-ts drop</a:t>
            </a:r>
          </a:p>
        </p:txBody>
      </p:sp>
      <p:sp>
        <p:nvSpPr>
          <p:cNvPr id="14" name="Chevron 13"/>
          <p:cNvSpPr/>
          <p:nvPr/>
        </p:nvSpPr>
        <p:spPr>
          <a:xfrm>
            <a:off x="4782312" y="1709928"/>
            <a:ext cx="182880" cy="146304"/>
          </a:xfrm>
          <a:prstGeom prst="chevron">
            <a:avLst/>
          </a:prstGeom>
          <a:solidFill>
            <a:srgbClr val="142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928616" y="1298448"/>
            <a:ext cx="2139696" cy="969264"/>
          </a:xfrm>
          <a:prstGeom prst="rect">
            <a:avLst/>
          </a:prstGeom>
          <a:solidFill>
            <a:srgbClr val="E3ECF7"/>
          </a:solidFill>
          <a:ln w="12700">
            <a:solidFill>
              <a:srgbClr val="1565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0056" y="1362456"/>
            <a:ext cx="195681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1565C0"/>
                </a:solidFill>
                <a:latin typeface="Segoe UI"/>
              </a:rPr>
              <a:t>3 · WEEKLY CACHE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0056" y="1728216"/>
            <a:ext cx="1956816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212B36"/>
                </a:solidFill>
                <a:latin typeface="Segoe UI"/>
              </a:rPr>
              <a:t>2,636 truck-weeks
V1_SM_weekly_*.parquet</a:t>
            </a:r>
          </a:p>
        </p:txBody>
      </p:sp>
      <p:sp>
        <p:nvSpPr>
          <p:cNvPr id="18" name="Chevron 17"/>
          <p:cNvSpPr/>
          <p:nvPr/>
        </p:nvSpPr>
        <p:spPr>
          <a:xfrm>
            <a:off x="7040880" y="1709928"/>
            <a:ext cx="182880" cy="146304"/>
          </a:xfrm>
          <a:prstGeom prst="chevron">
            <a:avLst/>
          </a:prstGeom>
          <a:solidFill>
            <a:srgbClr val="142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187184" y="1298448"/>
            <a:ext cx="2139696" cy="969264"/>
          </a:xfrm>
          <a:prstGeom prst="rect">
            <a:avLst/>
          </a:prstGeom>
          <a:solidFill>
            <a:srgbClr val="E3ECF7"/>
          </a:solidFill>
          <a:ln w="12700">
            <a:solidFill>
              <a:srgbClr val="1565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78624" y="1362456"/>
            <a:ext cx="195681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1565C0"/>
                </a:solidFill>
                <a:latin typeface="Segoe UI"/>
              </a:rPr>
              <a:t>4 · CRANK EVENTS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78624" y="1728216"/>
            <a:ext cx="1956816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212B36"/>
                </a:solidFill>
                <a:latin typeface="Segoe UI"/>
              </a:rPr>
              <a:t>20,471 events, artifact-filtered
V1_SM_crank_events.parquet</a:t>
            </a:r>
          </a:p>
        </p:txBody>
      </p:sp>
      <p:sp>
        <p:nvSpPr>
          <p:cNvPr id="22" name="Chevron 21"/>
          <p:cNvSpPr/>
          <p:nvPr/>
        </p:nvSpPr>
        <p:spPr>
          <a:xfrm>
            <a:off x="9299448" y="1709928"/>
            <a:ext cx="182880" cy="146304"/>
          </a:xfrm>
          <a:prstGeom prst="chevron">
            <a:avLst/>
          </a:prstGeom>
          <a:solidFill>
            <a:srgbClr val="142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445752" y="1298448"/>
            <a:ext cx="2139696" cy="969264"/>
          </a:xfrm>
          <a:prstGeom prst="rect">
            <a:avLst/>
          </a:prstGeom>
          <a:solidFill>
            <a:srgbClr val="EFE6F4"/>
          </a:solidFill>
          <a:ln w="12700">
            <a:solidFill>
              <a:srgbClr val="6C33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37192" y="1362456"/>
            <a:ext cx="195681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6C3383"/>
                </a:solidFill>
                <a:latin typeface="Segoe UI"/>
              </a:rPr>
              <a:t>5 · FEATURE MATRIX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37192" y="1728216"/>
            <a:ext cx="1956816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212B36"/>
                </a:solidFill>
                <a:latin typeface="Segoe UI"/>
              </a:rPr>
              <a:t>34 x 10 candidates, L40-anchored
+ admissibility audit (reject rule)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1480" y="2615184"/>
            <a:ext cx="2139696" cy="969264"/>
          </a:xfrm>
          <a:prstGeom prst="rect">
            <a:avLst/>
          </a:prstGeom>
          <a:solidFill>
            <a:srgbClr val="EFE6F4"/>
          </a:solidFill>
          <a:ln w="12700">
            <a:solidFill>
              <a:srgbClr val="6C33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2679192"/>
            <a:ext cx="195681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6C3383"/>
                </a:solidFill>
                <a:latin typeface="Segoe UI"/>
              </a:rPr>
              <a:t>6 · NESTED LOVO MODEL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3044952"/>
            <a:ext cx="1956816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212B36"/>
                </a:solidFill>
                <a:latin typeface="Segoe UI"/>
              </a:rPr>
              <a:t>RidgeClassifier(alpha=1.0)
34 outer folds, inner select k=3-6</a:t>
            </a:r>
          </a:p>
        </p:txBody>
      </p:sp>
      <p:sp>
        <p:nvSpPr>
          <p:cNvPr id="29" name="Chevron 28"/>
          <p:cNvSpPr/>
          <p:nvPr/>
        </p:nvSpPr>
        <p:spPr>
          <a:xfrm>
            <a:off x="2523744" y="3026664"/>
            <a:ext cx="182880" cy="146304"/>
          </a:xfrm>
          <a:prstGeom prst="chevron">
            <a:avLst/>
          </a:prstGeom>
          <a:solidFill>
            <a:srgbClr val="142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670048" y="2615184"/>
            <a:ext cx="2139696" cy="969264"/>
          </a:xfrm>
          <a:prstGeom prst="rect">
            <a:avLst/>
          </a:prstGeom>
          <a:solidFill>
            <a:srgbClr val="EFE6F4"/>
          </a:solidFill>
          <a:ln w="12700">
            <a:solidFill>
              <a:srgbClr val="6C33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761488" y="2679192"/>
            <a:ext cx="195681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6C3383"/>
                </a:solidFill>
                <a:latin typeface="Segoe UI"/>
              </a:rPr>
              <a:t>7 · RECALIBRATION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761488" y="3044952"/>
            <a:ext cx="1956816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212B36"/>
                </a:solidFill>
                <a:latin typeface="Segoe UI"/>
              </a:rPr>
              <a:t>per-fold Platt on inner-OOF
per-fold Youden threshold</a:t>
            </a:r>
          </a:p>
        </p:txBody>
      </p:sp>
      <p:sp>
        <p:nvSpPr>
          <p:cNvPr id="33" name="Chevron 32"/>
          <p:cNvSpPr/>
          <p:nvPr/>
        </p:nvSpPr>
        <p:spPr>
          <a:xfrm>
            <a:off x="4782312" y="3026664"/>
            <a:ext cx="182880" cy="146304"/>
          </a:xfrm>
          <a:prstGeom prst="chevron">
            <a:avLst/>
          </a:prstGeom>
          <a:solidFill>
            <a:srgbClr val="142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928616" y="2615184"/>
            <a:ext cx="2139696" cy="969264"/>
          </a:xfrm>
          <a:prstGeom prst="rect">
            <a:avLst/>
          </a:prstGeom>
          <a:solidFill>
            <a:srgbClr val="DDEFE2"/>
          </a:solidFill>
          <a:ln w="12700">
            <a:solidFill>
              <a:srgbClr val="1B7A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20056" y="2679192"/>
            <a:ext cx="195681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1B7A3D"/>
                </a:solidFill>
                <a:latin typeface="Segoe UI"/>
              </a:rPr>
              <a:t>8 · OOF RISK + TIERS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0056" y="3044952"/>
            <a:ext cx="1956816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212B36"/>
                </a:solidFill>
                <a:latin typeface="Segoe UI"/>
              </a:rPr>
              <a:t>prob_recal per VIN
GREEN &lt;0.35 | AMBER | RED &gt;=0.55</a:t>
            </a:r>
          </a:p>
        </p:txBody>
      </p:sp>
      <p:sp>
        <p:nvSpPr>
          <p:cNvPr id="37" name="Chevron 36"/>
          <p:cNvSpPr/>
          <p:nvPr/>
        </p:nvSpPr>
        <p:spPr>
          <a:xfrm>
            <a:off x="7040880" y="3026664"/>
            <a:ext cx="182880" cy="146304"/>
          </a:xfrm>
          <a:prstGeom prst="chevron">
            <a:avLst/>
          </a:prstGeom>
          <a:solidFill>
            <a:srgbClr val="142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187184" y="2615184"/>
            <a:ext cx="2139696" cy="969264"/>
          </a:xfrm>
          <a:prstGeom prst="rect">
            <a:avLst/>
          </a:prstGeom>
          <a:solidFill>
            <a:srgbClr val="FBEAD2"/>
          </a:solidFill>
          <a:ln w="12700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278624" y="2679192"/>
            <a:ext cx="195681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B45309"/>
                </a:solidFill>
                <a:latin typeface="Segoe UI"/>
              </a:rPr>
              <a:t>9 · ALERT LAYER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278624" y="3044952"/>
            <a:ext cx="1956816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212B36"/>
                </a:solidFill>
                <a:latin typeface="Segoe UI"/>
              </a:rPr>
              <a:t>persistence / A1 burst / A2 cascade
alert_validation + policy CSVs</a:t>
            </a:r>
          </a:p>
        </p:txBody>
      </p:sp>
      <p:sp>
        <p:nvSpPr>
          <p:cNvPr id="41" name="Chevron 40"/>
          <p:cNvSpPr/>
          <p:nvPr/>
        </p:nvSpPr>
        <p:spPr>
          <a:xfrm>
            <a:off x="9299448" y="3026664"/>
            <a:ext cx="182880" cy="146304"/>
          </a:xfrm>
          <a:prstGeom prst="chevron">
            <a:avLst/>
          </a:prstGeom>
          <a:solidFill>
            <a:srgbClr val="142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9445752" y="2615184"/>
            <a:ext cx="2139696" cy="969264"/>
          </a:xfrm>
          <a:prstGeom prst="rect">
            <a:avLst/>
          </a:prstGeom>
          <a:solidFill>
            <a:srgbClr val="DDEFE2"/>
          </a:solidFill>
          <a:ln w="12700">
            <a:solidFill>
              <a:srgbClr val="1B7A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537192" y="2679192"/>
            <a:ext cx="195681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1B7A3D"/>
                </a:solidFill>
                <a:latin typeface="Segoe UI"/>
              </a:rPr>
              <a:t>10 · HORIZON + OUTPUTS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537192" y="3044952"/>
            <a:ext cx="1956816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212B36"/>
                </a:solidFill>
                <a:latin typeface="Segoe UI"/>
              </a:rPr>
              <a:t>prequential k*=10 wk
34 dashboards, reports, gates.json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378440" y="2304288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850" b="1" i="0">
                <a:solidFill>
                  <a:srgbClr val="5B6B7C"/>
                </a:solidFill>
                <a:latin typeface="Segoe UI"/>
              </a:rPr>
              <a:t>continues at stage 6 ↓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11480" y="3785615"/>
            <a:ext cx="11365992" cy="2084831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39496" y="3858767"/>
            <a:ext cx="111099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14263A"/>
                </a:solidFill>
                <a:latin typeface="Segoe UI"/>
              </a:rPr>
              <a:t>AUDIT SPINE (RUNS ACROSS EVERY STAGE)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94360" y="4224528"/>
            <a:ext cx="2157984" cy="1481328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85800" y="4315968"/>
            <a:ext cx="19751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 i="0">
                <a:solidFill>
                  <a:srgbClr val="14263A"/>
                </a:solidFill>
                <a:latin typeface="Segoe UI"/>
              </a:rPr>
              <a:t>A · Data-quality audit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85800" y="4608576"/>
            <a:ext cx="1975104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212B36"/>
                </a:solidFill>
                <a:latin typeface="Segoe UI"/>
              </a:rPr>
              <a:t>labels, null structure, sampling gaps, VSI sensor probes (probe1-7)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85800" y="5376672"/>
            <a:ext cx="19751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 i="1">
                <a:solidFill>
                  <a:srgbClr val="5B6B7C"/>
                </a:solidFill>
                <a:latin typeface="Consolas"/>
              </a:rPr>
              <a:t>audit/A_data_quality_audit.md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802636" y="4224528"/>
            <a:ext cx="2157984" cy="1481328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894076" y="4315968"/>
            <a:ext cx="19751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 i="0">
                <a:solidFill>
                  <a:srgbClr val="14263A"/>
                </a:solidFill>
                <a:latin typeface="Segoe UI"/>
              </a:rPr>
              <a:t>B · Feature audit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894076" y="4608576"/>
            <a:ext cx="1975104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212B36"/>
                </a:solidFill>
                <a:latin typeface="Segoe UI"/>
              </a:rPr>
              <a:t>candidate screening, incremental LOVO, truncation control, model variants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894076" y="5376672"/>
            <a:ext cx="19751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 i="1">
                <a:solidFill>
                  <a:srgbClr val="5B6B7C"/>
                </a:solidFill>
                <a:latin typeface="Consolas"/>
              </a:rPr>
              <a:t>audit/B_feature_audit.md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010912" y="4224528"/>
            <a:ext cx="2157984" cy="1481328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102352" y="4315968"/>
            <a:ext cx="19751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 i="0">
                <a:solidFill>
                  <a:srgbClr val="14263A"/>
                </a:solidFill>
                <a:latin typeface="Segoe UI"/>
              </a:rPr>
              <a:t>C · Model audit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102352" y="4608576"/>
            <a:ext cx="1975104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212B36"/>
                </a:solidFill>
                <a:latin typeface="Segoe UI"/>
              </a:rPr>
              <a:t>nested folds, jackknife, permutation, C1_audit_results.json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102352" y="5376672"/>
            <a:ext cx="19751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 i="1">
                <a:solidFill>
                  <a:srgbClr val="5B6B7C"/>
                </a:solidFill>
                <a:latin typeface="Consolas"/>
              </a:rPr>
              <a:t>audit/C_model_audit.md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219188" y="4224528"/>
            <a:ext cx="2157984" cy="1481328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310628" y="4315968"/>
            <a:ext cx="19751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 i="0">
                <a:solidFill>
                  <a:srgbClr val="14263A"/>
                </a:solidFill>
                <a:latin typeface="Segoe UI"/>
              </a:rPr>
              <a:t>D-G · Physics &amp; discovery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310628" y="4608576"/>
            <a:ext cx="1975104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212B36"/>
                </a:solidFill>
                <a:latin typeface="Segoe UI"/>
              </a:rPr>
              <a:t>failure-physics brief (D); clustering/archetypes, survival &amp; fleet-clock, sequence probes (E-G)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310628" y="5376672"/>
            <a:ext cx="19751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 i="1">
                <a:solidFill>
                  <a:srgbClr val="5B6B7C"/>
                </a:solidFill>
                <a:latin typeface="Consolas"/>
              </a:rPr>
              <a:t>audit/D + discovery/E,F,G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427464" y="4224528"/>
            <a:ext cx="2157984" cy="1481328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518904" y="4315968"/>
            <a:ext cx="19751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 i="0">
                <a:solidFill>
                  <a:srgbClr val="14263A"/>
                </a:solidFill>
                <a:latin typeface="Segoe UI"/>
              </a:rPr>
              <a:t>Gates G1-G6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518904" y="4608576"/>
            <a:ext cx="1975104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212B36"/>
                </a:solidFill>
                <a:latin typeface="Segoe UI"/>
              </a:rPr>
              <a:t>L40 control, proxy audit, calibration, stability, jackknife, token scan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518904" y="5376672"/>
            <a:ext cx="19751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 i="1">
                <a:solidFill>
                  <a:srgbClr val="5B6B7C"/>
                </a:solidFill>
                <a:latin typeface="Consolas"/>
              </a:rPr>
              <a:t>results/V1_1_SM_gates.json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11480" y="6053328"/>
            <a:ext cx="6720840" cy="530352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411480" y="6053328"/>
            <a:ext cx="64008" cy="530352"/>
          </a:xfrm>
          <a:prstGeom prst="rect">
            <a:avLst/>
          </a:prstGeom>
          <a:solidFill>
            <a:srgbClr val="142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21792" y="6108192"/>
            <a:ext cx="6400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1" i="0">
                <a:solidFill>
                  <a:srgbClr val="5B6B7C"/>
                </a:solidFill>
                <a:latin typeface="Segoe UI"/>
              </a:rPr>
              <a:t>ENGINEERING TAKEAWAY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21792" y="6272784"/>
            <a:ext cx="6400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1" i="0">
                <a:solidFill>
                  <a:srgbClr val="14263A"/>
                </a:solidFill>
                <a:latin typeface="Segoe UI"/>
              </a:rPr>
              <a:t>Ten pipeline stages, five audit workstreams — every artifact named, versioned and re-runnable with py -3.</a:t>
            </a:r>
          </a:p>
        </p:txBody>
      </p:sp>
      <p:sp>
        <p:nvSpPr>
          <p:cNvPr id="72" name="Rectangle 71"/>
          <p:cNvSpPr/>
          <p:nvPr/>
        </p:nvSpPr>
        <p:spPr>
          <a:xfrm>
            <a:off x="7269480" y="6053328"/>
            <a:ext cx="4507992" cy="530352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7269480" y="6053328"/>
            <a:ext cx="64008" cy="530352"/>
          </a:xfrm>
          <a:prstGeom prst="rect">
            <a:avLst/>
          </a:prstGeom>
          <a:solidFill>
            <a:srgbClr val="0E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7479792" y="6108192"/>
            <a:ext cx="42062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1" i="0">
                <a:solidFill>
                  <a:srgbClr val="5B6B7C"/>
                </a:solidFill>
                <a:latin typeface="Segoe UI"/>
              </a:rPr>
              <a:t>REVIEW / DECISION POINT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479792" y="6272784"/>
            <a:ext cx="4206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1" i="0">
                <a:solidFill>
                  <a:srgbClr val="0E6E6E"/>
                </a:solidFill>
                <a:latin typeface="Segoe UI"/>
              </a:rPr>
              <a:t>Architecture sign-off: any stage requiring design changes before pilot integration?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11480" y="6638544"/>
            <a:ext cx="113842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 i="0">
                <a:solidFill>
                  <a:srgbClr val="5B6B7C"/>
                </a:solidFill>
                <a:latin typeface="Segoe UI"/>
              </a:rPr>
              <a:t>Starter Motor Failure Prediction V1.1  ·  Internal engineering review — full technical disclosure  ·  Not for external distribution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42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" y="0"/>
            <a:ext cx="91440" cy="566928"/>
          </a:xfrm>
          <a:prstGeom prst="rect">
            <a:avLst/>
          </a:prstGeom>
          <a:solidFill>
            <a:srgbClr val="0E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01168"/>
            <a:ext cx="9692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5B6B7C"/>
                </a:solidFill>
                <a:latin typeface="Segoe UI"/>
              </a:rPr>
              <a:t>INTERNAL · TECHNICAL REVIEW  —  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29768"/>
            <a:ext cx="104241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300" b="1" i="0">
                <a:solidFill>
                  <a:srgbClr val="14263A"/>
                </a:solidFill>
                <a:latin typeface="Segoe UI"/>
              </a:rPr>
              <a:t>Candidate pool: 10 admissible features, 3 physics families, 1 hard reject rule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219456"/>
            <a:ext cx="868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1000" b="0" i="0">
                <a:solidFill>
                  <a:srgbClr val="5B6B7C"/>
                </a:solidFill>
                <a:latin typeface="Segoe UI"/>
              </a:rPr>
              <a:t>05 / 25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234440"/>
            <a:ext cx="3675887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234440"/>
            <a:ext cx="3675887" cy="310896"/>
          </a:xfrm>
          <a:prstGeom prst="rect">
            <a:avLst/>
          </a:prstGeom>
          <a:solidFill>
            <a:srgbClr val="E3E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1208" y="1289304"/>
            <a:ext cx="3456431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1" i="0">
                <a:solidFill>
                  <a:srgbClr val="1565C0"/>
                </a:solidFill>
                <a:latin typeface="Segoe UI"/>
              </a:rPr>
              <a:t>VOLTAGE-VOLATILITY FAMILY (4)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9496" y="1664208"/>
            <a:ext cx="3419855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 i="0">
                <a:solidFill>
                  <a:srgbClr val="14263A"/>
                </a:solidFill>
                <a:latin typeface="Consolas"/>
              </a:rPr>
              <a:t>vsi_std_ratio_30d_L40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9496" y="1856232"/>
            <a:ext cx="3419855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5B6B7C"/>
                </a:solidFill>
                <a:latin typeface="Segoe UI"/>
              </a:rPr>
              <a:t>between-week drive-VSI volatility, last 4 wks vs fixed L40 window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9496" y="2414016"/>
            <a:ext cx="3419855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 i="0">
                <a:solidFill>
                  <a:srgbClr val="14263A"/>
                </a:solidFill>
                <a:latin typeface="Consolas"/>
              </a:rPr>
              <a:t>vsi_withinwk_std_ratio_30d_w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9496" y="2606040"/>
            <a:ext cx="3419855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5B6B7C"/>
                </a:solidFill>
                <a:latin typeface="Segoe UI"/>
              </a:rPr>
              <a:t>within-week drive-VSI noise ratio, 30 d vs L40 baseline  [WINNER]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9496" y="3163824"/>
            <a:ext cx="3419855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 i="0">
                <a:solidFill>
                  <a:srgbClr val="14263A"/>
                </a:solidFill>
                <a:latin typeface="Consolas"/>
              </a:rPr>
              <a:t>vsi_range_trend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9496" y="3355848"/>
            <a:ext cx="3419855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5B6B7C"/>
                </a:solidFill>
                <a:latin typeface="Segoe UI"/>
              </a:rPr>
              <a:t>Theil-Sen slope of weekly p95-p05 envelope, last 12 masked wks  [WINNER]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9496" y="3913632"/>
            <a:ext cx="3419855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 i="0">
                <a:solidFill>
                  <a:srgbClr val="14263A"/>
                </a:solidFill>
                <a:latin typeface="Consolas"/>
              </a:rPr>
              <a:t>vsi_trend_persistence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9496" y="4105656"/>
            <a:ext cx="3419855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5B6B7C"/>
                </a:solidFill>
                <a:latin typeface="Segoe UI"/>
              </a:rPr>
              <a:t>|mean sign| of rolling 4-wk OLS slopes of vsi_drive_mean, last 12 wks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56531" y="1234440"/>
            <a:ext cx="3675887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56531" y="1234440"/>
            <a:ext cx="3675887" cy="310896"/>
          </a:xfrm>
          <a:prstGeom prst="rect">
            <a:avLst/>
          </a:prstGeom>
          <a:solidFill>
            <a:srgbClr val="FBEA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66259" y="1289304"/>
            <a:ext cx="3456431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1" i="0">
                <a:solidFill>
                  <a:srgbClr val="B45309"/>
                </a:solidFill>
                <a:latin typeface="Segoe UI"/>
              </a:rPr>
              <a:t>CRANK-EVENT FAMILY (4) — NaN on SMA-dead cohort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4547" y="1664208"/>
            <a:ext cx="3419855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 i="0">
                <a:solidFill>
                  <a:srgbClr val="14263A"/>
                </a:solidFill>
                <a:latin typeface="Consolas"/>
              </a:rPr>
              <a:t>failed_crank_rate_last90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4547" y="1856232"/>
            <a:ext cx="3419855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5B6B7C"/>
                </a:solidFill>
                <a:latin typeface="Segoe UI"/>
              </a:rPr>
              <a:t>share of failed cranks among success-known events, last 90 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4547" y="2414016"/>
            <a:ext cx="3419855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 i="0">
                <a:solidFill>
                  <a:srgbClr val="14263A"/>
                </a:solidFill>
                <a:latin typeface="Consolas"/>
              </a:rPr>
              <a:t>retry_burst_rate_last90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84547" y="2606040"/>
            <a:ext cx="3419855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5B6B7C"/>
                </a:solidFill>
                <a:latin typeface="Segoe UI"/>
              </a:rPr>
              <a:t>burst episodes (&gt;=2 events/10 min, no intervening success) per active day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84547" y="3163824"/>
            <a:ext cx="3419855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 i="0">
                <a:solidFill>
                  <a:srgbClr val="14263A"/>
                </a:solidFill>
                <a:latin typeface="Consolas"/>
              </a:rPr>
              <a:t>extended_crank_tail_rate_last90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84547" y="3355848"/>
            <a:ext cx="3419855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5B6B7C"/>
                </a:solidFill>
                <a:latin typeface="Segoe UI"/>
              </a:rPr>
              <a:t>P(n_rows&gt;=2) last 90 d minus L40 baseline share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84547" y="3913632"/>
            <a:ext cx="3419855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 i="0">
                <a:solidFill>
                  <a:srgbClr val="14263A"/>
                </a:solidFill>
                <a:latin typeface="Consolas"/>
              </a:rPr>
              <a:t>first_crank_fail_rate_last90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84547" y="4105656"/>
            <a:ext cx="3419855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5B6B7C"/>
                </a:solidFill>
                <a:latin typeface="Segoe UI"/>
              </a:rPr>
              <a:t>first-crank-after-6h-rest failure share, last 90 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101582" y="1234440"/>
            <a:ext cx="3675887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101582" y="1234440"/>
            <a:ext cx="3675887" cy="310896"/>
          </a:xfrm>
          <a:prstGeom prst="rect">
            <a:avLst/>
          </a:prstGeom>
          <a:solidFill>
            <a:srgbClr val="DDEF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11310" y="1289304"/>
            <a:ext cx="3456431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1" i="0">
                <a:solidFill>
                  <a:srgbClr val="1B7A3D"/>
                </a:solidFill>
                <a:latin typeface="Segoe UI"/>
              </a:rPr>
              <a:t>BATTERY-STATE FAMILY (2)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598" y="1664208"/>
            <a:ext cx="3419855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 i="0">
                <a:solidFill>
                  <a:srgbClr val="14263A"/>
                </a:solidFill>
                <a:latin typeface="Consolas"/>
              </a:rPr>
              <a:t>rest_vsi_p05_delta90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598" y="1856232"/>
            <a:ext cx="3419855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5B6B7C"/>
                </a:solidFill>
                <a:latin typeface="Segoe UI"/>
              </a:rPr>
              <a:t>rest-VSI p05 shift vs baseline, RE-BASELINED after detected battery-replacement step (&gt;= +0.5 V, SNR &gt;= 2)  [WINNER]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598" y="2414016"/>
            <a:ext cx="3419855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 i="0">
                <a:solidFill>
                  <a:srgbClr val="14263A"/>
                </a:solidFill>
                <a:latin typeface="Consolas"/>
              </a:rPr>
              <a:t>dip_depth_last90_delta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598" y="2606040"/>
            <a:ext cx="3419855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5B6B7C"/>
                </a:solidFill>
                <a:latin typeface="Segoe UI"/>
              </a:rPr>
              <a:t>crank dip-depth deepening, last 90 d vs L40 baseline  [WINNER]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11480" y="4956048"/>
            <a:ext cx="11365992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39496" y="5029200"/>
            <a:ext cx="111099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8B0000"/>
                </a:solidFill>
                <a:latin typeface="Segoe UI"/>
              </a:rPr>
              <a:t>ADMISSIBILITY RULE + THE BANNED ARTIFACT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4360" y="5303520"/>
            <a:ext cx="1097280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212B36"/>
                </a:solidFill>
                <a:latin typeface="Segoe UI"/>
              </a:rPr>
              <a:t>REJECT iff max |Spearman r| vs {n_weeks, t_start, span} &gt; 0.5 AND L40 fixed-window AUROC drop &gt; 0.05.  </a:t>
            </a:r>
            <a:r>
              <a:rPr sz="950" b="1">
                <a:solidFill>
                  <a:srgbClr val="8B0000"/>
                </a:solidFill>
                <a:latin typeface="Segoe UI"/>
              </a:rPr>
              <a:t>Cautionary tale: V1's vsi_dominant_freq = 1/n_weeks in disguise (AUROC 0.748 raw -&gt; 0.525 under L40) — banned from the V1.1 pool.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11480" y="6053328"/>
            <a:ext cx="6720840" cy="530352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11480" y="6053328"/>
            <a:ext cx="64008" cy="530352"/>
          </a:xfrm>
          <a:prstGeom prst="rect">
            <a:avLst/>
          </a:prstGeom>
          <a:solidFill>
            <a:srgbClr val="142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21792" y="6108192"/>
            <a:ext cx="6400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1" i="0">
                <a:solidFill>
                  <a:srgbClr val="5B6B7C"/>
                </a:solidFill>
                <a:latin typeface="Segoe UI"/>
              </a:rPr>
              <a:t>ENGINEERING TAKEAWAY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1792" y="6272784"/>
            <a:ext cx="6400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1" i="0">
                <a:solidFill>
                  <a:srgbClr val="14263A"/>
                </a:solidFill>
                <a:latin typeface="Segoe UI"/>
              </a:rPr>
              <a:t>All 10 candidates are window-anchored by construction; the L40 control is the anti-leak backbone.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269480" y="6053328"/>
            <a:ext cx="4507992" cy="530352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269480" y="6053328"/>
            <a:ext cx="64008" cy="530352"/>
          </a:xfrm>
          <a:prstGeom prst="rect">
            <a:avLst/>
          </a:prstGeom>
          <a:solidFill>
            <a:srgbClr val="0E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479792" y="6108192"/>
            <a:ext cx="42062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1" i="0">
                <a:solidFill>
                  <a:srgbClr val="5B6B7C"/>
                </a:solidFill>
                <a:latin typeface="Segoe UI"/>
              </a:rPr>
              <a:t>REVIEW / DECISION POINT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479792" y="6272784"/>
            <a:ext cx="4206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1" i="0">
                <a:solidFill>
                  <a:srgbClr val="0E6E6E"/>
                </a:solidFill>
                <a:latin typeface="Segoe UI"/>
              </a:rPr>
              <a:t>Approve the admissibility rule as the standing bar for all future feature proposals.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11480" y="6638544"/>
            <a:ext cx="113842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 i="0">
                <a:solidFill>
                  <a:srgbClr val="5B6B7C"/>
                </a:solidFill>
                <a:latin typeface="Segoe UI"/>
              </a:rPr>
              <a:t>Starter Motor Failure Prediction V1.1  ·  Internal engineering review — full technical disclosure  ·  Not for external distribution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42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" y="0"/>
            <a:ext cx="91440" cy="566928"/>
          </a:xfrm>
          <a:prstGeom prst="rect">
            <a:avLst/>
          </a:prstGeom>
          <a:solidFill>
            <a:srgbClr val="0E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01168"/>
            <a:ext cx="9692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5B6B7C"/>
                </a:solidFill>
                <a:latin typeface="Segoe UI"/>
              </a:rPr>
              <a:t>INTERNAL · TECHNICAL REVIEW  —  MODEL INPUTS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29768"/>
            <a:ext cx="104241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300" b="1" i="0">
                <a:solidFill>
                  <a:srgbClr val="14263A"/>
                </a:solidFill>
                <a:latin typeface="Segoe UI"/>
              </a:rPr>
              <a:t>The frozen 4-feature subset: selection stability and one disclosed suppressor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219456"/>
            <a:ext cx="868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1000" b="0" i="0">
                <a:solidFill>
                  <a:srgbClr val="5B6B7C"/>
                </a:solidFill>
                <a:latin typeface="Segoe UI"/>
              </a:rPr>
              <a:t>06 / 25</a:t>
            </a:r>
          </a:p>
        </p:txBody>
      </p:sp>
      <p:pic>
        <p:nvPicPr>
          <p:cNvPr id="7" name="Picture 6" descr="TECH_feature_freq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280160"/>
            <a:ext cx="6858000" cy="2255633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11480" y="3840480"/>
            <a:ext cx="6858000" cy="2029968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9496" y="3913632"/>
            <a:ext cx="660196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B45309"/>
                </a:solidFill>
                <a:latin typeface="Segoe UI"/>
              </a:rPr>
              <a:t>G4 WINNER-STABILITY GATE — STRICT FAIL, DISCLOSED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206240"/>
            <a:ext cx="6492240" cy="1600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212B36"/>
                </a:solidFill>
                <a:latin typeface="Segoe UI"/>
              </a:rPr>
              <a:t>Only 3 distinct subsets ever chosen across 34 folds: the modal 4-feature set (14), its 3-feature sibling without dip_depth (14), and a 3-feature sibling without rest_p05 (6).</a:t>
            </a:r>
          </a:p>
          <a:p>
            <a:pPr algn="l">
              <a:spcAft>
                <a:spcPts val="500"/>
              </a:spcAft>
            </a:pPr>
            <a:r>
              <a:rPr sz="950" b="0">
                <a:solidFill>
                  <a:srgbClr val="212B36"/>
                </a:solidFill>
                <a:latin typeface="Segoe UI"/>
              </a:rPr>
              <a:t>Strict criterion needs the modal subset in &gt;=17/34 folds; 14/34 fails it. Substantive stability is strong (core pair in 34/34), but the gate is reported as FAIL — not smoothed over.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543800" y="1280160"/>
            <a:ext cx="4233672" cy="4590288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71816" y="1353312"/>
            <a:ext cx="39776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14263A"/>
                </a:solidFill>
                <a:latin typeface="Segoe UI"/>
              </a:rPr>
              <a:t>PHYSICS READING &amp; THE SUPPRESSOR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26679" y="1664208"/>
            <a:ext cx="38862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950" b="1">
                <a:solidFill>
                  <a:srgbClr val="1565C0"/>
                </a:solidFill>
                <a:latin typeface="Segoe UI"/>
              </a:rPr>
              <a:t>withinwk_std_ratio  </a:t>
            </a:r>
            <a:r>
              <a:rPr sz="950" b="0">
                <a:solidFill>
                  <a:srgbClr val="212B36"/>
                </a:solidFill>
                <a:latin typeface="Segoe UI"/>
              </a:rPr>
              <a:t>- the workhorse: sustained electrical noise rises before failure.</a:t>
            </a:r>
          </a:p>
          <a:p>
            <a:pPr algn="l">
              <a:spcAft>
                <a:spcPts val="700"/>
              </a:spcAft>
            </a:pPr>
            <a:r>
              <a:rPr sz="950" b="1">
                <a:solidFill>
                  <a:srgbClr val="1B7A3D"/>
                </a:solidFill>
                <a:latin typeface="Segoe UI"/>
              </a:rPr>
              <a:t>rest_vsi_p05_delta90  </a:t>
            </a:r>
            <a:r>
              <a:rPr sz="950" b="0">
                <a:solidFill>
                  <a:srgbClr val="212B36"/>
                </a:solidFill>
                <a:latin typeface="Segoe UI"/>
              </a:rPr>
              <a:t>- battery floor sag; re-baselining after replacement steps is what recovered VIN8_F.</a:t>
            </a:r>
          </a:p>
          <a:p>
            <a:pPr algn="l">
              <a:spcAft>
                <a:spcPts val="700"/>
              </a:spcAft>
            </a:pPr>
            <a:r>
              <a:rPr sz="950" b="1">
                <a:solidFill>
                  <a:srgbClr val="1B7A3D"/>
                </a:solidFill>
                <a:latin typeface="Segoe UI"/>
              </a:rPr>
              <a:t>dip_depth_last90_delta  </a:t>
            </a:r>
            <a:r>
              <a:rPr sz="950" b="0">
                <a:solidFill>
                  <a:srgbClr val="212B36"/>
                </a:solidFill>
                <a:latin typeface="Segoe UI"/>
              </a:rPr>
              <a:t>- crank load signature deepening (battery-cascade component).</a:t>
            </a:r>
          </a:p>
          <a:p>
            <a:pPr algn="l">
              <a:spcAft>
                <a:spcPts val="700"/>
              </a:spcAft>
            </a:pPr>
            <a:r>
              <a:rPr sz="950" b="1">
                <a:solidFill>
                  <a:srgbClr val="B45309"/>
                </a:solidFill>
                <a:latin typeface="Segoe UI"/>
              </a:rPr>
              <a:t>vsi_range_trend  </a:t>
            </a:r>
            <a:r>
              <a:rPr sz="950" b="0">
                <a:solidFill>
                  <a:srgbClr val="212B36"/>
                </a:solidFill>
                <a:latin typeface="Segoe UI"/>
              </a:rPr>
              <a:t>- SUPPRESSOR: physics-positive (widening envelope = risk) but enters with a NEGATIVE multivariate weight, driven by r = +0.82 collinearity with the noise ratio. Per-VIN explanation cards state the physical direction and the model usage separately - do not read its coefficient as physics.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6053328"/>
            <a:ext cx="6720840" cy="530352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11480" y="6053328"/>
            <a:ext cx="64008" cy="530352"/>
          </a:xfrm>
          <a:prstGeom prst="rect">
            <a:avLst/>
          </a:prstGeom>
          <a:solidFill>
            <a:srgbClr val="142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" y="6108192"/>
            <a:ext cx="6400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1" i="0">
                <a:solidFill>
                  <a:srgbClr val="5B6B7C"/>
                </a:solidFill>
                <a:latin typeface="Segoe UI"/>
              </a:rPr>
              <a:t>ENGINEERING TAKEAWAY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6272784"/>
            <a:ext cx="6400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1" i="0">
                <a:solidFill>
                  <a:srgbClr val="14263A"/>
                </a:solidFill>
                <a:latin typeface="Segoe UI"/>
              </a:rPr>
              <a:t>Two features carry every fold; the suppressor is a documented modeling artifact, not a physics claim.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269480" y="6053328"/>
            <a:ext cx="4507992" cy="530352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269480" y="6053328"/>
            <a:ext cx="64008" cy="530352"/>
          </a:xfrm>
          <a:prstGeom prst="rect">
            <a:avLst/>
          </a:prstGeom>
          <a:solidFill>
            <a:srgbClr val="0E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79792" y="6108192"/>
            <a:ext cx="42062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1" i="0">
                <a:solidFill>
                  <a:srgbClr val="5B6B7C"/>
                </a:solidFill>
                <a:latin typeface="Segoe UI"/>
              </a:rPr>
              <a:t>REVIEW / DECISION POINT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79792" y="6272784"/>
            <a:ext cx="4206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1" i="0">
                <a:solidFill>
                  <a:srgbClr val="0E6E6E"/>
                </a:solidFill>
                <a:latin typeface="Segoe UI"/>
              </a:rPr>
              <a:t>Accept G4 strict-fail with substantive-stability evidence, or request a fixed-subset re-run.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6638544"/>
            <a:ext cx="113842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 i="0">
                <a:solidFill>
                  <a:srgbClr val="5B6B7C"/>
                </a:solidFill>
                <a:latin typeface="Segoe UI"/>
              </a:rPr>
              <a:t>Starter Motor Failure Prediction V1.1  ·  Internal engineering review — full technical disclosure  ·  Not for external distribution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42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" y="0"/>
            <a:ext cx="91440" cy="566928"/>
          </a:xfrm>
          <a:prstGeom prst="rect">
            <a:avLst/>
          </a:prstGeom>
          <a:solidFill>
            <a:srgbClr val="0E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01168"/>
            <a:ext cx="9692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5B6B7C"/>
                </a:solidFill>
                <a:latin typeface="Segoe UI"/>
              </a:rPr>
              <a:t>INTERNAL · TECHNICAL REVIEW  —  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29768"/>
            <a:ext cx="104241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300" b="1" i="0">
                <a:solidFill>
                  <a:srgbClr val="14263A"/>
                </a:solidFill>
                <a:latin typeface="Segoe UI"/>
              </a:rPr>
              <a:t>Nested LOVO: selection, threshold and calibration all inside the fold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219456"/>
            <a:ext cx="868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1000" b="0" i="0">
                <a:solidFill>
                  <a:srgbClr val="5B6B7C"/>
                </a:solidFill>
                <a:latin typeface="Segoe UI"/>
              </a:rPr>
              <a:t>07 / 25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325880"/>
            <a:ext cx="2377440" cy="1188720"/>
          </a:xfrm>
          <a:prstGeom prst="rect">
            <a:avLst/>
          </a:prstGeom>
          <a:solidFill>
            <a:srgbClr val="E3ECF7"/>
          </a:solidFill>
          <a:ln w="12700">
            <a:solidFill>
              <a:srgbClr val="1565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389888"/>
            <a:ext cx="2194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1565C0"/>
                </a:solidFill>
                <a:latin typeface="Segoe UI"/>
              </a:rPr>
              <a:t>OUTER LOOP (x34)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755648"/>
            <a:ext cx="219456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212B36"/>
                </a:solidFill>
                <a:latin typeface="Segoe UI"/>
              </a:rPr>
              <a:t>hold out truck i entirely
(features, selection, scaling,
imputation never see it)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063240" y="1325880"/>
            <a:ext cx="3154680" cy="1188720"/>
          </a:xfrm>
          <a:prstGeom prst="rect">
            <a:avLst/>
          </a:prstGeom>
          <a:solidFill>
            <a:srgbClr val="EFE6F4"/>
          </a:solidFill>
          <a:ln w="12700">
            <a:solidFill>
              <a:srgbClr val="6C33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54680" y="1389888"/>
            <a:ext cx="2971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6C3383"/>
                </a:solidFill>
                <a:latin typeface="Segoe UI"/>
              </a:rPr>
              <a:t>INNER SCREENING (33 trucks)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54680" y="1755648"/>
            <a:ext cx="297180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212B36"/>
                </a:solidFill>
                <a:latin typeface="Segoe UI"/>
              </a:rPr>
              <a:t>Mann-Whitney p &lt; 0.1 · AUROC &gt;= 0.6
Spearman dedup |rho| &lt;= 0.85
stability &gt;= 0.8 · pool cap 10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92240" y="1325880"/>
            <a:ext cx="2880360" cy="1188720"/>
          </a:xfrm>
          <a:prstGeom prst="rect">
            <a:avLst/>
          </a:prstGeom>
          <a:solidFill>
            <a:srgbClr val="EFE6F4"/>
          </a:solidFill>
          <a:ln w="12700">
            <a:solidFill>
              <a:srgbClr val="6C33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1389888"/>
            <a:ext cx="2697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6C3383"/>
                </a:solidFill>
                <a:latin typeface="Segoe UI"/>
              </a:rPr>
              <a:t>INNER SUBSET SEARCH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1755648"/>
            <a:ext cx="269748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212B36"/>
                </a:solidFill>
                <a:latin typeface="Segoe UI"/>
              </a:rPr>
              <a:t>exhaustive k = 3..6 subsets
inner-LOVO AUROC picks winner
(modal 4 in 14/34 folds; 3 subsets ever)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646920" y="1325880"/>
            <a:ext cx="2130552" cy="1188720"/>
          </a:xfrm>
          <a:prstGeom prst="rect">
            <a:avLst/>
          </a:prstGeom>
          <a:solidFill>
            <a:srgbClr val="DDEFE2"/>
          </a:solidFill>
          <a:ln w="12700">
            <a:solidFill>
              <a:srgbClr val="1B7A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738360" y="1389888"/>
            <a:ext cx="19476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1B7A3D"/>
                </a:solidFill>
                <a:latin typeface="Segoe UI"/>
              </a:rPr>
              <a:t>REFIT + SCORE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38360" y="1755648"/>
            <a:ext cx="1947672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212B36"/>
                </a:solidFill>
                <a:latin typeface="Segoe UI"/>
              </a:rPr>
              <a:t>RidgeClassifier(alpha=1.0)
closed-form replica (&lt;1e-9 vs sklearn)
score held-out truck i</a:t>
            </a:r>
          </a:p>
        </p:txBody>
      </p:sp>
      <p:sp>
        <p:nvSpPr>
          <p:cNvPr id="19" name="Chevron 18"/>
          <p:cNvSpPr/>
          <p:nvPr/>
        </p:nvSpPr>
        <p:spPr>
          <a:xfrm>
            <a:off x="2807208" y="1847088"/>
            <a:ext cx="182880" cy="146304"/>
          </a:xfrm>
          <a:prstGeom prst="chevron">
            <a:avLst/>
          </a:prstGeom>
          <a:solidFill>
            <a:srgbClr val="142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hevron 19"/>
          <p:cNvSpPr/>
          <p:nvPr/>
        </p:nvSpPr>
        <p:spPr>
          <a:xfrm>
            <a:off x="6236208" y="1847088"/>
            <a:ext cx="182880" cy="146304"/>
          </a:xfrm>
          <a:prstGeom prst="chevron">
            <a:avLst/>
          </a:prstGeom>
          <a:solidFill>
            <a:srgbClr val="142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Chevron 20"/>
          <p:cNvSpPr/>
          <p:nvPr/>
        </p:nvSpPr>
        <p:spPr>
          <a:xfrm>
            <a:off x="9390888" y="1847088"/>
            <a:ext cx="182880" cy="146304"/>
          </a:xfrm>
          <a:prstGeom prst="chevron">
            <a:avLst/>
          </a:prstGeom>
          <a:solidFill>
            <a:srgbClr val="142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11480" y="2788920"/>
            <a:ext cx="3657600" cy="1115568"/>
          </a:xfrm>
          <a:prstGeom prst="rect">
            <a:avLst/>
          </a:prstGeom>
          <a:solidFill>
            <a:srgbClr val="FBEAD2"/>
          </a:solidFill>
          <a:ln w="12700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2852928"/>
            <a:ext cx="3474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B45309"/>
                </a:solidFill>
                <a:latin typeface="Segoe UI"/>
              </a:rPr>
              <a:t>PER-FOLD POST-PROCESSING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3218688"/>
            <a:ext cx="34747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212B36"/>
                </a:solidFill>
                <a:latin typeface="Segoe UI"/>
              </a:rPr>
              <a:t>threshold = inner-OOF Youden (pre-registered rule)
recalibration = Platt on inner-OOF decision values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43400" y="2788920"/>
            <a:ext cx="3657600" cy="1115568"/>
          </a:xfrm>
          <a:prstGeom prst="rect">
            <a:avLst/>
          </a:prstGeom>
          <a:solidFill>
            <a:srgbClr val="DDEFE2"/>
          </a:solidFill>
          <a:ln w="12700">
            <a:solidFill>
              <a:srgbClr val="1B7A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34840" y="2852928"/>
            <a:ext cx="3474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1B7A3D"/>
                </a:solidFill>
                <a:latin typeface="Segoe UI"/>
              </a:rPr>
              <a:t>AGGREGATE OOF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34840" y="3218688"/>
            <a:ext cx="34747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212B36"/>
                </a:solidFill>
                <a:latin typeface="Segoe UI"/>
              </a:rPr>
              <a:t>34 out-of-fold recalibrated probabilities
nested AUROC = 0.9321 (optimism vs non-nested: +0.0036)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75320" y="2788920"/>
            <a:ext cx="3502152" cy="1115568"/>
          </a:xfrm>
          <a:prstGeom prst="rect">
            <a:avLst/>
          </a:prstGeom>
          <a:solidFill>
            <a:srgbClr val="DDEFE2"/>
          </a:solidFill>
          <a:ln w="12700">
            <a:solidFill>
              <a:srgbClr val="1B7A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66760" y="2852928"/>
            <a:ext cx="331927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1B7A3D"/>
                </a:solidFill>
                <a:latin typeface="Segoe UI"/>
              </a:rPr>
              <a:t>INFERENCE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66760" y="3218688"/>
            <a:ext cx="331927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 i="0">
                <a:solidFill>
                  <a:srgbClr val="212B36"/>
                </a:solidFill>
                <a:latin typeface="Segoe UI"/>
              </a:rPr>
              <a:t>bootstrap N=200 (seed 42): CI [0.8107, 0.9861]
full-pipeline permutation N=200 (seed 43): p = 0.005</a:t>
            </a:r>
          </a:p>
        </p:txBody>
      </p:sp>
      <p:sp>
        <p:nvSpPr>
          <p:cNvPr id="31" name="Chevron 30"/>
          <p:cNvSpPr/>
          <p:nvPr/>
        </p:nvSpPr>
        <p:spPr>
          <a:xfrm>
            <a:off x="4087368" y="3255264"/>
            <a:ext cx="182880" cy="146304"/>
          </a:xfrm>
          <a:prstGeom prst="chevron">
            <a:avLst/>
          </a:prstGeom>
          <a:solidFill>
            <a:srgbClr val="142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Chevron 31"/>
          <p:cNvSpPr/>
          <p:nvPr/>
        </p:nvSpPr>
        <p:spPr>
          <a:xfrm>
            <a:off x="8019288" y="3255264"/>
            <a:ext cx="182880" cy="146304"/>
          </a:xfrm>
          <a:prstGeom prst="chevron">
            <a:avLst/>
          </a:prstGeom>
          <a:solidFill>
            <a:srgbClr val="142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11480" y="4160520"/>
            <a:ext cx="11365992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39496" y="4233672"/>
            <a:ext cx="111099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14263A"/>
                </a:solidFill>
                <a:latin typeface="Segoe UI"/>
              </a:rPr>
              <a:t>WHY THIS PROTOCOL (WHAT IT CLOSES OFF)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" y="452628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1">
                <a:solidFill>
                  <a:srgbClr val="14263A"/>
                </a:solidFill>
                <a:latin typeface="Segoe UI"/>
              </a:rPr>
              <a:t>Selection leakage:  </a:t>
            </a:r>
            <a:r>
              <a:rPr sz="950" b="0">
                <a:solidFill>
                  <a:srgbClr val="212B36"/>
                </a:solidFill>
                <a:latin typeface="Segoe UI"/>
              </a:rPr>
              <a:t>feature screening and subset choice re-run inside every fold — the held-out truck never influences its own scorer (this alone is worth -0.0285 on V1's reported number).</a:t>
            </a:r>
          </a:p>
          <a:p>
            <a:pPr algn="l">
              <a:spcAft>
                <a:spcPts val="500"/>
              </a:spcAft>
            </a:pPr>
            <a:r>
              <a:rPr sz="950" b="1">
                <a:solidFill>
                  <a:srgbClr val="14263A"/>
                </a:solidFill>
                <a:latin typeface="Segoe UI"/>
              </a:rPr>
              <a:t>Threshold leakage:  </a:t>
            </a:r>
            <a:r>
              <a:rPr sz="950" b="0">
                <a:solidFill>
                  <a:srgbClr val="212B36"/>
                </a:solidFill>
                <a:latin typeface="Segoe UI"/>
              </a:rPr>
              <a:t>Youden point comes from inner-OOF only; no post-hoc threshold tuning on test outcomes.</a:t>
            </a:r>
          </a:p>
          <a:p>
            <a:pPr algn="l">
              <a:spcAft>
                <a:spcPts val="500"/>
              </a:spcAft>
            </a:pPr>
            <a:r>
              <a:rPr sz="950" b="1">
                <a:solidFill>
                  <a:srgbClr val="14263A"/>
                </a:solidFill>
                <a:latin typeface="Segoe UI"/>
              </a:rPr>
              <a:t>Calibration leakage:  </a:t>
            </a:r>
            <a:r>
              <a:rPr sz="950" b="0">
                <a:solidFill>
                  <a:srgbClr val="212B36"/>
                </a:solidFill>
                <a:latin typeface="Segoe UI"/>
              </a:rPr>
              <a:t>Platt fitted per fold on inner-OOF decision values; recalibrated probabilities are honestly out-of-fold.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11480" y="6053328"/>
            <a:ext cx="6720840" cy="530352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11480" y="6053328"/>
            <a:ext cx="64008" cy="530352"/>
          </a:xfrm>
          <a:prstGeom prst="rect">
            <a:avLst/>
          </a:prstGeom>
          <a:solidFill>
            <a:srgbClr val="142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1792" y="6108192"/>
            <a:ext cx="6400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1" i="0">
                <a:solidFill>
                  <a:srgbClr val="5B6B7C"/>
                </a:solidFill>
                <a:latin typeface="Segoe UI"/>
              </a:rPr>
              <a:t>ENGINEERING TAKEAWAY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1792" y="6272784"/>
            <a:ext cx="6400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1" i="0">
                <a:solidFill>
                  <a:srgbClr val="14263A"/>
                </a:solidFill>
                <a:latin typeface="Segoe UI"/>
              </a:rPr>
              <a:t>Everything that could overfit is re-derived 34 times inside the folds; the permutation test validates the WHOLE pipeline.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269480" y="6053328"/>
            <a:ext cx="4507992" cy="530352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269480" y="6053328"/>
            <a:ext cx="64008" cy="530352"/>
          </a:xfrm>
          <a:prstGeom prst="rect">
            <a:avLst/>
          </a:prstGeom>
          <a:solidFill>
            <a:srgbClr val="0E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479792" y="6108192"/>
            <a:ext cx="42062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1" i="0">
                <a:solidFill>
                  <a:srgbClr val="5B6B7C"/>
                </a:solidFill>
                <a:latin typeface="Segoe UI"/>
              </a:rPr>
              <a:t>REVIEW / DECISION POINT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479792" y="6272784"/>
            <a:ext cx="4206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1" i="0">
                <a:solidFill>
                  <a:srgbClr val="0E6E6E"/>
                </a:solidFill>
                <a:latin typeface="Segoe UI"/>
              </a:rPr>
              <a:t>Protocol sign-off: is nested-LOVO accepted as the standing evaluation bar for SM iterations?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11480" y="6638544"/>
            <a:ext cx="113842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 i="0">
                <a:solidFill>
                  <a:srgbClr val="5B6B7C"/>
                </a:solidFill>
                <a:latin typeface="Segoe UI"/>
              </a:rPr>
              <a:t>Starter Motor Failure Prediction V1.1  ·  Internal engineering review — full technical disclosure  ·  Not for external distribution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42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" y="0"/>
            <a:ext cx="91440" cy="566928"/>
          </a:xfrm>
          <a:prstGeom prst="rect">
            <a:avLst/>
          </a:prstGeom>
          <a:solidFill>
            <a:srgbClr val="0E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01168"/>
            <a:ext cx="9692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5B6B7C"/>
                </a:solidFill>
                <a:latin typeface="Segoe UI"/>
              </a:rPr>
              <a:t>INTERNAL · TECHNICAL REVIEW  — 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29768"/>
            <a:ext cx="104241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300" b="1" i="0">
                <a:solidFill>
                  <a:srgbClr val="14263A"/>
                </a:solidFill>
                <a:latin typeface="Segoe UI"/>
              </a:rPr>
              <a:t>Headline: nested AUROC 0.9321 — and where the gain actually comes from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219456"/>
            <a:ext cx="868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1000" b="0" i="0">
                <a:solidFill>
                  <a:srgbClr val="5B6B7C"/>
                </a:solidFill>
                <a:latin typeface="Segoe UI"/>
              </a:rPr>
              <a:t>08 / 25</a:t>
            </a:r>
          </a:p>
        </p:txBody>
      </p:sp>
      <p:pic>
        <p:nvPicPr>
          <p:cNvPr id="7" name="Picture 6" descr="TECH_v1_brid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298448"/>
            <a:ext cx="7406640" cy="350451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8092440" y="1298448"/>
            <a:ext cx="3685032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0456" y="1371600"/>
            <a:ext cx="34290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14263A"/>
                </a:solidFill>
                <a:latin typeface="Segoe UI"/>
              </a:rPr>
              <a:t>HEADLINE NUMBERS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75320" y="1719072"/>
            <a:ext cx="3383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14263A"/>
                </a:solidFill>
                <a:latin typeface="Segoe UI"/>
              </a:rPr>
              <a:t>0.9321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75320" y="2029968"/>
            <a:ext cx="3337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5B6B7C"/>
                </a:solidFill>
                <a:latin typeface="Segoe UI"/>
              </a:rPr>
              <a:t>nested-LOVO AUROC, 34 OOF probabilities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75320" y="2542032"/>
            <a:ext cx="3383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14263A"/>
                </a:solidFill>
                <a:latin typeface="Segoe UI"/>
              </a:rPr>
              <a:t>[0.811, 0.986]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5320" y="2852928"/>
            <a:ext cx="3337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5B6B7C"/>
                </a:solidFill>
                <a:latin typeface="Segoe UI"/>
              </a:rPr>
              <a:t>bootstrap 95% CI (N=200, seed 42) - small-n width, read honestly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5320" y="3364992"/>
            <a:ext cx="3383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14263A"/>
                </a:solidFill>
                <a:latin typeface="Segoe UI"/>
              </a:rPr>
              <a:t>p = 0.005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20" y="3675888"/>
            <a:ext cx="3337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5B6B7C"/>
                </a:solidFill>
                <a:latin typeface="Segoe UI"/>
              </a:rPr>
              <a:t>permutation test: 0/200 full-pipeline label shuffles reach 0.9321 (N=200 floor)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4187952"/>
            <a:ext cx="3383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1B7A3D"/>
                </a:solidFill>
                <a:latin typeface="Segoe UI"/>
              </a:rPr>
              <a:t>+0.0036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4498848"/>
            <a:ext cx="3337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5B6B7C"/>
                </a:solidFill>
                <a:latin typeface="Segoe UI"/>
              </a:rPr>
              <a:t>nesting optimism vs non-nested modal 0.9357 - selection bias is tiny in V1.1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20" y="5010912"/>
            <a:ext cx="3383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1B7A3D"/>
                </a:solidFill>
                <a:latin typeface="Segoe UI"/>
              </a:rPr>
              <a:t>+0.089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20" y="5321808"/>
            <a:ext cx="3337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5B6B7C"/>
                </a:solidFill>
                <a:latin typeface="Segoe UI"/>
              </a:rPr>
              <a:t>V1.1 features vs V1-era 22 features under the SAME nested protocol (0.9321 vs 0.8429): the gain is features, not protocol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" y="6053328"/>
            <a:ext cx="6720840" cy="530352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11480" y="6053328"/>
            <a:ext cx="64008" cy="530352"/>
          </a:xfrm>
          <a:prstGeom prst="rect">
            <a:avLst/>
          </a:prstGeom>
          <a:solidFill>
            <a:srgbClr val="142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1792" y="6108192"/>
            <a:ext cx="6400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1" i="0">
                <a:solidFill>
                  <a:srgbClr val="5B6B7C"/>
                </a:solidFill>
                <a:latin typeface="Segoe UI"/>
              </a:rPr>
              <a:t>ENGINEERING TAKEAWAY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" y="6272784"/>
            <a:ext cx="6400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1" i="0">
                <a:solidFill>
                  <a:srgbClr val="14263A"/>
                </a:solidFill>
                <a:latin typeface="Segoe UI"/>
              </a:rPr>
              <a:t>V1.1 beats the honestly-restated V1 by +0.039 AUROC and includes VIN8_F, V1's worst miss.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269480" y="6053328"/>
            <a:ext cx="4507992" cy="530352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269480" y="6053328"/>
            <a:ext cx="64008" cy="530352"/>
          </a:xfrm>
          <a:prstGeom prst="rect">
            <a:avLst/>
          </a:prstGeom>
          <a:solidFill>
            <a:srgbClr val="0E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79792" y="6108192"/>
            <a:ext cx="42062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1" i="0">
                <a:solidFill>
                  <a:srgbClr val="5B6B7C"/>
                </a:solidFill>
                <a:latin typeface="Segoe UI"/>
              </a:rPr>
              <a:t>REVIEW / DECISION POINT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79792" y="6272784"/>
            <a:ext cx="4206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1" i="0">
                <a:solidFill>
                  <a:srgbClr val="0E6E6E"/>
                </a:solidFill>
                <a:latin typeface="Segoe UI"/>
              </a:rPr>
              <a:t>Accept 0.9321 [0.811, 0.986] as the frozen reference number for all downstream claims.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" y="6638544"/>
            <a:ext cx="113842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 i="0">
                <a:solidFill>
                  <a:srgbClr val="5B6B7C"/>
                </a:solidFill>
                <a:latin typeface="Segoe UI"/>
              </a:rPr>
              <a:t>Starter Motor Failure Prediction V1.1  ·  Internal engineering review — full technical disclosure  ·  Not for external distribution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42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" y="0"/>
            <a:ext cx="91440" cy="566928"/>
          </a:xfrm>
          <a:prstGeom prst="rect">
            <a:avLst/>
          </a:prstGeom>
          <a:solidFill>
            <a:srgbClr val="0E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01168"/>
            <a:ext cx="9692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5B6B7C"/>
                </a:solidFill>
                <a:latin typeface="Segoe UI"/>
              </a:rPr>
              <a:t>INTERNAL · TECHNICAL REVIEW  —  OPERATING POINTS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29768"/>
            <a:ext cx="104241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300" b="1" i="0">
                <a:solidFill>
                  <a:srgbClr val="14263A"/>
                </a:solidFill>
                <a:latin typeface="Segoe UI"/>
              </a:rPr>
              <a:t>Two pre-registered operating points — choose per maintenance economics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219456"/>
            <a:ext cx="868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1000" b="0" i="0">
                <a:solidFill>
                  <a:srgbClr val="5B6B7C"/>
                </a:solidFill>
                <a:latin typeface="Segoe UI"/>
              </a:rPr>
              <a:t>09 / 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371600"/>
            <a:ext cx="3931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14263A"/>
                </a:solidFill>
                <a:latin typeface="Segoe UI"/>
              </a:rPr>
              <a:t>A · Per-fold Youden (coverage-first)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1737360"/>
            <a:ext cx="14173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900" b="1" i="0">
                <a:solidFill>
                  <a:srgbClr val="5B6B7C"/>
                </a:solidFill>
                <a:latin typeface="Segoe UI"/>
              </a:rPr>
              <a:t>Flagged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9544" y="1737360"/>
            <a:ext cx="14173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900" b="1" i="0">
                <a:solidFill>
                  <a:srgbClr val="5B6B7C"/>
                </a:solidFill>
                <a:latin typeface="Segoe UI"/>
              </a:rPr>
              <a:t>Clear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249424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1" i="0">
                <a:solidFill>
                  <a:srgbClr val="5B6B7C"/>
                </a:solidFill>
                <a:latin typeface="Segoe UI"/>
              </a:rPr>
              <a:t>Failed (14)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737360" y="1956816"/>
            <a:ext cx="1417320" cy="841248"/>
          </a:xfrm>
          <a:prstGeom prst="rect">
            <a:avLst/>
          </a:prstGeom>
          <a:solidFill>
            <a:srgbClr val="DDEFE2"/>
          </a:solidFill>
          <a:ln w="15240">
            <a:solidFill>
              <a:srgbClr val="1B7A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737360" y="2066544"/>
            <a:ext cx="14173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1" i="0">
                <a:solidFill>
                  <a:srgbClr val="1B7A3D"/>
                </a:solidFill>
                <a:latin typeface="Segoe UI"/>
              </a:rPr>
              <a:t>13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2487168"/>
            <a:ext cx="14173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 i="0">
                <a:solidFill>
                  <a:srgbClr val="1B7A3D"/>
                </a:solidFill>
                <a:latin typeface="Segoe UI"/>
              </a:rPr>
              <a:t>caught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9544" y="1956816"/>
            <a:ext cx="1417320" cy="841248"/>
          </a:xfrm>
          <a:prstGeom prst="rect">
            <a:avLst/>
          </a:prstGeom>
          <a:solidFill>
            <a:srgbClr val="FAE3E3"/>
          </a:solidFill>
          <a:ln w="15240">
            <a:solidFill>
              <a:srgbClr val="8B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09544" y="2066544"/>
            <a:ext cx="14173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1" i="0">
                <a:solidFill>
                  <a:srgbClr val="8B0000"/>
                </a:solidFill>
                <a:latin typeface="Segoe U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9544" y="2487168"/>
            <a:ext cx="14173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 i="0">
                <a:solidFill>
                  <a:srgbClr val="8B0000"/>
                </a:solidFill>
                <a:latin typeface="Segoe UI"/>
              </a:rPr>
              <a:t>missed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3145536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1" i="0">
                <a:solidFill>
                  <a:srgbClr val="5B6B7C"/>
                </a:solidFill>
                <a:latin typeface="Segoe UI"/>
              </a:rPr>
              <a:t>Healthy (20)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737360" y="2852928"/>
            <a:ext cx="1417320" cy="841248"/>
          </a:xfrm>
          <a:prstGeom prst="rect">
            <a:avLst/>
          </a:prstGeom>
          <a:solidFill>
            <a:srgbClr val="FBEAD2"/>
          </a:solidFill>
          <a:ln w="15240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737360" y="2962656"/>
            <a:ext cx="14173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1" i="0">
                <a:solidFill>
                  <a:srgbClr val="B45309"/>
                </a:solidFill>
                <a:latin typeface="Segoe UI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37360" y="3383280"/>
            <a:ext cx="14173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 i="0">
                <a:solidFill>
                  <a:srgbClr val="B45309"/>
                </a:solidFill>
                <a:latin typeface="Segoe UI"/>
              </a:rPr>
              <a:t>false alarm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9544" y="2852928"/>
            <a:ext cx="1417320" cy="841248"/>
          </a:xfrm>
          <a:prstGeom prst="rect">
            <a:avLst/>
          </a:prstGeom>
          <a:solidFill>
            <a:srgbClr val="DDEFE2"/>
          </a:solidFill>
          <a:ln w="15240">
            <a:solidFill>
              <a:srgbClr val="1B7A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09544" y="2962656"/>
            <a:ext cx="14173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1" i="0">
                <a:solidFill>
                  <a:srgbClr val="1B7A3D"/>
                </a:solidFill>
                <a:latin typeface="Segoe UI"/>
              </a:rPr>
              <a:t>15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9544" y="3383280"/>
            <a:ext cx="14173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 i="0">
                <a:solidFill>
                  <a:srgbClr val="1B7A3D"/>
                </a:solidFill>
                <a:latin typeface="Segoe UI"/>
              </a:rPr>
              <a:t>correct clear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3803904"/>
            <a:ext cx="397763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5B6B7C"/>
                </a:solidFill>
                <a:latin typeface="Segoe UI"/>
              </a:rPr>
              <a:t>recall 0.929 · specificity 0.75 · F1 0.8125 · MCC 0.6691. Threshold from inner-OOF Youden, per fold (pre-registered).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74920" y="1371600"/>
            <a:ext cx="3931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 i="0">
                <a:solidFill>
                  <a:srgbClr val="14263A"/>
                </a:solidFill>
                <a:latin typeface="Segoe UI"/>
              </a:rPr>
              <a:t>B · RED tier &gt;= 0.55 (precision-first)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6480" y="1737360"/>
            <a:ext cx="14173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900" b="1" i="0">
                <a:solidFill>
                  <a:srgbClr val="5B6B7C"/>
                </a:solidFill>
                <a:latin typeface="Segoe UI"/>
              </a:rPr>
              <a:t>Flagged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98664" y="1737360"/>
            <a:ext cx="14173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900" b="1" i="0">
                <a:solidFill>
                  <a:srgbClr val="5B6B7C"/>
                </a:solidFill>
                <a:latin typeface="Segoe UI"/>
              </a:rPr>
              <a:t>Clear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74920" y="2249424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1" i="0">
                <a:solidFill>
                  <a:srgbClr val="5B6B7C"/>
                </a:solidFill>
                <a:latin typeface="Segoe UI"/>
              </a:rPr>
              <a:t>Failed (14)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26480" y="1956816"/>
            <a:ext cx="1417320" cy="841248"/>
          </a:xfrm>
          <a:prstGeom prst="rect">
            <a:avLst/>
          </a:prstGeom>
          <a:solidFill>
            <a:srgbClr val="DDEFE2"/>
          </a:solidFill>
          <a:ln w="15240">
            <a:solidFill>
              <a:srgbClr val="1B7A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126480" y="2066544"/>
            <a:ext cx="14173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1" i="0">
                <a:solidFill>
                  <a:srgbClr val="1B7A3D"/>
                </a:solidFill>
                <a:latin typeface="Segoe UI"/>
              </a:rPr>
              <a:t>10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26480" y="2487168"/>
            <a:ext cx="14173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 i="0">
                <a:solidFill>
                  <a:srgbClr val="1B7A3D"/>
                </a:solidFill>
                <a:latin typeface="Segoe UI"/>
              </a:rPr>
              <a:t>caught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598664" y="1956816"/>
            <a:ext cx="1417320" cy="841248"/>
          </a:xfrm>
          <a:prstGeom prst="rect">
            <a:avLst/>
          </a:prstGeom>
          <a:solidFill>
            <a:srgbClr val="FAE3E3"/>
          </a:solidFill>
          <a:ln w="15240">
            <a:solidFill>
              <a:srgbClr val="8B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598664" y="2066544"/>
            <a:ext cx="14173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1" i="0">
                <a:solidFill>
                  <a:srgbClr val="8B0000"/>
                </a:solidFill>
                <a:latin typeface="Segoe UI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98664" y="2487168"/>
            <a:ext cx="14173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 i="0">
                <a:solidFill>
                  <a:srgbClr val="8B0000"/>
                </a:solidFill>
                <a:latin typeface="Segoe UI"/>
              </a:rPr>
              <a:t>missed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74920" y="3145536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1" i="0">
                <a:solidFill>
                  <a:srgbClr val="5B6B7C"/>
                </a:solidFill>
                <a:latin typeface="Segoe UI"/>
              </a:rPr>
              <a:t>Healthy (20)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26480" y="2852928"/>
            <a:ext cx="1417320" cy="841248"/>
          </a:xfrm>
          <a:prstGeom prst="rect">
            <a:avLst/>
          </a:prstGeom>
          <a:solidFill>
            <a:srgbClr val="FBEAD2"/>
          </a:solidFill>
          <a:ln w="15240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26480" y="2962656"/>
            <a:ext cx="14173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1" i="0">
                <a:solidFill>
                  <a:srgbClr val="B45309"/>
                </a:solidFill>
                <a:latin typeface="Segoe UI"/>
              </a:rPr>
              <a:t>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26480" y="3383280"/>
            <a:ext cx="14173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 i="0">
                <a:solidFill>
                  <a:srgbClr val="B45309"/>
                </a:solidFill>
                <a:latin typeface="Segoe UI"/>
              </a:rPr>
              <a:t>false alarm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598664" y="2852928"/>
            <a:ext cx="1417320" cy="841248"/>
          </a:xfrm>
          <a:prstGeom prst="rect">
            <a:avLst/>
          </a:prstGeom>
          <a:solidFill>
            <a:srgbClr val="DDEFE2"/>
          </a:solidFill>
          <a:ln w="15240">
            <a:solidFill>
              <a:srgbClr val="1B7A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598664" y="2962656"/>
            <a:ext cx="14173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1" i="0">
                <a:solidFill>
                  <a:srgbClr val="1B7A3D"/>
                </a:solidFill>
                <a:latin typeface="Segoe UI"/>
              </a:rPr>
              <a:t>18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598664" y="3383280"/>
            <a:ext cx="14173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800" b="0" i="0">
                <a:solidFill>
                  <a:srgbClr val="1B7A3D"/>
                </a:solidFill>
                <a:latin typeface="Segoe UI"/>
              </a:rPr>
              <a:t>correct clear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74920" y="3803904"/>
            <a:ext cx="397763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5B6B7C"/>
                </a:solidFill>
                <a:latin typeface="Segoe UI"/>
              </a:rPr>
              <a:t>recall 0.714 · specificity 0.90. RED false alarms: VIN19_NF (P 0.96), VIN34_NF (P 0.62) - plausibly right-censored degraders.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418320" y="1371600"/>
            <a:ext cx="2359152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546336" y="1444752"/>
            <a:ext cx="21031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B45309"/>
                </a:solidFill>
                <a:latin typeface="Segoe UI"/>
              </a:rPr>
              <a:t>NON-DOMINANCE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582912" y="1755648"/>
            <a:ext cx="2057400" cy="2788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850" b="0">
                <a:solidFill>
                  <a:srgbClr val="212B36"/>
                </a:solidFill>
                <a:latin typeface="Segoe UI"/>
              </a:rPr>
              <a:t>No point beats V1-restated (12/14 @ 18/20) on every cell:</a:t>
            </a:r>
          </a:p>
          <a:p>
            <a:pPr algn="l">
              <a:spcAft>
                <a:spcPts val="500"/>
              </a:spcAft>
            </a:pPr>
            <a:r>
              <a:rPr sz="850" b="0">
                <a:solidFill>
                  <a:srgbClr val="212B36"/>
                </a:solidFill>
                <a:latin typeface="Segoe UI"/>
              </a:rPr>
              <a:t>Youden: +1 recall, -3 specificity</a:t>
            </a:r>
          </a:p>
          <a:p>
            <a:pPr algn="l">
              <a:spcAft>
                <a:spcPts val="500"/>
              </a:spcAft>
            </a:pPr>
            <a:r>
              <a:rPr sz="850" b="0">
                <a:solidFill>
                  <a:srgbClr val="212B36"/>
                </a:solidFill>
                <a:latin typeface="Segoe UI"/>
              </a:rPr>
              <a:t>RED tier: -2 recall, equal specificity (18/20)</a:t>
            </a:r>
          </a:p>
          <a:p>
            <a:pPr algn="l">
              <a:spcAft>
                <a:spcPts val="500"/>
              </a:spcAft>
            </a:pPr>
            <a:r>
              <a:rPr sz="850" b="1">
                <a:solidFill>
                  <a:srgbClr val="14263A"/>
                </a:solidFill>
                <a:latin typeface="Segoe UI"/>
              </a:rPr>
              <a:t>Both are honest, pre-registered; the choice is an economics decision, not a statistics one.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11480" y="4846320"/>
            <a:ext cx="11365992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39496" y="4919472"/>
            <a:ext cx="111099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8B0000"/>
                </a:solidFill>
                <a:latin typeface="Segoe UI"/>
              </a:rPr>
              <a:t>THE ONE MISS AT YOUDEN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94360" y="5193792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212B36"/>
                </a:solidFill>
                <a:latin typeface="Segoe UI"/>
              </a:rPr>
              <a:t>VIN9_F: raw score 0.401 vs fold threshold 0.406 — loses by 0.005 (recalibrated P 0.224, the GREEN bar on the fleet chart). SMA-dead (0.4% coverage), 142-day terminal silent gap, mid-fleet on every live feature. This truck is structurally unobservable in the current telemetry; no admissible model sees it (full anatomy on slide 16).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11480" y="6053328"/>
            <a:ext cx="6720840" cy="530352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11480" y="6053328"/>
            <a:ext cx="64008" cy="530352"/>
          </a:xfrm>
          <a:prstGeom prst="rect">
            <a:avLst/>
          </a:prstGeom>
          <a:solidFill>
            <a:srgbClr val="142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21792" y="6108192"/>
            <a:ext cx="6400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1" i="0">
                <a:solidFill>
                  <a:srgbClr val="5B6B7C"/>
                </a:solidFill>
                <a:latin typeface="Segoe UI"/>
              </a:rPr>
              <a:t>ENGINEERING TAKEAWAY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21792" y="6272784"/>
            <a:ext cx="6400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1" i="0">
                <a:solidFill>
                  <a:srgbClr val="14263A"/>
                </a:solidFill>
                <a:latin typeface="Segoe UI"/>
              </a:rPr>
              <a:t>13/14 @ 5/20 or 10/14 @ 2/20 — both validated; the trade is explicit and priced.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269480" y="6053328"/>
            <a:ext cx="4507992" cy="530352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269480" y="6053328"/>
            <a:ext cx="64008" cy="530352"/>
          </a:xfrm>
          <a:prstGeom prst="rect">
            <a:avLst/>
          </a:prstGeom>
          <a:solidFill>
            <a:srgbClr val="0E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479792" y="6108192"/>
            <a:ext cx="42062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1" i="0">
                <a:solidFill>
                  <a:srgbClr val="5B6B7C"/>
                </a:solidFill>
                <a:latin typeface="Segoe UI"/>
              </a:rPr>
              <a:t>REVIEW / DECISION POINT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479792" y="6272784"/>
            <a:ext cx="4206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1" i="0">
                <a:solidFill>
                  <a:srgbClr val="0E6E6E"/>
                </a:solidFill>
                <a:latin typeface="Segoe UI"/>
              </a:rPr>
              <a:t>Pick the default operating point for the pilot (recommend: RED tier pager + Youden watch-list).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11480" y="6638544"/>
            <a:ext cx="113842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 i="0">
                <a:solidFill>
                  <a:srgbClr val="5B6B7C"/>
                </a:solidFill>
                <a:latin typeface="Segoe UI"/>
              </a:rPr>
              <a:t>Starter Motor Failure Prediction V1.1  ·  Internal engineering review — full technical disclosure  ·  Not for external distribution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42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" y="0"/>
            <a:ext cx="91440" cy="566928"/>
          </a:xfrm>
          <a:prstGeom prst="rect">
            <a:avLst/>
          </a:prstGeom>
          <a:solidFill>
            <a:srgbClr val="0E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01168"/>
            <a:ext cx="9692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5B6B7C"/>
                </a:solidFill>
                <a:latin typeface="Segoe UI"/>
              </a:rPr>
              <a:t>INTERNAL · TECHNICAL REVIEW  — 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29768"/>
            <a:ext cx="104241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300" b="1" i="0">
                <a:solidFill>
                  <a:srgbClr val="14263A"/>
                </a:solidFill>
                <a:latin typeface="Segoe UI"/>
              </a:rPr>
              <a:t>Per-VIN out-of-fold risk: the full 34-truck picture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219456"/>
            <a:ext cx="868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1000" b="0" i="0">
                <a:solidFill>
                  <a:srgbClr val="5B6B7C"/>
                </a:solidFill>
                <a:latin typeface="Segoe UI"/>
              </a:rPr>
              <a:t>10 / 25</a:t>
            </a:r>
          </a:p>
        </p:txBody>
      </p:sp>
      <p:pic>
        <p:nvPicPr>
          <p:cNvPr id="7" name="Picture 6" descr="V1_1_SM_fleet_ris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234440"/>
            <a:ext cx="8412480" cy="4206240"/>
          </a:xfrm>
          <a:prstGeom prst="rect">
            <a:avLst/>
          </a:prstGeom>
          <a:ln w="9525">
            <a:solidFill>
              <a:srgbClr val="D7DEE5"/>
            </a:solidFill>
          </a:ln>
        </p:spPr>
      </p:pic>
      <p:sp>
        <p:nvSpPr>
          <p:cNvPr id="8" name="Rectangle 7"/>
          <p:cNvSpPr/>
          <p:nvPr/>
        </p:nvSpPr>
        <p:spPr>
          <a:xfrm>
            <a:off x="9326880" y="1234440"/>
            <a:ext cx="2450592" cy="4617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54896" y="1307592"/>
            <a:ext cx="21945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14263A"/>
                </a:solidFill>
                <a:latin typeface="Segoe UI"/>
              </a:rPr>
              <a:t>READING NOTES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91472" y="1618488"/>
            <a:ext cx="2148840" cy="4160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850" b="0">
                <a:solidFill>
                  <a:srgbClr val="212B36"/>
                </a:solidFill>
                <a:latin typeface="Segoe UI"/>
              </a:rPr>
              <a:t>Tiers at end of history: RED 12 (10 F + 2 NF), AMBER 2 (NF), GREEN 20 (4 F + 16 NF).</a:t>
            </a:r>
          </a:p>
          <a:p>
            <a:pPr algn="l">
              <a:spcAft>
                <a:spcPts val="600"/>
              </a:spcAft>
            </a:pPr>
            <a:r>
              <a:rPr sz="850" b="1">
                <a:solidFill>
                  <a:srgbClr val="8B0000"/>
                </a:solidFill>
                <a:latin typeface="Segoe UI"/>
              </a:rPr>
              <a:t>4 failed in GREEN:  </a:t>
            </a:r>
            <a:r>
              <a:rPr sz="850" b="0">
                <a:solidFill>
                  <a:srgbClr val="212B36"/>
                </a:solidFill>
                <a:latin typeface="Segoe UI"/>
              </a:rPr>
              <a:t>VIN1/3/4_F caught at Youden or by alert channels; VIN9_F is the structural miss.</a:t>
            </a:r>
          </a:p>
          <a:p>
            <a:pPr algn="l">
              <a:spcAft>
                <a:spcPts val="600"/>
              </a:spcAft>
            </a:pPr>
            <a:r>
              <a:rPr sz="850" b="1">
                <a:solidFill>
                  <a:srgbClr val="B45309"/>
                </a:solidFill>
                <a:latin typeface="Segoe UI"/>
              </a:rPr>
              <a:t>2 NF in RED:  </a:t>
            </a:r>
            <a:r>
              <a:rPr sz="850" b="0">
                <a:solidFill>
                  <a:srgbClr val="212B36"/>
                </a:solidFill>
                <a:latin typeface="Segoe UI"/>
              </a:rPr>
              <a:t>VIN19_NF (0.96) and VIN34_NF (0.62) fire multiple channels - plausibly genuinely degrading (right-censored).</a:t>
            </a:r>
          </a:p>
          <a:p>
            <a:pPr algn="l">
              <a:spcAft>
                <a:spcPts val="600"/>
              </a:spcAft>
            </a:pPr>
            <a:r>
              <a:rPr sz="850" b="0">
                <a:solidFill>
                  <a:srgbClr val="5B6B7C"/>
                </a:solidFill>
                <a:latin typeface="Segoe UI"/>
              </a:rPr>
              <a:t>Display note: graphs renumber NF VINs +14 (VIN1_NF -&gt; VIN15_NF); results CSVs keep original labels.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6053328"/>
            <a:ext cx="6720840" cy="530352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1480" y="6053328"/>
            <a:ext cx="64008" cy="530352"/>
          </a:xfrm>
          <a:prstGeom prst="rect">
            <a:avLst/>
          </a:prstGeom>
          <a:solidFill>
            <a:srgbClr val="142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" y="6108192"/>
            <a:ext cx="6400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1" i="0">
                <a:solidFill>
                  <a:srgbClr val="5B6B7C"/>
                </a:solidFill>
                <a:latin typeface="Segoe UI"/>
              </a:rPr>
              <a:t>ENGINEERING TAKEAWAY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" y="6272784"/>
            <a:ext cx="6400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1" i="0">
                <a:solidFill>
                  <a:srgbClr val="14263A"/>
                </a:solidFill>
                <a:latin typeface="Segoe UI"/>
              </a:rPr>
              <a:t>The ranking is clean: 10 of the top 12 scores are true failures; the borderline zone is where alerts take over.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269480" y="6053328"/>
            <a:ext cx="4507992" cy="530352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269480" y="6053328"/>
            <a:ext cx="64008" cy="530352"/>
          </a:xfrm>
          <a:prstGeom prst="rect">
            <a:avLst/>
          </a:prstGeom>
          <a:solidFill>
            <a:srgbClr val="0E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79792" y="6108192"/>
            <a:ext cx="42062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1" i="0">
                <a:solidFill>
                  <a:srgbClr val="5B6B7C"/>
                </a:solidFill>
                <a:latin typeface="Segoe UI"/>
              </a:rPr>
              <a:t>REVIEW / DECISION POINT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79792" y="6272784"/>
            <a:ext cx="4206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1" i="0">
                <a:solidFill>
                  <a:srgbClr val="0E6E6E"/>
                </a:solidFill>
                <a:latin typeface="Segoe UI"/>
              </a:rPr>
              <a:t>Confirm the two RED healthy trucks are queued for physical inspection feedback.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6638544"/>
            <a:ext cx="113842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 i="0">
                <a:solidFill>
                  <a:srgbClr val="5B6B7C"/>
                </a:solidFill>
                <a:latin typeface="Segoe UI"/>
              </a:rPr>
              <a:t>Starter Motor Failure Prediction V1.1  ·  Internal engineering review — full technical disclosure  ·  Not for external distribution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42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" y="0"/>
            <a:ext cx="91440" cy="566928"/>
          </a:xfrm>
          <a:prstGeom prst="rect">
            <a:avLst/>
          </a:prstGeom>
          <a:solidFill>
            <a:srgbClr val="0E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01168"/>
            <a:ext cx="9692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5B6B7C"/>
                </a:solidFill>
                <a:latin typeface="Segoe UI"/>
              </a:rPr>
              <a:t>INTERNAL · TECHNICAL REVIEW  —  AUDIT GATES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29768"/>
            <a:ext cx="104241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300" b="1" i="0">
                <a:solidFill>
                  <a:srgbClr val="14263A"/>
                </a:solidFill>
                <a:latin typeface="Segoe UI"/>
              </a:rPr>
              <a:t>Six gates, reported as measured — including the one that fails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219456"/>
            <a:ext cx="868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1000" b="0" i="0">
                <a:solidFill>
                  <a:srgbClr val="5B6B7C"/>
                </a:solidFill>
                <a:latin typeface="Segoe UI"/>
              </a:rPr>
              <a:t>11 / 25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261872"/>
            <a:ext cx="11365992" cy="731520"/>
          </a:xfrm>
          <a:prstGeom prst="rect">
            <a:avLst/>
          </a:prstGeom>
          <a:solidFill>
            <a:srgbClr val="FFFFFF"/>
          </a:solidFill>
          <a:ln w="11430">
            <a:solidFill>
              <a:srgbClr val="D7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261872"/>
            <a:ext cx="502920" cy="731520"/>
          </a:xfrm>
          <a:prstGeom prst="rect">
            <a:avLst/>
          </a:prstGeom>
          <a:solidFill>
            <a:srgbClr val="142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499616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</a:rPr>
              <a:t>G1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" y="1335024"/>
            <a:ext cx="2331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14263A"/>
                </a:solidFill>
                <a:latin typeface="Segoe UI"/>
              </a:rPr>
              <a:t>Fixed L40-window control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0440" y="1335024"/>
            <a:ext cx="690372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212B36"/>
                </a:solidFill>
                <a:latin typeface="Segoe UI"/>
              </a:rPr>
              <a:t>recompute every feature with data clipped to last 40 masked weeks; AUROC drop = 0.0000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625328" y="1426464"/>
            <a:ext cx="960120" cy="402336"/>
          </a:xfrm>
          <a:prstGeom prst="roundRect">
            <a:avLst/>
          </a:prstGeom>
          <a:solidFill>
            <a:srgbClr val="DDEF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625328" y="1508760"/>
            <a:ext cx="9601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1" i="0">
                <a:solidFill>
                  <a:srgbClr val="1B7A3D"/>
                </a:solidFill>
                <a:latin typeface="Segoe UI"/>
              </a:rPr>
              <a:t>PASS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2048256"/>
            <a:ext cx="11365992" cy="731520"/>
          </a:xfrm>
          <a:prstGeom prst="rect">
            <a:avLst/>
          </a:prstGeom>
          <a:solidFill>
            <a:srgbClr val="FFFFFF"/>
          </a:solidFill>
          <a:ln w="11430">
            <a:solidFill>
              <a:srgbClr val="D7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11480" y="2048256"/>
            <a:ext cx="502920" cy="731520"/>
          </a:xfrm>
          <a:prstGeom prst="rect">
            <a:avLst/>
          </a:prstGeom>
          <a:solidFill>
            <a:srgbClr val="142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22860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</a:rPr>
              <a:t>G2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8992" y="2121408"/>
            <a:ext cx="2331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14263A"/>
                </a:solidFill>
                <a:latin typeface="Segoe UI"/>
              </a:rPr>
              <a:t>OOF-vs-proxy audit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20440" y="2121408"/>
            <a:ext cx="690372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212B36"/>
                </a:solidFill>
                <a:latin typeface="Segoe UI"/>
              </a:rPr>
              <a:t>Spearman: n_weeks -0.640 · t_start +0.507 · span -0.653 (all &gt;|0.5| tripwire). Defense: label-mediated - G1 drop 0.0000 + prequential collapse at k=11 prove failure-locking, not length-locking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625328" y="2212848"/>
            <a:ext cx="960120" cy="402336"/>
          </a:xfrm>
          <a:prstGeom prst="round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625328" y="2295144"/>
            <a:ext cx="9601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1" i="0">
                <a:solidFill>
                  <a:srgbClr val="5B6B7C"/>
                </a:solidFill>
                <a:latin typeface="Segoe UI"/>
              </a:rPr>
              <a:t>REPORT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2834640"/>
            <a:ext cx="11365992" cy="731520"/>
          </a:xfrm>
          <a:prstGeom prst="rect">
            <a:avLst/>
          </a:prstGeom>
          <a:solidFill>
            <a:srgbClr val="FFFFFF"/>
          </a:solidFill>
          <a:ln w="11430">
            <a:solidFill>
              <a:srgbClr val="D7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11480" y="2834640"/>
            <a:ext cx="502920" cy="731520"/>
          </a:xfrm>
          <a:prstGeom prst="rect">
            <a:avLst/>
          </a:prstGeom>
          <a:solidFill>
            <a:srgbClr val="142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480" y="3072384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</a:rPr>
              <a:t>G3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8992" y="2907792"/>
            <a:ext cx="2331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14263A"/>
                </a:solidFill>
                <a:latin typeface="Segoe UI"/>
              </a:rPr>
              <a:t>Calibration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20440" y="2907792"/>
            <a:ext cx="690372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212B36"/>
                </a:solidFill>
                <a:latin typeface="Segoe UI"/>
              </a:rPr>
              <a:t>Platt slope 0.86 (in [0.5, 2]) · Brier 0.124 vs constant 0.242 · CITL -0.062 -&gt; probabilities shippable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625328" y="2999232"/>
            <a:ext cx="960120" cy="402336"/>
          </a:xfrm>
          <a:prstGeom prst="round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625328" y="3081528"/>
            <a:ext cx="9601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1" i="0">
                <a:solidFill>
                  <a:srgbClr val="5B6B7C"/>
                </a:solidFill>
                <a:latin typeface="Segoe UI"/>
              </a:rPr>
              <a:t>REPORT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1480" y="3621024"/>
            <a:ext cx="11365992" cy="731520"/>
          </a:xfrm>
          <a:prstGeom prst="rect">
            <a:avLst/>
          </a:prstGeom>
          <a:solidFill>
            <a:srgbClr val="FFFFFF"/>
          </a:solidFill>
          <a:ln w="11430">
            <a:solidFill>
              <a:srgbClr val="D7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11480" y="3621024"/>
            <a:ext cx="502920" cy="731520"/>
          </a:xfrm>
          <a:prstGeom prst="rect">
            <a:avLst/>
          </a:prstGeom>
          <a:solidFill>
            <a:srgbClr val="142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11480" y="3858768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</a:rPr>
              <a:t>G4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78992" y="3694176"/>
            <a:ext cx="2331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14263A"/>
                </a:solidFill>
                <a:latin typeface="Segoe UI"/>
              </a:rPr>
              <a:t>Winner stability (strict)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20440" y="3694176"/>
            <a:ext cx="690372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212B36"/>
                </a:solidFill>
                <a:latin typeface="Segoe UI"/>
              </a:rPr>
              <a:t>modal subset 14/34 &lt; 17 required; 3 distinct subsets; core pair 34/34 - substantive stability strong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625328" y="3785616"/>
            <a:ext cx="960120" cy="402336"/>
          </a:xfrm>
          <a:prstGeom prst="roundRect">
            <a:avLst/>
          </a:prstGeom>
          <a:solidFill>
            <a:srgbClr val="FAE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625328" y="3867912"/>
            <a:ext cx="9601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1" i="0">
                <a:solidFill>
                  <a:srgbClr val="8B0000"/>
                </a:solidFill>
                <a:latin typeface="Segoe UI"/>
              </a:rPr>
              <a:t>FAIL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11480" y="4407408"/>
            <a:ext cx="11365992" cy="731520"/>
          </a:xfrm>
          <a:prstGeom prst="rect">
            <a:avLst/>
          </a:prstGeom>
          <a:solidFill>
            <a:srgbClr val="FFFFFF"/>
          </a:solidFill>
          <a:ln w="11430">
            <a:solidFill>
              <a:srgbClr val="D7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11480" y="4407408"/>
            <a:ext cx="502920" cy="731520"/>
          </a:xfrm>
          <a:prstGeom prst="rect">
            <a:avLst/>
          </a:prstGeom>
          <a:solidFill>
            <a:srgbClr val="142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11480" y="4645152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</a:rPr>
              <a:t>G5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78992" y="4480560"/>
            <a:ext cx="2331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14263A"/>
                </a:solidFill>
                <a:latin typeface="Segoe UI"/>
              </a:rPr>
              <a:t>Jackknife (drop-1-truck)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20440" y="4480560"/>
            <a:ext cx="690372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212B36"/>
                </a:solidFill>
                <a:latin typeface="Segoe UI"/>
              </a:rPr>
              <a:t>AUROC range 0.9269-0.9511, std 0.007 - no single truck carries the result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0625328" y="4572000"/>
            <a:ext cx="960120" cy="402336"/>
          </a:xfrm>
          <a:prstGeom prst="round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625328" y="4654296"/>
            <a:ext cx="9601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1" i="0">
                <a:solidFill>
                  <a:srgbClr val="5B6B7C"/>
                </a:solidFill>
                <a:latin typeface="Segoe UI"/>
              </a:rPr>
              <a:t>REPORT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11480" y="5193792"/>
            <a:ext cx="11365992" cy="731520"/>
          </a:xfrm>
          <a:prstGeom prst="rect">
            <a:avLst/>
          </a:prstGeom>
          <a:solidFill>
            <a:srgbClr val="FFFFFF"/>
          </a:solidFill>
          <a:ln w="11430">
            <a:solidFill>
              <a:srgbClr val="D7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11480" y="5193792"/>
            <a:ext cx="502920" cy="731520"/>
          </a:xfrm>
          <a:prstGeom prst="rect">
            <a:avLst/>
          </a:prstGeom>
          <a:solidFill>
            <a:srgbClr val="142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11480" y="5431536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</a:rPr>
              <a:t>G6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78992" y="5266944"/>
            <a:ext cx="2331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14263A"/>
                </a:solidFill>
                <a:latin typeface="Segoe UI"/>
              </a:rPr>
              <a:t>Banned-token scan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520440" y="5266944"/>
            <a:ext cx="690372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212B36"/>
                </a:solidFill>
                <a:latin typeface="Segoe UI"/>
              </a:rPr>
              <a:t>0 hits for banned leakage tokens (vsi_dominant_freq family, epoch fields) in the frozen pipeline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0625328" y="5358384"/>
            <a:ext cx="960120" cy="402336"/>
          </a:xfrm>
          <a:prstGeom prst="roundRect">
            <a:avLst/>
          </a:prstGeom>
          <a:solidFill>
            <a:srgbClr val="DDEF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625328" y="5440680"/>
            <a:ext cx="9601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000" b="1" i="0">
                <a:solidFill>
                  <a:srgbClr val="1B7A3D"/>
                </a:solidFill>
                <a:latin typeface="Segoe UI"/>
              </a:rPr>
              <a:t>PASS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11480" y="6053328"/>
            <a:ext cx="6720840" cy="530352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11480" y="6053328"/>
            <a:ext cx="64008" cy="530352"/>
          </a:xfrm>
          <a:prstGeom prst="rect">
            <a:avLst/>
          </a:prstGeom>
          <a:solidFill>
            <a:srgbClr val="142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21792" y="6108192"/>
            <a:ext cx="6400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1" i="0">
                <a:solidFill>
                  <a:srgbClr val="5B6B7C"/>
                </a:solidFill>
                <a:latin typeface="Segoe UI"/>
              </a:rPr>
              <a:t>ENGINEERING TAKEAWAY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21792" y="6272784"/>
            <a:ext cx="6400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1" i="0">
                <a:solidFill>
                  <a:srgbClr val="14263A"/>
                </a:solidFill>
                <a:latin typeface="Segoe UI"/>
              </a:rPr>
              <a:t>The audit is adversarial by design: G2's correlations and G4's strict fail are printed, defended, and left visible.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269480" y="6053328"/>
            <a:ext cx="4507992" cy="530352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269480" y="6053328"/>
            <a:ext cx="64008" cy="530352"/>
          </a:xfrm>
          <a:prstGeom prst="rect">
            <a:avLst/>
          </a:prstGeom>
          <a:solidFill>
            <a:srgbClr val="0E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479792" y="6108192"/>
            <a:ext cx="42062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1" i="0">
                <a:solidFill>
                  <a:srgbClr val="5B6B7C"/>
                </a:solidFill>
                <a:latin typeface="Segoe UI"/>
              </a:rPr>
              <a:t>REVIEW / DECISION POINT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479792" y="6272784"/>
            <a:ext cx="4206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1" i="0">
                <a:solidFill>
                  <a:srgbClr val="0E6E6E"/>
                </a:solidFill>
                <a:latin typeface="Segoe UI"/>
              </a:rPr>
              <a:t>Countersign the gate table (results/V1_1_SM_gates.json) as the audit record for V1.1.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11480" y="6638544"/>
            <a:ext cx="113842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 i="0">
                <a:solidFill>
                  <a:srgbClr val="5B6B7C"/>
                </a:solidFill>
                <a:latin typeface="Segoe UI"/>
              </a:rPr>
              <a:t>Starter Motor Failure Prediction V1.1  ·  Internal engineering review — full technical disclosure  ·  Not for external distribution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42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" y="0"/>
            <a:ext cx="91440" cy="566928"/>
          </a:xfrm>
          <a:prstGeom prst="rect">
            <a:avLst/>
          </a:prstGeom>
          <a:solidFill>
            <a:srgbClr val="0E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01168"/>
            <a:ext cx="9692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5B6B7C"/>
                </a:solidFill>
                <a:latin typeface="Segoe UI"/>
              </a:rPr>
              <a:t>INTERNAL · TECHNICAL REVIEW  —  CALIBRATION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29768"/>
            <a:ext cx="104241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300" b="1" i="0">
                <a:solidFill>
                  <a:srgbClr val="14263A"/>
                </a:solidFill>
                <a:latin typeface="Segoe UI"/>
              </a:rPr>
              <a:t>Recalibrated probabilities are shippable — and drive a three-tier action rule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219456"/>
            <a:ext cx="868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1000" b="0" i="0">
                <a:solidFill>
                  <a:srgbClr val="5B6B7C"/>
                </a:solidFill>
                <a:latin typeface="Segoe UI"/>
              </a:rPr>
              <a:t>12 / 25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261872"/>
            <a:ext cx="548640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9496" y="1335024"/>
            <a:ext cx="523036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14263A"/>
                </a:solidFill>
                <a:latin typeface="Segoe UI"/>
              </a:rPr>
              <a:t>G3 CALIBRATION EVIDENCE (PER-FOLD PLATT)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1682496"/>
            <a:ext cx="1600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0E6E6E"/>
                </a:solidFill>
                <a:latin typeface="Segoe UI"/>
              </a:rPr>
              <a:t>slope 0.86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1700784"/>
            <a:ext cx="34747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212B36"/>
                </a:solidFill>
                <a:latin typeface="Segoe UI"/>
              </a:rPr>
              <a:t>recalibration slope inside the [0.5, 2] ship-range defined in the V1.1 spec; V1 had slope 4.72 = rank-only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2322576"/>
            <a:ext cx="1600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0E6E6E"/>
                </a:solidFill>
                <a:latin typeface="Segoe UI"/>
              </a:rPr>
              <a:t>Brier 0.124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0" y="2340864"/>
            <a:ext cx="34747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212B36"/>
                </a:solidFill>
                <a:latin typeface="Segoe UI"/>
              </a:rPr>
              <a:t>vs constant-predictor reference 0.242 - probabilities carry real information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2962656"/>
            <a:ext cx="1600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0E6E6E"/>
                </a:solidFill>
                <a:latin typeface="Segoe UI"/>
              </a:rPr>
              <a:t>CITL -0.062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86000" y="2980944"/>
            <a:ext cx="34747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212B36"/>
                </a:solidFill>
                <a:latin typeface="Segoe UI"/>
              </a:rPr>
              <a:t>calibration-in-the-large logit gap ~ 0 - no systematic over/under-confidence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3822191"/>
            <a:ext cx="548640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9496" y="3895343"/>
            <a:ext cx="523036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14263A"/>
                </a:solidFill>
                <a:latin typeface="Segoe UI"/>
              </a:rPr>
              <a:t>WEEKLY OPERATING CADENCE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4187952"/>
            <a:ext cx="5120640" cy="1600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212B36"/>
                </a:solidFill>
                <a:latin typeface="Segoe UI"/>
              </a:rPr>
              <a:t>Score every truck weekly from fresh 30-90 d feature windows. Monthly cadence gives only ~2 reads inside the 10-week validity horizon - too coarse to act on.</a:t>
            </a:r>
          </a:p>
          <a:p>
            <a:pPr algn="l">
              <a:spcAft>
                <a:spcPts val="500"/>
              </a:spcAft>
            </a:pPr>
            <a:r>
              <a:rPr sz="950" b="0">
                <a:solidFill>
                  <a:srgbClr val="212B36"/>
                </a:solidFill>
                <a:latin typeface="Segoe UI"/>
              </a:rPr>
              <a:t>Tier is re-evaluated each week; alerts (slide 13) run alongside as independent channels.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72200" y="1261872"/>
            <a:ext cx="5605272" cy="1389888"/>
          </a:xfrm>
          <a:prstGeom prst="rect">
            <a:avLst/>
          </a:prstGeom>
          <a:solidFill>
            <a:srgbClr val="DDEFE2"/>
          </a:solidFill>
          <a:ln w="12700">
            <a:solidFill>
              <a:srgbClr val="1B7A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5080" y="1353312"/>
            <a:ext cx="2194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1B7A3D"/>
                </a:solidFill>
                <a:latin typeface="Segoe UI"/>
              </a:rPr>
              <a:t>GREEN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1737360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 i="0">
                <a:solidFill>
                  <a:srgbClr val="1B7A3D"/>
                </a:solidFill>
                <a:latin typeface="Consolas"/>
              </a:rPr>
              <a:t>P &lt; 0.35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2066544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 i="0">
                <a:solidFill>
                  <a:srgbClr val="5B6B7C"/>
                </a:solidFill>
                <a:latin typeface="Segoe UI"/>
              </a:rPr>
              <a:t>20 trucks (4 F + 16 NF)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23960" y="1408176"/>
            <a:ext cx="27889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12B36"/>
                </a:solidFill>
                <a:latin typeface="Segoe UI"/>
              </a:rPr>
              <a:t>routine operation; weekly re-score only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72200" y="2798064"/>
            <a:ext cx="5605272" cy="1389888"/>
          </a:xfrm>
          <a:prstGeom prst="rect">
            <a:avLst/>
          </a:prstGeom>
          <a:solidFill>
            <a:srgbClr val="FBEAD2"/>
          </a:solidFill>
          <a:ln w="12700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55080" y="2889504"/>
            <a:ext cx="2194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B45309"/>
                </a:solidFill>
                <a:latin typeface="Segoe UI"/>
              </a:rPr>
              <a:t>AMBER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5080" y="3273552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 i="0">
                <a:solidFill>
                  <a:srgbClr val="B45309"/>
                </a:solidFill>
                <a:latin typeface="Consolas"/>
              </a:rPr>
              <a:t>0.35 &lt;= P &lt; 0.55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5080" y="3602736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 i="0">
                <a:solidFill>
                  <a:srgbClr val="5B6B7C"/>
                </a:solidFill>
                <a:latin typeface="Segoe UI"/>
              </a:rPr>
              <a:t>2 trucks (both NF)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23960" y="2944368"/>
            <a:ext cx="27889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12B36"/>
                </a:solidFill>
                <a:latin typeface="Segoe UI"/>
              </a:rPr>
              <a:t>bundle inspection into next scheduled service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72200" y="4334256"/>
            <a:ext cx="5605272" cy="1389888"/>
          </a:xfrm>
          <a:prstGeom prst="rect">
            <a:avLst/>
          </a:prstGeom>
          <a:solidFill>
            <a:srgbClr val="FAE3E3"/>
          </a:solidFill>
          <a:ln w="12700">
            <a:solidFill>
              <a:srgbClr val="8B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55080" y="4425696"/>
            <a:ext cx="2194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8B0000"/>
                </a:solidFill>
                <a:latin typeface="Segoe UI"/>
              </a:rPr>
              <a:t>RED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55080" y="4809744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 i="0">
                <a:solidFill>
                  <a:srgbClr val="8B0000"/>
                </a:solidFill>
                <a:latin typeface="Consolas"/>
              </a:rPr>
              <a:t>P &gt;= 0.55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55080" y="5138928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 i="0">
                <a:solidFill>
                  <a:srgbClr val="5B6B7C"/>
                </a:solidFill>
                <a:latin typeface="Segoe UI"/>
              </a:rPr>
              <a:t>12 trucks (10 F + 2 NF)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23960" y="4480560"/>
            <a:ext cx="27889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212B36"/>
                </a:solidFill>
                <a:latin typeface="Segoe UI"/>
              </a:rPr>
              <a:t>inspect starter + battery circuit within 2-4 weeks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11480" y="6053328"/>
            <a:ext cx="6720840" cy="530352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11480" y="6053328"/>
            <a:ext cx="64008" cy="530352"/>
          </a:xfrm>
          <a:prstGeom prst="rect">
            <a:avLst/>
          </a:prstGeom>
          <a:solidFill>
            <a:srgbClr val="142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1792" y="6108192"/>
            <a:ext cx="6400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1" i="0">
                <a:solidFill>
                  <a:srgbClr val="5B6B7C"/>
                </a:solidFill>
                <a:latin typeface="Segoe UI"/>
              </a:rPr>
              <a:t>ENGINEERING TAKEAWAY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1792" y="6272784"/>
            <a:ext cx="6400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1" i="0">
                <a:solidFill>
                  <a:srgbClr val="14263A"/>
                </a:solidFill>
                <a:latin typeface="Segoe UI"/>
              </a:rPr>
              <a:t>Slope 0.86 means a shown 70% is a real ~70% — tiers are probability statements, not just ranks.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269480" y="6053328"/>
            <a:ext cx="4507992" cy="530352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269480" y="6053328"/>
            <a:ext cx="64008" cy="530352"/>
          </a:xfrm>
          <a:prstGeom prst="rect">
            <a:avLst/>
          </a:prstGeom>
          <a:solidFill>
            <a:srgbClr val="0E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479792" y="6108192"/>
            <a:ext cx="42062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1" i="0">
                <a:solidFill>
                  <a:srgbClr val="5B6B7C"/>
                </a:solidFill>
                <a:latin typeface="Segoe UI"/>
              </a:rPr>
              <a:t>REVIEW / DECISION POINT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79792" y="6272784"/>
            <a:ext cx="4206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1" i="0">
                <a:solidFill>
                  <a:srgbClr val="0E6E6E"/>
                </a:solidFill>
                <a:latin typeface="Segoe UI"/>
              </a:rPr>
              <a:t>Approve shipping recalibrated probabilities (not tier-only) to the pilot dashboards.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11480" y="6638544"/>
            <a:ext cx="113842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 i="0">
                <a:solidFill>
                  <a:srgbClr val="5B6B7C"/>
                </a:solidFill>
                <a:latin typeface="Segoe UI"/>
              </a:rPr>
              <a:t>Starter Motor Failure Prediction V1.1  ·  Internal engineering review — full technical disclosure  ·  Not for external distribution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42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" y="0"/>
            <a:ext cx="91440" cy="566928"/>
          </a:xfrm>
          <a:prstGeom prst="rect">
            <a:avLst/>
          </a:prstGeom>
          <a:solidFill>
            <a:srgbClr val="0E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01168"/>
            <a:ext cx="9692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5B6B7C"/>
                </a:solidFill>
                <a:latin typeface="Segoe UI"/>
              </a:rPr>
              <a:t>INTERNAL · TECHNICAL REVIEW  —  ALERT LAYER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29768"/>
            <a:ext cx="104241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300" b="1" i="0">
                <a:solidFill>
                  <a:srgbClr val="14263A"/>
                </a:solidFill>
                <a:latin typeface="Segoe UI"/>
              </a:rPr>
              <a:t>Three channels, three verdicts: pager, condition flag, corroborator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219456"/>
            <a:ext cx="868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1000" b="0" i="0">
                <a:solidFill>
                  <a:srgbClr val="5B6B7C"/>
                </a:solidFill>
                <a:latin typeface="Segoe UI"/>
              </a:rPr>
              <a:t>13 / 25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261872"/>
            <a:ext cx="3675887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261872"/>
            <a:ext cx="3675887" cy="329184"/>
          </a:xfrm>
          <a:prstGeom prst="rect">
            <a:avLst/>
          </a:prstGeom>
          <a:solidFill>
            <a:srgbClr val="DDEF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1208" y="1316736"/>
            <a:ext cx="3456431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1" i="0">
                <a:solidFill>
                  <a:srgbClr val="1B7A3D"/>
                </a:solidFill>
                <a:latin typeface="Segoe UI"/>
              </a:rPr>
              <a:t>A2 · BATTERY-CASCADE TRIPLE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9496" y="1719072"/>
            <a:ext cx="3419855" cy="3017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850" b="1">
                <a:solidFill>
                  <a:srgbClr val="14263A"/>
                </a:solidFill>
                <a:latin typeface="Segoe UI"/>
              </a:rPr>
              <a:t>Rule (all three, causal at scoring week):</a:t>
            </a:r>
          </a:p>
          <a:p>
            <a:pPr algn="l">
              <a:spcAft>
                <a:spcPts val="500"/>
              </a:spcAft>
            </a:pPr>
            <a:r>
              <a:rPr sz="850" b="0">
                <a:solidFill>
                  <a:srgbClr val="212B36"/>
                </a:solidFill>
                <a:latin typeface="Segoe UI"/>
              </a:rPr>
              <a:t>rest-VSI step &lt;= -0.5 V (SNR &gt;= 2)
+ drive-VSI step &gt;= +0.3 V within +/-8 wk
+ dip-depth widening &gt; +1 V (&gt;= 10 events)</a:t>
            </a:r>
          </a:p>
          <a:p>
            <a:pPr algn="l">
              <a:spcAft>
                <a:spcPts val="500"/>
              </a:spcAft>
            </a:pPr>
            <a:r>
              <a:rPr sz="850" b="0">
                <a:solidFill>
                  <a:srgbClr val="212B36"/>
                </a:solidFill>
                <a:latin typeface="Segoe UI"/>
              </a:rPr>
              <a:t>Validation: 4/5 battery-archetype failures caught (miss: VIN2_F, no qualifying drive-step); 0/20 NF false alarms; median lead 66.5 d (28-91).</a:t>
            </a:r>
          </a:p>
          <a:p>
            <a:pPr algn="l">
              <a:spcAft>
                <a:spcPts val="500"/>
              </a:spcAft>
            </a:pPr>
            <a:r>
              <a:rPr sz="850" b="1">
                <a:solidFill>
                  <a:srgbClr val="1B7A3D"/>
                </a:solidFill>
                <a:latin typeface="Segoe UI"/>
              </a:rPr>
              <a:t>Battery-replacement separation: 5 NF trucks with rest-VSI steps UP do NOT fire.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9496" y="4956048"/>
            <a:ext cx="3419855" cy="329184"/>
          </a:xfrm>
          <a:prstGeom prst="roundRect">
            <a:avLst/>
          </a:prstGeom>
          <a:solidFill>
            <a:srgbClr val="DDEF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9496" y="5020056"/>
            <a:ext cx="341985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900" b="1" i="0">
                <a:solidFill>
                  <a:srgbClr val="1B7A3D"/>
                </a:solidFill>
                <a:latin typeface="Segoe UI"/>
              </a:rPr>
              <a:t>SHIP AS PAGER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56531" y="1261872"/>
            <a:ext cx="3675887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56531" y="1261872"/>
            <a:ext cx="3675887" cy="329184"/>
          </a:xfrm>
          <a:prstGeom prst="rect">
            <a:avLst/>
          </a:prstGeom>
          <a:solidFill>
            <a:srgbClr val="EFE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66259" y="1316736"/>
            <a:ext cx="3456431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1" i="0">
                <a:solidFill>
                  <a:srgbClr val="6C3383"/>
                </a:solidFill>
                <a:latin typeface="Segoe UI"/>
              </a:rPr>
              <a:t>PERSISTENCE · VOLATILITY FLAG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4547" y="1719072"/>
            <a:ext cx="3419855" cy="3017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850" b="1">
                <a:solidFill>
                  <a:srgbClr val="14263A"/>
                </a:solidFill>
                <a:latin typeface="Segoe UI"/>
              </a:rPr>
              <a:t>Rule:</a:t>
            </a:r>
          </a:p>
          <a:p>
            <a:pPr algn="l">
              <a:spcAft>
                <a:spcPts val="500"/>
              </a:spcAft>
            </a:pPr>
            <a:r>
              <a:rPr sz="850" b="0">
                <a:solidFill>
                  <a:srgbClr val="212B36"/>
                </a:solidFill>
                <a:latin typeface="Segoe UI"/>
              </a:rPr>
              <a:t>trailing-4-wk within-week VSI-std ratio above training-fold NF p90 envelope in &gt;= 4 of last 12 wks</a:t>
            </a:r>
          </a:p>
          <a:p>
            <a:pPr algn="l">
              <a:spcAft>
                <a:spcPts val="500"/>
              </a:spcAft>
            </a:pPr>
            <a:r>
              <a:rPr sz="850" b="0">
                <a:solidFill>
                  <a:srgbClr val="212B36"/>
                </a:solidFill>
                <a:latin typeface="Segoe UI"/>
              </a:rPr>
              <a:t>Validation: fires on 13/14 failed (median terminal lead 168 d). BUT: all 20/20 NF enter fire-state at least once (avg 31.4% of weeks in-fire) - walking-alarm pathology.</a:t>
            </a:r>
          </a:p>
          <a:p>
            <a:pPr algn="l">
              <a:spcAft>
                <a:spcPts val="500"/>
              </a:spcAft>
            </a:pPr>
            <a:r>
              <a:rPr sz="850" b="1">
                <a:solidFill>
                  <a:srgbClr val="6C3383"/>
                </a:solidFill>
                <a:latin typeface="Segoe UI"/>
              </a:rPr>
              <a:t>Never a standalone first-crossing pager; gate behind AMBER/RED tier.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84547" y="4956048"/>
            <a:ext cx="3419855" cy="329184"/>
          </a:xfrm>
          <a:prstGeom prst="roundRect">
            <a:avLst/>
          </a:prstGeom>
          <a:solidFill>
            <a:srgbClr val="EFE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84547" y="5020056"/>
            <a:ext cx="341985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900" b="1" i="0">
                <a:solidFill>
                  <a:srgbClr val="6C3383"/>
                </a:solidFill>
                <a:latin typeface="Segoe UI"/>
              </a:rPr>
              <a:t>TERMINAL CONDITION FLAG ONLY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01582" y="1261872"/>
            <a:ext cx="3675887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01582" y="1261872"/>
            <a:ext cx="3675887" cy="329184"/>
          </a:xfrm>
          <a:prstGeom prst="rect">
            <a:avLst/>
          </a:prstGeom>
          <a:solidFill>
            <a:srgbClr val="E3E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11310" y="1316736"/>
            <a:ext cx="3456431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1" i="0">
                <a:solidFill>
                  <a:srgbClr val="1565C0"/>
                </a:solidFill>
                <a:latin typeface="Segoe UI"/>
              </a:rPr>
              <a:t>A1 · CRANK-BURST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598" y="1719072"/>
            <a:ext cx="3419855" cy="3017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850" b="1">
                <a:solidFill>
                  <a:srgbClr val="14263A"/>
                </a:solidFill>
                <a:latin typeface="Segoe UI"/>
              </a:rPr>
              <a:t>Rule:</a:t>
            </a:r>
          </a:p>
          <a:p>
            <a:pPr algn="l">
              <a:spcAft>
                <a:spcPts val="500"/>
              </a:spcAft>
            </a:pPr>
            <a:r>
              <a:rPr sz="850" b="0">
                <a:solidFill>
                  <a:srgbClr val="212B36"/>
                </a:solidFill>
                <a:latin typeface="Segoe UI"/>
              </a:rPr>
              <a:t>daily failed-cranks + retries within 120 s; 7-day rolling sum S7 &gt; own-first-half mean + 3 SD (floor S7 &gt;= 3) for &gt;= 2 consecutive days; SMA-dead excluded</a:t>
            </a:r>
          </a:p>
          <a:p>
            <a:pPr algn="l">
              <a:spcAft>
                <a:spcPts val="500"/>
              </a:spcAft>
            </a:pPr>
            <a:r>
              <a:rPr sz="850" b="0">
                <a:solidFill>
                  <a:srgbClr val="212B36"/>
                </a:solidFill>
                <a:latin typeface="Segoe UI"/>
              </a:rPr>
              <a:t>Validation: 4/12 applicable failed fire (leads 128-179 d vs last telemetry; VIN1_F 232 d vs recorded failure date); 8/15 applicable NF fire = 1.52 episodes/truck-year - too noisy alone.</a:t>
            </a:r>
          </a:p>
          <a:p>
            <a:pPr algn="l">
              <a:spcAft>
                <a:spcPts val="500"/>
              </a:spcAft>
            </a:pPr>
            <a:r>
              <a:rPr sz="850" b="1">
                <a:solidFill>
                  <a:srgbClr val="1565C0"/>
                </a:solidFill>
                <a:latin typeface="Segoe UI"/>
              </a:rPr>
              <a:t>Value: recovered VIN1_F, a GREEN-tier miss - 232 d before recorded failure.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598" y="4956048"/>
            <a:ext cx="3419855" cy="329184"/>
          </a:xfrm>
          <a:prstGeom prst="roundRect">
            <a:avLst/>
          </a:prstGeom>
          <a:solidFill>
            <a:srgbClr val="E3E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598" y="5020056"/>
            <a:ext cx="341985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900" b="1" i="0">
                <a:solidFill>
                  <a:srgbClr val="1565C0"/>
                </a:solidFill>
                <a:latin typeface="Segoe UI"/>
              </a:rPr>
              <a:t>AMBER/RED CORROBORATOR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5504688"/>
            <a:ext cx="113385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4263A"/>
                </a:solidFill>
                <a:latin typeface="Segoe UI"/>
              </a:rPr>
              <a:t>Combined policy: 13/14 failed trucks fire &gt;= 1 channel (median first-fire lead 168 d - a distinct metric, equal to the persistence terminal median by coincidence); 10/20 NF completely clean; VIN16/19_NF fire all three - candidates for physical inspection.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1480" y="6053328"/>
            <a:ext cx="6720840" cy="530352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11480" y="6053328"/>
            <a:ext cx="64008" cy="530352"/>
          </a:xfrm>
          <a:prstGeom prst="rect">
            <a:avLst/>
          </a:prstGeom>
          <a:solidFill>
            <a:srgbClr val="142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1792" y="6108192"/>
            <a:ext cx="6400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1" i="0">
                <a:solidFill>
                  <a:srgbClr val="5B6B7C"/>
                </a:solidFill>
                <a:latin typeface="Segoe UI"/>
              </a:rPr>
              <a:t>ENGINEERING TAKEAWAY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792" y="6272784"/>
            <a:ext cx="6400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1" i="0">
                <a:solidFill>
                  <a:srgbClr val="14263A"/>
                </a:solidFill>
                <a:latin typeface="Segoe UI"/>
              </a:rPr>
              <a:t>Only A2 is precise enough to page on its own; the other channels add recall and corroboration behind the tier gate.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269480" y="6053328"/>
            <a:ext cx="4507992" cy="530352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269480" y="6053328"/>
            <a:ext cx="64008" cy="530352"/>
          </a:xfrm>
          <a:prstGeom prst="rect">
            <a:avLst/>
          </a:prstGeom>
          <a:solidFill>
            <a:srgbClr val="0E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479792" y="6108192"/>
            <a:ext cx="42062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1" i="0">
                <a:solidFill>
                  <a:srgbClr val="5B6B7C"/>
                </a:solidFill>
                <a:latin typeface="Segoe UI"/>
              </a:rPr>
              <a:t>REVIEW / DECISION POINT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79792" y="6272784"/>
            <a:ext cx="4206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1" i="0">
                <a:solidFill>
                  <a:srgbClr val="0E6E6E"/>
                </a:solidFill>
                <a:latin typeface="Segoe UI"/>
              </a:rPr>
              <a:t>Approve the channel verdicts (pager / condition flag / corroborator) as the pilot alert policy.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1480" y="6638544"/>
            <a:ext cx="113842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 i="0">
                <a:solidFill>
                  <a:srgbClr val="5B6B7C"/>
                </a:solidFill>
                <a:latin typeface="Segoe UI"/>
              </a:rPr>
              <a:t>Starter Motor Failure Prediction V1.1  ·  Internal engineering review — full technical disclosure  ·  Not for external distribution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42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" y="0"/>
            <a:ext cx="91440" cy="566928"/>
          </a:xfrm>
          <a:prstGeom prst="rect">
            <a:avLst/>
          </a:prstGeom>
          <a:solidFill>
            <a:srgbClr val="0E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01168"/>
            <a:ext cx="9692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5B6B7C"/>
                </a:solidFill>
                <a:latin typeface="Segoe UI"/>
              </a:rPr>
              <a:t>INTERNAL · TECHNICAL REVIEW  —  ALERT OUTCOMES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29768"/>
            <a:ext cx="104241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300" b="1" i="0">
                <a:solidFill>
                  <a:srgbClr val="14263A"/>
                </a:solidFill>
                <a:latin typeface="Segoe UI"/>
              </a:rPr>
              <a:t>Validated per-VIN alert leads: the runway the policy actually delivers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219456"/>
            <a:ext cx="868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1000" b="0" i="0">
                <a:solidFill>
                  <a:srgbClr val="5B6B7C"/>
                </a:solidFill>
                <a:latin typeface="Segoe UI"/>
              </a:rPr>
              <a:t>14 / 25</a:t>
            </a:r>
          </a:p>
        </p:txBody>
      </p:sp>
      <p:pic>
        <p:nvPicPr>
          <p:cNvPr id="7" name="Picture 6" descr="BIZ_warning_runw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234440"/>
            <a:ext cx="6949440" cy="4565707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635240" y="1234440"/>
            <a:ext cx="4142232" cy="4617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63256" y="1307592"/>
            <a:ext cx="3886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14263A"/>
                </a:solidFill>
                <a:latin typeface="Segoe UI"/>
              </a:rPr>
              <a:t>POLICY OUTCOMES (VALIDATED)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18120" y="1618488"/>
            <a:ext cx="3794760" cy="4160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900" b="1">
                <a:solidFill>
                  <a:srgbClr val="14263A"/>
                </a:solidFill>
                <a:latin typeface="Segoe UI"/>
              </a:rPr>
              <a:t>Failed fleet:  </a:t>
            </a:r>
            <a:r>
              <a:rPr sz="900" b="0">
                <a:solidFill>
                  <a:srgbClr val="212B36"/>
                </a:solidFill>
                <a:latin typeface="Segoe UI"/>
              </a:rPr>
              <a:t>13/14 fire &gt;= 1 channel; median first lead 168 d (range 77-424 vs recorded failure date); persistence first x10, A1 first x3.</a:t>
            </a:r>
          </a:p>
          <a:p>
            <a:pPr algn="l">
              <a:spcAft>
                <a:spcPts val="700"/>
              </a:spcAft>
            </a:pPr>
            <a:r>
              <a:rPr sz="900" b="1">
                <a:solidFill>
                  <a:srgbClr val="1B7A3D"/>
                </a:solidFill>
                <a:latin typeface="Segoe UI"/>
              </a:rPr>
              <a:t>A2 confirmations:  </a:t>
            </a:r>
            <a:r>
              <a:rPr sz="900" b="0">
                <a:solidFill>
                  <a:srgbClr val="212B36"/>
                </a:solidFill>
                <a:latin typeface="Segoe UI"/>
              </a:rPr>
              <a:t>VIN3 (91 d), VIN6 (70 d), VIN13 (63 d), VIN14 (28 d) - short-fuse, zero-false-alarm escalation on top of early channels.</a:t>
            </a:r>
          </a:p>
          <a:p>
            <a:pPr algn="l">
              <a:spcAft>
                <a:spcPts val="700"/>
              </a:spcAft>
            </a:pPr>
            <a:r>
              <a:rPr sz="900" b="1">
                <a:solidFill>
                  <a:srgbClr val="B45309"/>
                </a:solidFill>
                <a:latin typeface="Segoe UI"/>
              </a:rPr>
              <a:t>Healthy fleet burden:  </a:t>
            </a:r>
            <a:r>
              <a:rPr sz="900" b="0">
                <a:solidFill>
                  <a:srgbClr val="212B36"/>
                </a:solidFill>
                <a:latin typeface="Segoe UI"/>
              </a:rPr>
              <a:t>10/20 zero channels; 6 show one; 2 show two; VIN16/19_NF show all three (treat as inspection candidates, possibly true degraders).</a:t>
            </a:r>
          </a:p>
          <a:p>
            <a:pPr algn="l">
              <a:spcAft>
                <a:spcPts val="700"/>
              </a:spcAft>
            </a:pPr>
            <a:r>
              <a:rPr sz="900" b="1">
                <a:solidFill>
                  <a:srgbClr val="8B0000"/>
                </a:solidFill>
                <a:latin typeface="Segoe UI"/>
              </a:rPr>
              <a:t>The gap case:  </a:t>
            </a:r>
            <a:r>
              <a:rPr sz="900" b="0">
                <a:solidFill>
                  <a:srgbClr val="212B36"/>
                </a:solidFill>
                <a:latin typeface="Segoe UI"/>
              </a:rPr>
              <a:t>VIN9_F fires nothing - silent 142 d before failure. Telemetry continuity itself must become a monitored health signal.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6053328"/>
            <a:ext cx="6720840" cy="530352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1480" y="6053328"/>
            <a:ext cx="64008" cy="530352"/>
          </a:xfrm>
          <a:prstGeom prst="rect">
            <a:avLst/>
          </a:prstGeom>
          <a:solidFill>
            <a:srgbClr val="142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" y="6108192"/>
            <a:ext cx="6400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1" i="0">
                <a:solidFill>
                  <a:srgbClr val="5B6B7C"/>
                </a:solidFill>
                <a:latin typeface="Segoe UI"/>
              </a:rPr>
              <a:t>ENGINEERING TAKEAWAY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" y="6272784"/>
            <a:ext cx="6400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1" i="0">
                <a:solidFill>
                  <a:srgbClr val="14263A"/>
                </a:solidFill>
                <a:latin typeface="Segoe UI"/>
              </a:rPr>
              <a:t>The alert layer converts a ranking model into an operating procedure with measured leads and measured burden.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269480" y="6053328"/>
            <a:ext cx="4507992" cy="530352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269480" y="6053328"/>
            <a:ext cx="64008" cy="530352"/>
          </a:xfrm>
          <a:prstGeom prst="rect">
            <a:avLst/>
          </a:prstGeom>
          <a:solidFill>
            <a:srgbClr val="0E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79792" y="6108192"/>
            <a:ext cx="42062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1" i="0">
                <a:solidFill>
                  <a:srgbClr val="5B6B7C"/>
                </a:solidFill>
                <a:latin typeface="Segoe UI"/>
              </a:rPr>
              <a:t>REVIEW / DECISION POINT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79792" y="6272784"/>
            <a:ext cx="4206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1" i="0">
                <a:solidFill>
                  <a:srgbClr val="0E6E6E"/>
                </a:solidFill>
                <a:latin typeface="Segoe UI"/>
              </a:rPr>
              <a:t>Confirm inspection follow-up for VIN2_NF / VIN5_NF to close the loop on all-three-channel healthy trucks.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6638544"/>
            <a:ext cx="113842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 i="0">
                <a:solidFill>
                  <a:srgbClr val="5B6B7C"/>
                </a:solidFill>
                <a:latin typeface="Segoe UI"/>
              </a:rPr>
              <a:t>Starter Motor Failure Prediction V1.1  ·  Internal engineering review — full technical disclosure  ·  Not for external distribution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42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" y="0"/>
            <a:ext cx="91440" cy="566928"/>
          </a:xfrm>
          <a:prstGeom prst="rect">
            <a:avLst/>
          </a:prstGeom>
          <a:solidFill>
            <a:srgbClr val="0E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01168"/>
            <a:ext cx="9692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5B6B7C"/>
                </a:solidFill>
                <a:latin typeface="Segoe UI"/>
              </a:rPr>
              <a:t>INTERNAL · TECHNICAL REVIEW  —  HORIZON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29768"/>
            <a:ext cx="104241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300" b="1" i="0">
                <a:solidFill>
                  <a:srgbClr val="14263A"/>
                </a:solidFill>
                <a:latin typeface="Segoe UI"/>
              </a:rPr>
              <a:t>Prequential validation: the score is trustworthy for 10 weeks — and we can prove why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219456"/>
            <a:ext cx="868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1000" b="0" i="0">
                <a:solidFill>
                  <a:srgbClr val="5B6B7C"/>
                </a:solidFill>
                <a:latin typeface="Segoe UI"/>
              </a:rPr>
              <a:t>15 / 25</a:t>
            </a:r>
          </a:p>
        </p:txBody>
      </p:sp>
      <p:pic>
        <p:nvPicPr>
          <p:cNvPr id="7" name="Picture 6" descr="TECH_horizon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261872"/>
            <a:ext cx="7589520" cy="39106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8275320" y="1261872"/>
            <a:ext cx="3502152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03336" y="1335024"/>
            <a:ext cx="32461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14263A"/>
                </a:solidFill>
                <a:latin typeface="Segoe UI"/>
              </a:rPr>
              <a:t>METHOD &amp; READING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58200" y="1645920"/>
            <a:ext cx="315468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900" b="1">
                <a:solidFill>
                  <a:srgbClr val="14263A"/>
                </a:solidFill>
                <a:latin typeface="Segoe UI"/>
              </a:rPr>
              <a:t>Method:  </a:t>
            </a:r>
            <a:r>
              <a:rPr sz="900" b="0">
                <a:solidFill>
                  <a:srgbClr val="212B36"/>
                </a:solidFill>
                <a:latin typeface="Segoe UI"/>
              </a:rPr>
              <a:t>cut each truck's history k weeks before its end, re-anchor all feature windows at the cut, re-score with the frozen 4-feature LOVO models, recompute AUROC.</a:t>
            </a:r>
          </a:p>
          <a:p>
            <a:pPr algn="l">
              <a:spcAft>
                <a:spcPts val="700"/>
              </a:spcAft>
            </a:pPr>
            <a:r>
              <a:rPr sz="900" b="1">
                <a:solidFill>
                  <a:srgbClr val="1B7A3D"/>
                </a:solidFill>
                <a:latin typeface="Segoe UI"/>
              </a:rPr>
              <a:t>k* = 10:  </a:t>
            </a:r>
            <a:r>
              <a:rPr sz="900" b="0">
                <a:solidFill>
                  <a:srgbClr val="212B36"/>
                </a:solidFill>
                <a:latin typeface="Segoe UI"/>
              </a:rPr>
              <a:t>largest k with AUROC &gt;= 0.75 sustained from k=0 (isolated k=15 blip not counted).</a:t>
            </a:r>
          </a:p>
          <a:p>
            <a:pPr algn="l">
              <a:spcAft>
                <a:spcPts val="700"/>
              </a:spcAft>
            </a:pPr>
            <a:r>
              <a:rPr sz="900" b="0">
                <a:solidFill>
                  <a:srgbClr val="212B36"/>
                </a:solidFill>
                <a:latin typeface="Segoe UI"/>
              </a:rPr>
              <a:t>Recall at 18/20 specificity decays 0.71 (k&lt;=3) -&gt; 0.36 (k=10): flag late, act fast.</a:t>
            </a:r>
          </a:p>
          <a:p>
            <a:pPr algn="l">
              <a:spcAft>
                <a:spcPts val="700"/>
              </a:spcAft>
            </a:pPr>
            <a:r>
              <a:rPr sz="900" b="1">
                <a:solidFill>
                  <a:srgbClr val="14263A"/>
                </a:solidFill>
                <a:latin typeface="Segoe UI"/>
              </a:rPr>
              <a:t>Anti-leak dividend:  </a:t>
            </a:r>
            <a:r>
              <a:rPr sz="900" b="0">
                <a:solidFill>
                  <a:srgbClr val="212B36"/>
                </a:solidFill>
                <a:latin typeface="Segoe UI"/>
              </a:rPr>
              <a:t>an epoch/length artifact would NOT decay with distance-to-failure; the collapse at k=11 is the strongest single evidence the score is failure-locked.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6053328"/>
            <a:ext cx="6720840" cy="530352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1480" y="6053328"/>
            <a:ext cx="64008" cy="530352"/>
          </a:xfrm>
          <a:prstGeom prst="rect">
            <a:avLst/>
          </a:prstGeom>
          <a:solidFill>
            <a:srgbClr val="142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" y="6108192"/>
            <a:ext cx="6400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1" i="0">
                <a:solidFill>
                  <a:srgbClr val="5B6B7C"/>
                </a:solidFill>
                <a:latin typeface="Segoe UI"/>
              </a:rPr>
              <a:t>ENGINEERING TAKEAWAY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" y="6272784"/>
            <a:ext cx="6400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1" i="0">
                <a:solidFill>
                  <a:srgbClr val="14263A"/>
                </a:solidFill>
                <a:latin typeface="Segoe UI"/>
              </a:rPr>
              <a:t>The 10-week horizon is a measured validity window — the same curve that certifies it also certifies non-leakage.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269480" y="6053328"/>
            <a:ext cx="4507992" cy="530352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269480" y="6053328"/>
            <a:ext cx="64008" cy="530352"/>
          </a:xfrm>
          <a:prstGeom prst="rect">
            <a:avLst/>
          </a:prstGeom>
          <a:solidFill>
            <a:srgbClr val="0E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79792" y="6108192"/>
            <a:ext cx="42062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1" i="0">
                <a:solidFill>
                  <a:srgbClr val="5B6B7C"/>
                </a:solidFill>
                <a:latin typeface="Segoe UI"/>
              </a:rPr>
              <a:t>REVIEW / DECISION POINT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79792" y="6272784"/>
            <a:ext cx="4206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1" i="0">
                <a:solidFill>
                  <a:srgbClr val="0E6E6E"/>
                </a:solidFill>
                <a:latin typeface="Segoe UI"/>
              </a:rPr>
              <a:t>Approve '&lt;=10 weeks' as the only forward-looking claim allowed in external material.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6638544"/>
            <a:ext cx="113842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 i="0">
                <a:solidFill>
                  <a:srgbClr val="5B6B7C"/>
                </a:solidFill>
                <a:latin typeface="Segoe UI"/>
              </a:rPr>
              <a:t>Starter Motor Failure Prediction V1.1  ·  Internal engineering review — full technical disclosure  ·  Not for external distribution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42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" y="0"/>
            <a:ext cx="91440" cy="566928"/>
          </a:xfrm>
          <a:prstGeom prst="rect">
            <a:avLst/>
          </a:prstGeom>
          <a:solidFill>
            <a:srgbClr val="0E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01168"/>
            <a:ext cx="9692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5B6B7C"/>
                </a:solidFill>
                <a:latin typeface="Segoe UI"/>
              </a:rPr>
              <a:t>INTERNAL · TECHNICAL REVIEW  —  CASE ANATOMY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29768"/>
            <a:ext cx="104241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300" b="1" i="0">
                <a:solidFill>
                  <a:srgbClr val="14263A"/>
                </a:solidFill>
                <a:latin typeface="Segoe UI"/>
              </a:rPr>
              <a:t>VIN8_F: the engineered catch · VIN9_F: the honest miss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219456"/>
            <a:ext cx="868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1000" b="0" i="0">
                <a:solidFill>
                  <a:srgbClr val="5B6B7C"/>
                </a:solidFill>
                <a:latin typeface="Segoe UI"/>
              </a:rPr>
              <a:t>16 / 25</a:t>
            </a:r>
          </a:p>
        </p:txBody>
      </p:sp>
      <p:pic>
        <p:nvPicPr>
          <p:cNvPr id="7" name="Picture 6" descr="V1_1_SM_VIN8_F_SM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234440"/>
            <a:ext cx="5596128" cy="3613509"/>
          </a:xfrm>
          <a:prstGeom prst="rect">
            <a:avLst/>
          </a:prstGeom>
          <a:ln w="9525">
            <a:solidFill>
              <a:srgbClr val="D7DEE5"/>
            </a:solidFill>
          </a:ln>
        </p:spPr>
      </p:pic>
      <p:pic>
        <p:nvPicPr>
          <p:cNvPr id="8" name="Picture 7" descr="V1_1_SM_VIN9_F_SM_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1344" y="1234440"/>
            <a:ext cx="5596128" cy="3613509"/>
          </a:xfrm>
          <a:prstGeom prst="rect">
            <a:avLst/>
          </a:prstGeom>
          <a:ln w="9525">
            <a:solidFill>
              <a:srgbClr val="D7DEE5"/>
            </a:solidFill>
          </a:ln>
        </p:spPr>
      </p:pic>
      <p:sp>
        <p:nvSpPr>
          <p:cNvPr id="9" name="Rectangle 8"/>
          <p:cNvSpPr/>
          <p:nvPr/>
        </p:nvSpPr>
        <p:spPr>
          <a:xfrm>
            <a:off x="411480" y="4992624"/>
            <a:ext cx="5596128" cy="932688"/>
          </a:xfrm>
          <a:prstGeom prst="rect">
            <a:avLst/>
          </a:prstGeom>
          <a:solidFill>
            <a:srgbClr val="DDEF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5074920"/>
            <a:ext cx="5349240" cy="8046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B7A3D"/>
                </a:solidFill>
                <a:latin typeface="Segoe UI"/>
              </a:rPr>
              <a:t>VIN8_F - V1 missed it (P 0.303); V1.1 catches it (P 0.716, RED).  </a:t>
            </a:r>
            <a:r>
              <a:rPr sz="900" b="0">
                <a:solidFill>
                  <a:srgbClr val="212B36"/>
                </a:solidFill>
                <a:latin typeface="Segoe UI"/>
              </a:rPr>
              <a:t>SMA-dead + 37 d silent gap. The battery-step-aware rest-VSI re-baseline recovers the pre-silence signal; persistence lead 98-135 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81344" y="4992624"/>
            <a:ext cx="5596128" cy="932688"/>
          </a:xfrm>
          <a:prstGeom prst="rect">
            <a:avLst/>
          </a:prstGeom>
          <a:solidFill>
            <a:srgbClr val="FAE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36792" y="5074920"/>
            <a:ext cx="5349240" cy="8046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8B0000"/>
                </a:solidFill>
                <a:latin typeface="Segoe UI"/>
              </a:rPr>
              <a:t>VIN9_F - the structural miss (raw score 0.401 vs threshold 0.406; recalibrated P 0.22 shown on the dashboard).  </a:t>
            </a:r>
            <a:r>
              <a:rPr sz="900" b="0">
                <a:solidFill>
                  <a:srgbClr val="212B36"/>
                </a:solidFill>
                <a:latin typeface="Segoe UI"/>
              </a:rPr>
              <a:t>SMA-dead (0.4%), longest silent gap (142 d), mid-fleet on all live features, zero alerts. Fix is instrumentation + telemetry-continuity monitoring, not a better classifier.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6053328"/>
            <a:ext cx="6720840" cy="530352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11480" y="6053328"/>
            <a:ext cx="64008" cy="530352"/>
          </a:xfrm>
          <a:prstGeom prst="rect">
            <a:avLst/>
          </a:prstGeom>
          <a:solidFill>
            <a:srgbClr val="142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" y="6108192"/>
            <a:ext cx="6400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1" i="0">
                <a:solidFill>
                  <a:srgbClr val="5B6B7C"/>
                </a:solidFill>
                <a:latin typeface="Segoe UI"/>
              </a:rPr>
              <a:t>ENGINEERING TAKEAWAY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" y="6272784"/>
            <a:ext cx="6400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1" i="0">
                <a:solidFill>
                  <a:srgbClr val="14263A"/>
                </a:solidFill>
                <a:latin typeface="Segoe UI"/>
              </a:rPr>
              <a:t>The same physics that explains the catch explains the miss — observability, not model capacity, is the boundary.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269480" y="6053328"/>
            <a:ext cx="4507992" cy="530352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269480" y="6053328"/>
            <a:ext cx="64008" cy="530352"/>
          </a:xfrm>
          <a:prstGeom prst="rect">
            <a:avLst/>
          </a:prstGeom>
          <a:solidFill>
            <a:srgbClr val="0E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79792" y="6108192"/>
            <a:ext cx="42062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1" i="0">
                <a:solidFill>
                  <a:srgbClr val="5B6B7C"/>
                </a:solidFill>
                <a:latin typeface="Segoe UI"/>
              </a:rPr>
              <a:t>REVIEW / DECISION POINT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79792" y="6272784"/>
            <a:ext cx="4206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1" i="0">
                <a:solidFill>
                  <a:srgbClr val="0E6E6E"/>
                </a:solidFill>
                <a:latin typeface="Segoe UI"/>
              </a:rPr>
              <a:t>Approve 'telemetry-continuity monitoring' as a pilot workstream (a truck going quiet is itself a trigger).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6638544"/>
            <a:ext cx="113842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 i="0">
                <a:solidFill>
                  <a:srgbClr val="5B6B7C"/>
                </a:solidFill>
                <a:latin typeface="Segoe UI"/>
              </a:rPr>
              <a:t>Starter Motor Failure Prediction V1.1  ·  Internal engineering review — full technical disclosure  ·  Not for external distribution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42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" y="0"/>
            <a:ext cx="91440" cy="566928"/>
          </a:xfrm>
          <a:prstGeom prst="rect">
            <a:avLst/>
          </a:prstGeom>
          <a:solidFill>
            <a:srgbClr val="0E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01168"/>
            <a:ext cx="9692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5B6B7C"/>
                </a:solidFill>
                <a:latin typeface="Segoe UI"/>
              </a:rPr>
              <a:t>INTERNAL · TECHNICAL REVIEW  —  LIMITATIONS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29768"/>
            <a:ext cx="104241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300" b="1" i="0">
                <a:solidFill>
                  <a:srgbClr val="14263A"/>
                </a:solidFill>
                <a:latin typeface="Segoe UI"/>
              </a:rPr>
              <a:t>Failure archetypes, physics ceilings, and what V1.1 deliberately does not claim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219456"/>
            <a:ext cx="868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1000" b="0" i="0">
                <a:solidFill>
                  <a:srgbClr val="5B6B7C"/>
                </a:solidFill>
                <a:latin typeface="Segoe UI"/>
              </a:rPr>
              <a:t>17 / 25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261872"/>
            <a:ext cx="2761488" cy="1325880"/>
          </a:xfrm>
          <a:prstGeom prst="rect">
            <a:avLst/>
          </a:prstGeom>
          <a:solidFill>
            <a:srgbClr val="E3ECF7"/>
          </a:solidFill>
          <a:ln w="12700">
            <a:solidFill>
              <a:srgbClr val="1565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9496" y="1353312"/>
            <a:ext cx="250545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1" i="0">
                <a:solidFill>
                  <a:srgbClr val="1565C0"/>
                </a:solidFill>
                <a:latin typeface="Segoe UI"/>
              </a:rPr>
              <a:t>A1 · solenoid intermittency  x3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9496" y="1664208"/>
            <a:ext cx="2505456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212B36"/>
                </a:solidFill>
                <a:latin typeface="Segoe UI"/>
              </a:rPr>
              <a:t>failed-crank rate up to 4.3x, retries 7.5x; A1 channel territory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78124" y="1261872"/>
            <a:ext cx="2761488" cy="1325880"/>
          </a:xfrm>
          <a:prstGeom prst="rect">
            <a:avLst/>
          </a:prstGeom>
          <a:solidFill>
            <a:srgbClr val="DDEFE2"/>
          </a:solidFill>
          <a:ln w="12700">
            <a:solidFill>
              <a:srgbClr val="1B7A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06140" y="1353312"/>
            <a:ext cx="250545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1" i="0">
                <a:solidFill>
                  <a:srgbClr val="1B7A3D"/>
                </a:solidFill>
                <a:latin typeface="Segoe UI"/>
              </a:rPr>
              <a:t>A2 · battery cascade  x4-5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06140" y="1664208"/>
            <a:ext cx="2505456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212B36"/>
                </a:solidFill>
                <a:latin typeface="Segoe UI"/>
              </a:rPr>
              <a:t>rest-floor sag + drive rise + dip widening; A2 detector territory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44768" y="1261872"/>
            <a:ext cx="2761488" cy="1325880"/>
          </a:xfrm>
          <a:prstGeom prst="rect">
            <a:avLst/>
          </a:prstGeom>
          <a:solidFill>
            <a:srgbClr val="EFE6F4"/>
          </a:solidFill>
          <a:ln w="12700">
            <a:solidFill>
              <a:srgbClr val="6C33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72784" y="1353312"/>
            <a:ext cx="250545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1" i="0">
                <a:solidFill>
                  <a:srgbClr val="6C3383"/>
                </a:solidFill>
                <a:latin typeface="Segoe UI"/>
              </a:rPr>
              <a:t>A3 · VSI volatility  x3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72784" y="1664208"/>
            <a:ext cx="2505456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212B36"/>
                </a:solidFill>
                <a:latin typeface="Segoe UI"/>
              </a:rPr>
              <a:t>sustained electrical noise without battery/crank signature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011412" y="1261872"/>
            <a:ext cx="2761488" cy="1325880"/>
          </a:xfrm>
          <a:prstGeom prst="rect">
            <a:avLst/>
          </a:prstGeom>
          <a:solidFill>
            <a:srgbClr val="FAE3E3"/>
          </a:solidFill>
          <a:ln w="12700">
            <a:solidFill>
              <a:srgbClr val="8B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39428" y="1353312"/>
            <a:ext cx="250545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1" i="0">
                <a:solidFill>
                  <a:srgbClr val="8B0000"/>
                </a:solidFill>
                <a:latin typeface="Segoe UI"/>
              </a:rPr>
              <a:t>A4 · silent / abrupt  x4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39428" y="1664208"/>
            <a:ext cx="2505456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212B36"/>
                </a:solidFill>
                <a:latin typeface="Segoe UI"/>
              </a:rPr>
              <a:t>no admissible precursor in 5 s / 0.2 V telemetry - the recall ceiling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2670048"/>
            <a:ext cx="11338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 i="1">
                <a:solidFill>
                  <a:srgbClr val="5B6B7C"/>
                </a:solidFill>
                <a:latin typeface="Segoe UI"/>
              </a:rPr>
              <a:t>Archetypes are in-sample descriptors (not out-of-fold validated); counts sum past 14 because VIN14_F carries a dual A1+A2 signature. Honest tier-RED recall ceiling ~= 10-11/14, set by the A1+A2+A3 count.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" y="3127248"/>
            <a:ext cx="5486400" cy="2724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9496" y="3200400"/>
            <a:ext cx="523036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8B0000"/>
                </a:solidFill>
                <a:latin typeface="Segoe UI"/>
              </a:rPr>
              <a:t>PHYSICS CEILINGS (WHY MORE MODELING WON'T HELP)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3493008"/>
            <a:ext cx="512064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950" b="1">
                <a:solidFill>
                  <a:srgbClr val="8B0000"/>
                </a:solidFill>
                <a:latin typeface="Segoe UI"/>
              </a:rPr>
              <a:t>Brush wear:  </a:t>
            </a:r>
            <a:r>
              <a:rPr sz="950" b="0">
                <a:solidFill>
                  <a:srgbClr val="212B36"/>
                </a:solidFill>
                <a:latin typeface="Segoe UI"/>
              </a:rPr>
              <a:t>the real 60-120 d declining-crank-voltage precursor lives in sub-sample dip shape and sub-second duration growth - destroyed by 5 s / 0.2 V sampling.</a:t>
            </a:r>
          </a:p>
          <a:p>
            <a:pPr algn="l">
              <a:spcAft>
                <a:spcPts val="700"/>
              </a:spcAft>
            </a:pPr>
            <a:r>
              <a:rPr sz="950" b="1">
                <a:solidFill>
                  <a:srgbClr val="8B0000"/>
                </a:solidFill>
                <a:latin typeface="Segoe UI"/>
              </a:rPr>
              <a:t>Bearing seizure:  </a:t>
            </a:r>
            <a:r>
              <a:rPr sz="950" b="0">
                <a:solidFill>
                  <a:srgbClr val="212B36"/>
                </a:solidFill>
                <a:latin typeface="Segoe UI"/>
              </a:rPr>
              <a:t>zero electrical precursor at any sampling rate.</a:t>
            </a:r>
          </a:p>
          <a:p>
            <a:pPr algn="l">
              <a:spcAft>
                <a:spcPts val="700"/>
              </a:spcAft>
            </a:pPr>
            <a:r>
              <a:rPr sz="950" b="1">
                <a:solidFill>
                  <a:srgbClr val="8B0000"/>
                </a:solidFill>
                <a:latin typeface="Segoe UI"/>
              </a:rPr>
              <a:t>No RUL:  </a:t>
            </a:r>
            <a:r>
              <a:rPr sz="950" b="0">
                <a:solidFill>
                  <a:srgbClr val="212B36"/>
                </a:solidFill>
                <a:latin typeface="Segoe UI"/>
              </a:rPr>
              <a:t>discrete-time hazard, Cox, Weibull and deep-survival variants all lose to a constant predictor (MAE 576 d vs 44 d). V1.1 ships a validity window, never a date.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72200" y="3127248"/>
            <a:ext cx="5605272" cy="2724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00216" y="3200400"/>
            <a:ext cx="53492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14263A"/>
                </a:solidFill>
                <a:latin typeface="Segoe UI"/>
              </a:rPr>
              <a:t>STATISTICAL HONESTY LEDGER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5080" y="3493008"/>
            <a:ext cx="525780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950" b="0">
                <a:solidFill>
                  <a:srgbClr val="212B36"/>
                </a:solidFill>
                <a:latin typeface="Segoe UI"/>
              </a:rPr>
              <a:t>n = 34, 14 failures: CI floor 0.811; a handful of trucks decide every threshold - treat point estimates with CI-width humility.</a:t>
            </a:r>
          </a:p>
          <a:p>
            <a:pPr algn="l">
              <a:spcAft>
                <a:spcPts val="700"/>
              </a:spcAft>
            </a:pPr>
            <a:r>
              <a:rPr sz="950" b="0">
                <a:solidFill>
                  <a:srgbClr val="212B36"/>
                </a:solidFill>
                <a:latin typeface="Segoe UI"/>
              </a:rPr>
              <a:t>OOF scores correlate with observation-length proxies (up to |0.653|) - defended as label-mediated via G1 + horizon collapse, and disclosed rather than hidden.</a:t>
            </a:r>
          </a:p>
          <a:p>
            <a:pPr algn="l">
              <a:spcAft>
                <a:spcPts val="700"/>
              </a:spcAft>
            </a:pPr>
            <a:r>
              <a:rPr sz="950" b="0">
                <a:solidFill>
                  <a:srgbClr val="212B36"/>
                </a:solidFill>
                <a:latin typeface="Segoe UI"/>
              </a:rPr>
              <a:t>Suppressor coefficient (vsi_range_trend) documented; per-VIN explanations separate physics from model usage.</a:t>
            </a:r>
          </a:p>
          <a:p>
            <a:pPr algn="l">
              <a:spcAft>
                <a:spcPts val="700"/>
              </a:spcAft>
            </a:pPr>
            <a:r>
              <a:rPr sz="950" b="0">
                <a:solidFill>
                  <a:srgbClr val="212B36"/>
                </a:solidFill>
                <a:latin typeface="Segoe UI"/>
              </a:rPr>
              <a:t>Permutation N=200 (runtime-bounded; target 1000) - p-value floor 0.005 stated as such.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1480" y="6053328"/>
            <a:ext cx="6720840" cy="530352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11480" y="6053328"/>
            <a:ext cx="64008" cy="530352"/>
          </a:xfrm>
          <a:prstGeom prst="rect">
            <a:avLst/>
          </a:prstGeom>
          <a:solidFill>
            <a:srgbClr val="142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1792" y="6108192"/>
            <a:ext cx="6400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1" i="0">
                <a:solidFill>
                  <a:srgbClr val="5B6B7C"/>
                </a:solidFill>
                <a:latin typeface="Segoe UI"/>
              </a:rPr>
              <a:t>ENGINEERING TAKEAWAY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792" y="6272784"/>
            <a:ext cx="6400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1" i="0">
                <a:solidFill>
                  <a:srgbClr val="14263A"/>
                </a:solidFill>
                <a:latin typeface="Segoe UI"/>
              </a:rPr>
              <a:t>V1.1's boundaries are measured, physical, and documented — the ceiling is data, not method.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269480" y="6053328"/>
            <a:ext cx="4507992" cy="530352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269480" y="6053328"/>
            <a:ext cx="64008" cy="530352"/>
          </a:xfrm>
          <a:prstGeom prst="rect">
            <a:avLst/>
          </a:prstGeom>
          <a:solidFill>
            <a:srgbClr val="0E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479792" y="6108192"/>
            <a:ext cx="42062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1" i="0">
                <a:solidFill>
                  <a:srgbClr val="5B6B7C"/>
                </a:solidFill>
                <a:latin typeface="Segoe UI"/>
              </a:rPr>
              <a:t>REVIEW / DECISION POINT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79792" y="6272784"/>
            <a:ext cx="4206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1" i="0">
                <a:solidFill>
                  <a:srgbClr val="0E6E6E"/>
                </a:solidFill>
                <a:latin typeface="Segoe UI"/>
              </a:rPr>
              <a:t>Accept the limitation ledger as the agreed basis for external claims and future-iteration bars.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1480" y="6638544"/>
            <a:ext cx="113842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 i="0">
                <a:solidFill>
                  <a:srgbClr val="5B6B7C"/>
                </a:solidFill>
                <a:latin typeface="Segoe UI"/>
              </a:rPr>
              <a:t>Starter Motor Failure Prediction V1.1  ·  Internal engineering review — full technical disclosure  ·  Not for external distribution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42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" y="0"/>
            <a:ext cx="91440" cy="566928"/>
          </a:xfrm>
          <a:prstGeom prst="rect">
            <a:avLst/>
          </a:prstGeom>
          <a:solidFill>
            <a:srgbClr val="0E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01168"/>
            <a:ext cx="9692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5B6B7C"/>
                </a:solidFill>
                <a:latin typeface="Segoe UI"/>
              </a:rPr>
              <a:t>INTERNAL · TECHNICAL REVIEW  —  EVENT EXTRACTION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29768"/>
            <a:ext cx="104241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300" b="1" i="0">
                <a:solidFill>
                  <a:srgbClr val="14263A"/>
                </a:solidFill>
                <a:latin typeface="Segoe UI"/>
              </a:rPr>
              <a:t>Crank-event state machine: 20,471 events distilled from 106M raw rows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219456"/>
            <a:ext cx="868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1000" b="0" i="0">
                <a:solidFill>
                  <a:srgbClr val="5B6B7C"/>
                </a:solidFill>
                <a:latin typeface="Segoe UI"/>
              </a:rPr>
              <a:t>18 / 25</a:t>
            </a:r>
          </a:p>
        </p:txBody>
      </p:sp>
      <p:pic>
        <p:nvPicPr>
          <p:cNvPr id="7" name="Picture 6" descr="MMD_D1_crank_ev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968" y="1188720"/>
            <a:ext cx="10424160" cy="2260608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11480" y="3602736"/>
            <a:ext cx="2761488" cy="896112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9496" y="3685032"/>
            <a:ext cx="2505456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14263A"/>
                </a:solidFill>
                <a:latin typeface="Consolas"/>
              </a:rPr>
              <a:t>&lt;= 10 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9496" y="4005072"/>
            <a:ext cx="2505456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5B6B7C"/>
                </a:solidFill>
                <a:latin typeface="Segoe UI"/>
              </a:rPr>
              <a:t>intra-event gap: consecutive SMA==1 rows merge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78124" y="3602736"/>
            <a:ext cx="2761488" cy="896112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06140" y="3685032"/>
            <a:ext cx="2505456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14263A"/>
                </a:solidFill>
                <a:latin typeface="Consolas"/>
              </a:rPr>
              <a:t>&gt; 60 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06140" y="4005072"/>
            <a:ext cx="2505456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5B6B7C"/>
                </a:solidFill>
                <a:latin typeface="Segoe UI"/>
              </a:rPr>
              <a:t>max plausible duration -&gt; artifact, excluded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44768" y="3602736"/>
            <a:ext cx="2761488" cy="896112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72784" y="3685032"/>
            <a:ext cx="2505456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14263A"/>
                </a:solidFill>
                <a:latin typeface="Consolas"/>
              </a:rPr>
              <a:t>&gt;= 550 RPM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72784" y="4005072"/>
            <a:ext cx="2505456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5B6B7C"/>
                </a:solidFill>
                <a:latin typeface="Segoe UI"/>
              </a:rPr>
              <a:t>success criterion on rpm_max_15s (+15 s window)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011412" y="3602736"/>
            <a:ext cx="2761488" cy="896112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39428" y="3685032"/>
            <a:ext cx="2505456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14263A"/>
                </a:solidFill>
                <a:latin typeface="Consolas"/>
              </a:rPr>
              <a:t>[-90, -10] 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39428" y="4005072"/>
            <a:ext cx="2505456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5B6B7C"/>
                </a:solidFill>
                <a:latin typeface="Segoe UI"/>
              </a:rPr>
              <a:t>dip baseline window (&gt;= 3 valid VSI readings)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" y="4626864"/>
            <a:ext cx="2761488" cy="896112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9496" y="4709160"/>
            <a:ext cx="2505456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14263A"/>
                </a:solidFill>
                <a:latin typeface="Consolas"/>
              </a:rPr>
              <a:t>120 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9496" y="5029200"/>
            <a:ext cx="2505456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5B6B7C"/>
                </a:solidFill>
                <a:latin typeface="Segoe UI"/>
              </a:rPr>
              <a:t>retry window: failed crank -&gt; retry cluster / burst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78124" y="4626864"/>
            <a:ext cx="2761488" cy="896112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406140" y="4709160"/>
            <a:ext cx="2505456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14263A"/>
                </a:solidFill>
                <a:latin typeface="Consolas"/>
              </a:rPr>
              <a:t>45 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06140" y="5029200"/>
            <a:ext cx="2505456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5B6B7C"/>
                </a:solidFill>
                <a:latin typeface="Segoe UI"/>
              </a:rPr>
              <a:t>recovery window for post-crank stabilisation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44768" y="4626864"/>
            <a:ext cx="2761488" cy="896112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72784" y="4709160"/>
            <a:ext cx="2505456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14263A"/>
                </a:solidFill>
                <a:latin typeface="Consolas"/>
              </a:rPr>
              <a:t>+ 5 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72784" y="5029200"/>
            <a:ext cx="2505456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5B6B7C"/>
                </a:solidFill>
                <a:latin typeface="Segoe UI"/>
              </a:rPr>
              <a:t>sample width added to event duration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011412" y="4626864"/>
            <a:ext cx="2761488" cy="896112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39428" y="4709160"/>
            <a:ext cx="2505456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14263A"/>
                </a:solidFill>
                <a:latin typeface="Consolas"/>
              </a:rPr>
              <a:t>1.2%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39428" y="5029200"/>
            <a:ext cx="2505456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5B6B7C"/>
                </a:solidFill>
                <a:latin typeface="Segoe UI"/>
              </a:rPr>
              <a:t>reconciliation delta vs gap-naive reference (20,729)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480" y="5614416"/>
            <a:ext cx="113385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14263A"/>
                </a:solidFill>
                <a:latin typeface="Segoe UI"/>
              </a:rPr>
              <a:t>Cohort note: </a:t>
            </a:r>
            <a:r>
              <a:rPr sz="950" b="0">
                <a:solidFill>
                  <a:srgbClr val="212B36"/>
                </a:solidFill>
                <a:latin typeface="Segoe UI"/>
              </a:rPr>
              <a:t>the 7 SMA-dead trucks produce no usable events - their event-rate artifacts (up to 8.4/active-day) are excluded by cohort masking. The trucks themselves are still scored weekly via the voltage features (crank features imputed - see slide 19).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11480" y="6053328"/>
            <a:ext cx="6720840" cy="530352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11480" y="6053328"/>
            <a:ext cx="64008" cy="530352"/>
          </a:xfrm>
          <a:prstGeom prst="rect">
            <a:avLst/>
          </a:prstGeom>
          <a:solidFill>
            <a:srgbClr val="142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1792" y="6108192"/>
            <a:ext cx="6400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1" i="0">
                <a:solidFill>
                  <a:srgbClr val="5B6B7C"/>
                </a:solidFill>
                <a:latin typeface="Segoe UI"/>
              </a:rPr>
              <a:t>ENGINEERING TAKEAWAY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1792" y="6272784"/>
            <a:ext cx="6400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1" i="0">
                <a:solidFill>
                  <a:srgbClr val="14263A"/>
                </a:solidFill>
                <a:latin typeface="Segoe UI"/>
              </a:rPr>
              <a:t>Every crank feature rests on a deterministic, artifact-filtered event definition - reproducible from raw rows.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269480" y="6053328"/>
            <a:ext cx="4507992" cy="530352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269480" y="6053328"/>
            <a:ext cx="64008" cy="530352"/>
          </a:xfrm>
          <a:prstGeom prst="rect">
            <a:avLst/>
          </a:prstGeom>
          <a:solidFill>
            <a:srgbClr val="0E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479792" y="6108192"/>
            <a:ext cx="42062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1" i="0">
                <a:solidFill>
                  <a:srgbClr val="5B6B7C"/>
                </a:solidFill>
                <a:latin typeface="Segoe UI"/>
              </a:rPr>
              <a:t>REVIEW / DECISION POINT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79792" y="6272784"/>
            <a:ext cx="4206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1" i="0">
                <a:solidFill>
                  <a:srgbClr val="0E6E6E"/>
                </a:solidFill>
                <a:latin typeface="Segoe UI"/>
              </a:rPr>
              <a:t>Confirm the 10 s / 60 s / 550 RPM constants against powertrain engineering expectations.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11480" y="6638544"/>
            <a:ext cx="113842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 i="0">
                <a:solidFill>
                  <a:srgbClr val="5B6B7C"/>
                </a:solidFill>
                <a:latin typeface="Segoe UI"/>
              </a:rPr>
              <a:t>Starter Motor Failure Prediction V1.1  ·  Internal engineering review — full technical disclosure  ·  Not for external distribution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42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" y="0"/>
            <a:ext cx="91440" cy="566928"/>
          </a:xfrm>
          <a:prstGeom prst="rect">
            <a:avLst/>
          </a:prstGeom>
          <a:solidFill>
            <a:srgbClr val="0E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01168"/>
            <a:ext cx="9692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5B6B7C"/>
                </a:solidFill>
                <a:latin typeface="Segoe UI"/>
              </a:rPr>
              <a:t>INTERNAL · TECHNICAL REVIEW  —  RUNTIME LOGIC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29768"/>
            <a:ext cx="104241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300" b="1" i="0">
                <a:solidFill>
                  <a:srgbClr val="14263A"/>
                </a:solidFill>
                <a:latin typeface="Segoe UI"/>
              </a:rPr>
              <a:t>One week in production: scoring, tiering and alert gating as a decision 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219456"/>
            <a:ext cx="868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1000" b="0" i="0">
                <a:solidFill>
                  <a:srgbClr val="5B6B7C"/>
                </a:solidFill>
                <a:latin typeface="Segoe UI"/>
              </a:rPr>
              <a:t>19 / 25</a:t>
            </a:r>
          </a:p>
        </p:txBody>
      </p:sp>
      <p:pic>
        <p:nvPicPr>
          <p:cNvPr id="7" name="Picture 6" descr="MMD_D2_weekly_scor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188720"/>
            <a:ext cx="11365992" cy="3070343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11480" y="4389120"/>
            <a:ext cx="11365992" cy="1517904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9496" y="4462272"/>
            <a:ext cx="111099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14263A"/>
                </a:solidFill>
                <a:latin typeface="Segoe UI"/>
              </a:rPr>
              <a:t>RUNTIME NOTES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736592"/>
            <a:ext cx="10972800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1">
                <a:solidFill>
                  <a:srgbClr val="14263A"/>
                </a:solidFill>
                <a:latin typeface="Segoe UI"/>
              </a:rPr>
              <a:t>Cadence:  </a:t>
            </a:r>
            <a:r>
              <a:rPr sz="950" b="0">
                <a:solidFill>
                  <a:srgbClr val="212B36"/>
                </a:solidFill>
                <a:latin typeface="Segoe UI"/>
              </a:rPr>
              <a:t>weekly, on masked-week close. Feature windows re-anchor at the scoring cut - the exact machinery validated by the prequential horizon test (slide 15).</a:t>
            </a:r>
          </a:p>
          <a:p>
            <a:pPr algn="l">
              <a:spcAft>
                <a:spcPts val="500"/>
              </a:spcAft>
            </a:pPr>
            <a:r>
              <a:rPr sz="950" b="1">
                <a:solidFill>
                  <a:srgbClr val="14263A"/>
                </a:solidFill>
                <a:latin typeface="Segoe UI"/>
              </a:rPr>
              <a:t>Honest scoring:  </a:t>
            </a:r>
            <a:r>
              <a:rPr sz="950" b="0">
                <a:solidFill>
                  <a:srgbClr val="212B36"/>
                </a:solidFill>
                <a:latin typeface="Segoe UI"/>
              </a:rPr>
              <a:t>each truck is scored by a model trained on the other 33 (LOVO parity with validation); recalibration is per-fold Platt.</a:t>
            </a:r>
          </a:p>
          <a:p>
            <a:pPr algn="l">
              <a:spcAft>
                <a:spcPts val="500"/>
              </a:spcAft>
            </a:pPr>
            <a:r>
              <a:rPr sz="950" b="1">
                <a:solidFill>
                  <a:srgbClr val="14263A"/>
                </a:solidFill>
                <a:latin typeface="Segoe UI"/>
              </a:rPr>
              <a:t>Gating:  </a:t>
            </a:r>
            <a:r>
              <a:rPr sz="950" b="0">
                <a:solidFill>
                  <a:srgbClr val="212B36"/>
                </a:solidFill>
                <a:latin typeface="Segoe UI"/>
              </a:rPr>
              <a:t>A2 battery-cascade pages independently of tier (0/20 NF false alarms earns that right); persistence and A1 annotate only at AMBER/RED - never page on their own.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6053328"/>
            <a:ext cx="6720840" cy="530352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11480" y="6053328"/>
            <a:ext cx="64008" cy="530352"/>
          </a:xfrm>
          <a:prstGeom prst="rect">
            <a:avLst/>
          </a:prstGeom>
          <a:solidFill>
            <a:srgbClr val="142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" y="6108192"/>
            <a:ext cx="6400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1" i="0">
                <a:solidFill>
                  <a:srgbClr val="5B6B7C"/>
                </a:solidFill>
                <a:latin typeface="Segoe UI"/>
              </a:rPr>
              <a:t>ENGINEERING TAKEAWAY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" y="6272784"/>
            <a:ext cx="6400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1" i="0">
                <a:solidFill>
                  <a:srgbClr val="14263A"/>
                </a:solidFill>
                <a:latin typeface="Segoe UI"/>
              </a:rPr>
              <a:t>The deployment flow is the validation flow - no new logic appears between the audit and the pilot.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269480" y="6053328"/>
            <a:ext cx="4507992" cy="530352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269480" y="6053328"/>
            <a:ext cx="64008" cy="530352"/>
          </a:xfrm>
          <a:prstGeom prst="rect">
            <a:avLst/>
          </a:prstGeom>
          <a:solidFill>
            <a:srgbClr val="0E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79792" y="6108192"/>
            <a:ext cx="42062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1" i="0">
                <a:solidFill>
                  <a:srgbClr val="5B6B7C"/>
                </a:solidFill>
                <a:latin typeface="Segoe UI"/>
              </a:rPr>
              <a:t>REVIEW / DECISION POINT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79792" y="6272784"/>
            <a:ext cx="4206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1" i="0">
                <a:solidFill>
                  <a:srgbClr val="0E6E6E"/>
                </a:solidFill>
                <a:latin typeface="Segoe UI"/>
              </a:rPr>
              <a:t>Sign off the decision flow as the pilot SOP skeleton (workshop order = tier + alert annotations).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6638544"/>
            <a:ext cx="113842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 i="0">
                <a:solidFill>
                  <a:srgbClr val="5B6B7C"/>
                </a:solidFill>
                <a:latin typeface="Segoe UI"/>
              </a:rPr>
              <a:t>Starter Motor Failure Prediction V1.1  ·  Internal engineering review — full technical disclosure  ·  Not for external distribution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42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" y="0"/>
            <a:ext cx="91440" cy="566928"/>
          </a:xfrm>
          <a:prstGeom prst="rect">
            <a:avLst/>
          </a:prstGeom>
          <a:solidFill>
            <a:srgbClr val="0E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01168"/>
            <a:ext cx="9692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5B6B7C"/>
                </a:solidFill>
                <a:latin typeface="Segoe UI"/>
              </a:rPr>
              <a:t>INTERNAL · TECHNICAL REVIEW  —  MAINTENANCE SEPARATION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29768"/>
            <a:ext cx="104241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300" b="1" i="0">
                <a:solidFill>
                  <a:srgbClr val="14263A"/>
                </a:solidFill>
                <a:latin typeface="Segoe UI"/>
              </a:rPr>
              <a:t>Battery-step detection: replacements re-baseline features, cascades feed the A2 pager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219456"/>
            <a:ext cx="868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1000" b="0" i="0">
                <a:solidFill>
                  <a:srgbClr val="5B6B7C"/>
                </a:solidFill>
                <a:latin typeface="Segoe UI"/>
              </a:rPr>
              <a:t>20 / 25</a:t>
            </a:r>
          </a:p>
        </p:txBody>
      </p:sp>
      <p:pic>
        <p:nvPicPr>
          <p:cNvPr id="7" name="Picture 6" descr="MMD_D3_battery_ste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5768" y="1188720"/>
            <a:ext cx="6766560" cy="2731104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411480" y="4041648"/>
            <a:ext cx="54864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9496" y="4114800"/>
            <a:ext cx="523036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1B7A3D"/>
                </a:solidFill>
                <a:latin typeface="Segoe UI"/>
              </a:rPr>
              <a:t>DETECTED UP-STEPS (REPLACEMENT CANDIDATES, E5)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407408"/>
            <a:ext cx="512064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212B36"/>
                </a:solidFill>
                <a:latin typeface="Segoe UI"/>
              </a:rPr>
              <a:t>VIN32_NF +1.40 V (2024-05) · VIN26_NF +0.70 V · VIN17_NF +0.61 V · VIN19_NF +0.61 V · VIN31_NF +0.59 V · VIN8_F +0.60 V (2024-06).</a:t>
            </a:r>
          </a:p>
          <a:p>
            <a:pPr algn="l">
              <a:spcAft>
                <a:spcPts val="500"/>
              </a:spcAft>
            </a:pPr>
            <a:r>
              <a:rPr sz="950" b="1">
                <a:solidFill>
                  <a:srgbClr val="1B7A3D"/>
                </a:solidFill>
                <a:latin typeface="Segoe UI"/>
              </a:rPr>
              <a:t>None of the 5 NF up-step trucks fires A2 - the detector separates maintenance from degradation by construction.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72200" y="4041648"/>
            <a:ext cx="5605272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0216" y="4114800"/>
            <a:ext cx="53492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8B0000"/>
                </a:solidFill>
                <a:latin typeface="Segoe UI"/>
              </a:rPr>
              <a:t>DETECTED DOWN-STEPS (CASCADE EVIDENCE)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4407408"/>
            <a:ext cx="52578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212B36"/>
                </a:solidFill>
                <a:latin typeface="Segoe UI"/>
              </a:rPr>
              <a:t>VIN6_F -2.71 V (2025-08) · VIN14_F -2.31 V (2025-09) · VIN3_F -1.70 V (2025-06) · VIN2_F -1.59 V (2025-09). All pass the SNR &gt;= 2 detector gate (strongest 5.8).</a:t>
            </a:r>
          </a:p>
          <a:p>
            <a:pPr algn="l">
              <a:spcAft>
                <a:spcPts val="500"/>
              </a:spcAft>
            </a:pPr>
            <a:r>
              <a:rPr sz="950" b="1">
                <a:solidFill>
                  <a:srgbClr val="8B0000"/>
                </a:solidFill>
                <a:latin typeface="Segoe UI"/>
              </a:rPr>
              <a:t>The four largest rest-VSI collapses are exactly the A2 battery-cascade archetype trucks - independent corroboration of the archetype assignment.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6053328"/>
            <a:ext cx="6720840" cy="530352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11480" y="6053328"/>
            <a:ext cx="64008" cy="530352"/>
          </a:xfrm>
          <a:prstGeom prst="rect">
            <a:avLst/>
          </a:prstGeom>
          <a:solidFill>
            <a:srgbClr val="142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" y="6108192"/>
            <a:ext cx="6400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1" i="0">
                <a:solidFill>
                  <a:srgbClr val="5B6B7C"/>
                </a:solidFill>
                <a:latin typeface="Segoe UI"/>
              </a:rPr>
              <a:t>ENGINEERING TAKEAWAY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6272784"/>
            <a:ext cx="6400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1" i="0">
                <a:solidFill>
                  <a:srgbClr val="14263A"/>
                </a:solidFill>
                <a:latin typeface="Segoe UI"/>
              </a:rPr>
              <a:t>One detector, two uses: up-steps clean the features (recovered VIN8_F), down-steps power the zero-false-alarm pager.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269480" y="6053328"/>
            <a:ext cx="4507992" cy="530352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269480" y="6053328"/>
            <a:ext cx="64008" cy="530352"/>
          </a:xfrm>
          <a:prstGeom prst="rect">
            <a:avLst/>
          </a:prstGeom>
          <a:solidFill>
            <a:srgbClr val="0E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79792" y="6108192"/>
            <a:ext cx="42062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1" i="0">
                <a:solidFill>
                  <a:srgbClr val="5B6B7C"/>
                </a:solidFill>
                <a:latin typeface="Segoe UI"/>
              </a:rPr>
              <a:t>REVIEW / DECISION POINT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79792" y="6272784"/>
            <a:ext cx="4206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1" i="0">
                <a:solidFill>
                  <a:srgbClr val="0E6E6E"/>
                </a:solidFill>
                <a:latin typeface="Segoe UI"/>
              </a:rPr>
              <a:t>Validate the 6 replacement candidates against service records when DICV maintenance data becomes available.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6638544"/>
            <a:ext cx="113842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 i="0">
                <a:solidFill>
                  <a:srgbClr val="5B6B7C"/>
                </a:solidFill>
                <a:latin typeface="Segoe UI"/>
              </a:rPr>
              <a:t>Starter Motor Failure Prediction V1.1  ·  Internal engineering review — full technical disclosure  ·  Not for external distribution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42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" y="0"/>
            <a:ext cx="91440" cy="566928"/>
          </a:xfrm>
          <a:prstGeom prst="rect">
            <a:avLst/>
          </a:prstGeom>
          <a:solidFill>
            <a:srgbClr val="0E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01168"/>
            <a:ext cx="9692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5B6B7C"/>
                </a:solidFill>
                <a:latin typeface="Segoe UI"/>
              </a:rPr>
              <a:t>INTERNAL · TECHNICAL REVIEW  —  REJECTED ALTERNATIVE: RUL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29768"/>
            <a:ext cx="104241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300" b="1" i="0">
                <a:solidFill>
                  <a:srgbClr val="14263A"/>
                </a:solidFill>
                <a:latin typeface="Segoe UI"/>
              </a:rPr>
              <a:t>Survival analysis was built, measured, and rejected - a constant beats every RUL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219456"/>
            <a:ext cx="868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1000" b="0" i="0">
                <a:solidFill>
                  <a:srgbClr val="5B6B7C"/>
                </a:solidFill>
                <a:latin typeface="Segoe UI"/>
              </a:rPr>
              <a:t>21 / 25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261872"/>
            <a:ext cx="3675887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9496" y="1335024"/>
            <a:ext cx="341985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14263A"/>
                </a:solidFill>
                <a:latin typeface="Segoe UI"/>
              </a:rPr>
              <a:t>RUL MAE - FAILED VINS, LAST 26 WEEKS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1700784"/>
            <a:ext cx="1463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1B7A3D"/>
                </a:solidFill>
                <a:latin typeface="Segoe UI"/>
              </a:rPr>
              <a:t>44.4 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03120" y="1719072"/>
            <a:ext cx="18288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212B36"/>
                </a:solidFill>
                <a:latin typeface="Segoe UI"/>
              </a:rPr>
              <a:t>constant '91 days' predictor (structural floor; actuals ~uniform 7-182 d)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2478024"/>
            <a:ext cx="1463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8B0000"/>
                </a:solidFill>
                <a:latin typeface="Segoe UI"/>
              </a:rPr>
              <a:t>461.9 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03120" y="2496312"/>
            <a:ext cx="18288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212B36"/>
                </a:solidFill>
                <a:latin typeface="Segoe UI"/>
              </a:rPr>
              <a:t>Weibull fleet-clock conditional median (LOVO)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3255264"/>
            <a:ext cx="1463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 i="0">
                <a:solidFill>
                  <a:srgbClr val="8B0000"/>
                </a:solidFill>
                <a:latin typeface="Segoe UI"/>
              </a:rPr>
              <a:t>576.1 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03120" y="3273552"/>
            <a:ext cx="18288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212B36"/>
                </a:solidFill>
                <a:latin typeface="Segoe UI"/>
              </a:rPr>
              <a:t>discrete-time hazard model (logistic, LOVO)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4050792"/>
            <a:ext cx="3291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14263A"/>
                </a:solidFill>
                <a:latin typeface="Segoe UI"/>
              </a:rPr>
              <a:t>The constant wins by 10.4x and 13.0x.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61104" y="1261872"/>
            <a:ext cx="3675887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89120" y="1335024"/>
            <a:ext cx="341985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14263A"/>
                </a:solidFill>
                <a:latin typeface="Segoe UI"/>
              </a:rPr>
              <a:t>HAZARD-MODEL DIAGNOSTICS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43984" y="1645920"/>
            <a:ext cx="3337560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950" b="0">
                <a:solidFill>
                  <a:srgbClr val="212B36"/>
                </a:solidFill>
                <a:latin typeface="Segoe UI"/>
              </a:rPr>
              <a:t>Pooled weekly-hazard AUROC 0.747 (14 event-weeks vs 2,622 at-risk weeks).</a:t>
            </a:r>
          </a:p>
          <a:p>
            <a:pPr algn="l">
              <a:spcAft>
                <a:spcPts val="700"/>
              </a:spcAft>
            </a:pPr>
            <a:r>
              <a:rPr sz="950" b="0">
                <a:solidFill>
                  <a:srgbClr val="212B36"/>
                </a:solidFill>
                <a:latin typeface="Segoe UI"/>
              </a:rPr>
              <a:t>Age-matched concordance 0.654 (332 pairs).</a:t>
            </a:r>
          </a:p>
          <a:p>
            <a:pPr algn="l">
              <a:spcAft>
                <a:spcPts val="700"/>
              </a:spcAft>
            </a:pPr>
            <a:r>
              <a:rPr sz="950" b="0">
                <a:solidFill>
                  <a:srgbClr val="212B36"/>
                </a:solidFill>
                <a:latin typeface="Segoe UI"/>
              </a:rPr>
              <a:t>P(fail &lt;= H) classification: 0.744 @30 d · 0.708 @60 d · 0.688 @90 d.</a:t>
            </a:r>
          </a:p>
          <a:p>
            <a:pPr algn="l">
              <a:spcAft>
                <a:spcPts val="700"/>
              </a:spcAft>
            </a:pPr>
            <a:r>
              <a:rPr sz="950" b="1">
                <a:solidFill>
                  <a:srgbClr val="8B0000"/>
                </a:solidFill>
                <a:latin typeface="Segoe UI"/>
              </a:rPr>
              <a:t>Truck-level ranking from held-out hazards: 0.586 - collapses vs the static model's 0.893.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10727" y="1261872"/>
            <a:ext cx="3675887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38743" y="1335024"/>
            <a:ext cx="341985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0E6E6E"/>
                </a:solidFill>
                <a:latin typeface="Segoe UI"/>
              </a:rPr>
              <a:t>WHAT SURVIVES FROM THE F-TRACK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93608" y="1645920"/>
            <a:ext cx="3337560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950" b="1">
                <a:solidFill>
                  <a:srgbClr val="14263A"/>
                </a:solidFill>
                <a:latin typeface="Segoe UI"/>
              </a:rPr>
              <a:t>Fleet Weibull clock: </a:t>
            </a:r>
            <a:r>
              <a:rPr sz="950" b="0">
                <a:solidFill>
                  <a:srgbClr val="212B36"/>
                </a:solidFill>
                <a:latin typeface="Segoe UI"/>
              </a:rPr>
              <a:t>lambda 133.3 wk, rho 2.03 (wear-out), median 111.3 wk (779 d) - used ONLY as the dashboard RUL-curve illustration anchor.</a:t>
            </a:r>
          </a:p>
          <a:p>
            <a:pPr algn="l">
              <a:spcAft>
                <a:spcPts val="700"/>
              </a:spcAft>
            </a:pPr>
            <a:r>
              <a:rPr sz="950" b="1">
                <a:solidFill>
                  <a:srgbClr val="14263A"/>
                </a:solidFill>
                <a:latin typeface="Segoe UI"/>
              </a:rPr>
              <a:t>Cox time-varying: </a:t>
            </a:r>
            <a:r>
              <a:rPr sz="950" b="0">
                <a:solidFill>
                  <a:srgbClr val="212B36"/>
                </a:solidFill>
                <a:latin typeface="Segoe UI"/>
              </a:rPr>
              <a:t>vsi_std_ratio HR 1.74/unit (p=0.002), coefficient stable +0.69 +/-0.04 across folds - independent confirmation of the volatility workhorse.</a:t>
            </a:r>
          </a:p>
          <a:p>
            <a:pPr algn="l">
              <a:spcAft>
                <a:spcPts val="700"/>
              </a:spcAft>
            </a:pPr>
            <a:r>
              <a:rPr sz="950" b="0">
                <a:solidFill>
                  <a:srgbClr val="5B6B7C"/>
                </a:solidFill>
                <a:latin typeface="Segoe UI"/>
              </a:rPr>
              <a:t>Everything else is documented and retired.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" y="4462272"/>
            <a:ext cx="11365992" cy="566928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1792" y="4590288"/>
            <a:ext cx="10972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 i="0">
                <a:solidFill>
                  <a:srgbClr val="14263A"/>
                </a:solidFill>
                <a:latin typeface="Segoe UI"/>
              </a:rPr>
              <a:t>RUL claims are withheld because we measured them failing - not because we did not try. Three model families, one conclusion.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1480" y="6053328"/>
            <a:ext cx="6720840" cy="530352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11480" y="6053328"/>
            <a:ext cx="64008" cy="530352"/>
          </a:xfrm>
          <a:prstGeom prst="rect">
            <a:avLst/>
          </a:prstGeom>
          <a:solidFill>
            <a:srgbClr val="142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1792" y="6108192"/>
            <a:ext cx="6400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1" i="0">
                <a:solidFill>
                  <a:srgbClr val="5B6B7C"/>
                </a:solidFill>
                <a:latin typeface="Segoe UI"/>
              </a:rPr>
              <a:t>ENGINEERING TAKEAWAY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" y="6272784"/>
            <a:ext cx="6400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1" i="0">
                <a:solidFill>
                  <a:srgbClr val="14263A"/>
                </a:solidFill>
                <a:latin typeface="Segoe UI"/>
              </a:rPr>
              <a:t>14 events cannot parameterize a per-truck failure clock; the validated deliverable is risk + a 10-week window.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269480" y="6053328"/>
            <a:ext cx="4507992" cy="530352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269480" y="6053328"/>
            <a:ext cx="64008" cy="530352"/>
          </a:xfrm>
          <a:prstGeom prst="rect">
            <a:avLst/>
          </a:prstGeom>
          <a:solidFill>
            <a:srgbClr val="0E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79792" y="6108192"/>
            <a:ext cx="42062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1" i="0">
                <a:solidFill>
                  <a:srgbClr val="5B6B7C"/>
                </a:solidFill>
                <a:latin typeface="Segoe UI"/>
              </a:rPr>
              <a:t>REVIEW / DECISION POINT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79792" y="6272784"/>
            <a:ext cx="4206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1" i="0">
                <a:solidFill>
                  <a:srgbClr val="0E6E6E"/>
                </a:solidFill>
                <a:latin typeface="Segoe UI"/>
              </a:rPr>
              <a:t>Ratify the 'risk + window, no dates' deliverable contract for the pilot and all external material.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480" y="6638544"/>
            <a:ext cx="113842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 i="0">
                <a:solidFill>
                  <a:srgbClr val="5B6B7C"/>
                </a:solidFill>
                <a:latin typeface="Segoe UI"/>
              </a:rPr>
              <a:t>Starter Motor Failure Prediction V1.1  ·  Internal engineering review — full technical disclosure  ·  Not for external distribution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42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" y="0"/>
            <a:ext cx="91440" cy="566928"/>
          </a:xfrm>
          <a:prstGeom prst="rect">
            <a:avLst/>
          </a:prstGeom>
          <a:solidFill>
            <a:srgbClr val="0E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01168"/>
            <a:ext cx="9692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5B6B7C"/>
                </a:solidFill>
                <a:latin typeface="Segoe UI"/>
              </a:rPr>
              <a:t>INTERNAL · TECHNICAL REVIEW  —  REJECTED ALTERNATIVE: DEEP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29768"/>
            <a:ext cx="104241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300" b="1" i="0">
                <a:solidFill>
                  <a:srgbClr val="14263A"/>
                </a:solidFill>
                <a:latin typeface="Segoe UI"/>
              </a:rPr>
              <a:t>Parameter-budget math: why 14 failures cannot feed a sequence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219456"/>
            <a:ext cx="868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1000" b="0" i="0">
                <a:solidFill>
                  <a:srgbClr val="5B6B7C"/>
                </a:solidFill>
                <a:latin typeface="Segoe UI"/>
              </a:rPr>
              <a:t>22 / 25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261872"/>
            <a:ext cx="5806440" cy="3310128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9496" y="1335024"/>
            <a:ext cx="555040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14263A"/>
                </a:solidFill>
                <a:latin typeface="Segoe UI"/>
              </a:rPr>
              <a:t>MINIMAL-CONFIG PARAMETER BUDGET (EPV &gt;= 10 -&gt; ~1.4 PARAMS)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1682496"/>
            <a:ext cx="31089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1" i="0">
                <a:solidFill>
                  <a:srgbClr val="5B6B7C"/>
                </a:solidFill>
                <a:latin typeface="Segoe UI"/>
              </a:rPr>
              <a:t>architecture (minimal config)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22191" y="1682496"/>
            <a:ext cx="10058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850" b="1" i="0">
                <a:solidFill>
                  <a:srgbClr val="5B6B7C"/>
                </a:solidFill>
                <a:latin typeface="Segoe UI"/>
              </a:rPr>
              <a:t>params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19472" y="1682496"/>
            <a:ext cx="109728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850" b="1" i="0">
                <a:solidFill>
                  <a:srgbClr val="5B6B7C"/>
                </a:solidFill>
                <a:latin typeface="Segoe UI"/>
              </a:rPr>
              <a:t>over budget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1956816"/>
            <a:ext cx="3200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 i="0">
                <a:solidFill>
                  <a:srgbClr val="212B36"/>
                </a:solidFill>
                <a:latin typeface="Segoe UI"/>
              </a:rPr>
              <a:t>V1.1 Ridge (4 features)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22191" y="1956816"/>
            <a:ext cx="10058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950" b="1" i="0">
                <a:solidFill>
                  <a:srgbClr val="14263A"/>
                </a:solidFill>
                <a:latin typeface="Consolas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19472" y="1956816"/>
            <a:ext cx="1097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950" b="1" i="0">
                <a:solidFill>
                  <a:srgbClr val="1B7A3D"/>
                </a:solidFill>
                <a:latin typeface="Consolas"/>
              </a:rPr>
              <a:t>4x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2244852"/>
            <a:ext cx="3200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 i="0">
                <a:solidFill>
                  <a:srgbClr val="212B36"/>
                </a:solidFill>
                <a:latin typeface="Segoe UI"/>
              </a:rPr>
              <a:t>LSTM, 1 layer, h=8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22191" y="2244852"/>
            <a:ext cx="10058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950" b="1" i="0">
                <a:solidFill>
                  <a:srgbClr val="14263A"/>
                </a:solidFill>
                <a:latin typeface="Consolas"/>
              </a:rPr>
              <a:t>329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19472" y="2244852"/>
            <a:ext cx="1097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950" b="1" i="0">
                <a:solidFill>
                  <a:srgbClr val="8B0000"/>
                </a:solidFill>
                <a:latin typeface="Consolas"/>
              </a:rPr>
              <a:t>235x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" y="2532888"/>
            <a:ext cx="3200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 i="0">
                <a:solidFill>
                  <a:srgbClr val="212B36"/>
                </a:solidFill>
                <a:latin typeface="Segoe UI"/>
              </a:rPr>
              <a:t>TCN, 2 blocks, 8 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22191" y="2532888"/>
            <a:ext cx="10058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950" b="1" i="0">
                <a:solidFill>
                  <a:srgbClr val="14263A"/>
                </a:solidFill>
                <a:latin typeface="Consolas"/>
              </a:rPr>
              <a:t>489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19472" y="2532888"/>
            <a:ext cx="1097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950" b="1" i="0">
                <a:solidFill>
                  <a:srgbClr val="8B0000"/>
                </a:solidFill>
                <a:latin typeface="Consolas"/>
              </a:rPr>
              <a:t>349x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" y="2820924"/>
            <a:ext cx="3200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 i="0">
                <a:solidFill>
                  <a:srgbClr val="212B36"/>
                </a:solidFill>
                <a:latin typeface="Segoe UI"/>
              </a:rPr>
              <a:t>Transformer enc, d=16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22191" y="2820924"/>
            <a:ext cx="10058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950" b="1" i="0">
                <a:solidFill>
                  <a:srgbClr val="14263A"/>
                </a:solidFill>
                <a:latin typeface="Consolas"/>
              </a:rPr>
              <a:t>2,273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19472" y="2820924"/>
            <a:ext cx="1097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950" b="1" i="0">
                <a:solidFill>
                  <a:srgbClr val="8B0000"/>
                </a:solidFill>
                <a:latin typeface="Consolas"/>
              </a:rPr>
              <a:t>1,624x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" y="3108960"/>
            <a:ext cx="3200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 i="0">
                <a:solidFill>
                  <a:srgbClr val="212B36"/>
                </a:solidFill>
                <a:latin typeface="Segoe UI"/>
              </a:rPr>
              <a:t>PatchTST, d=16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22191" y="3108960"/>
            <a:ext cx="10058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950" b="1" i="0">
                <a:solidFill>
                  <a:srgbClr val="14263A"/>
                </a:solidFill>
                <a:latin typeface="Consolas"/>
              </a:rPr>
              <a:t>2,385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19472" y="3108960"/>
            <a:ext cx="1097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950" b="1" i="0">
                <a:solidFill>
                  <a:srgbClr val="8B0000"/>
                </a:solidFill>
                <a:latin typeface="Consolas"/>
              </a:rPr>
              <a:t>1,704x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" y="3396996"/>
            <a:ext cx="3200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 i="0">
                <a:solidFill>
                  <a:srgbClr val="212B36"/>
                </a:solidFill>
                <a:latin typeface="Segoe UI"/>
              </a:rPr>
              <a:t>Informer, d=16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22191" y="3396996"/>
            <a:ext cx="10058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950" b="1" i="0">
                <a:solidFill>
                  <a:srgbClr val="14263A"/>
                </a:solidFill>
                <a:latin typeface="Consolas"/>
              </a:rPr>
              <a:t>3,057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19472" y="3396996"/>
            <a:ext cx="1097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950" b="1" i="0">
                <a:solidFill>
                  <a:srgbClr val="8B0000"/>
                </a:solidFill>
                <a:latin typeface="Consolas"/>
              </a:rPr>
              <a:t>2,184x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792" y="3685032"/>
            <a:ext cx="3200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 i="0">
                <a:solidFill>
                  <a:srgbClr val="212B36"/>
                </a:solidFill>
                <a:latin typeface="Segoe UI"/>
              </a:rPr>
              <a:t>TFT, d=16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22191" y="3685032"/>
            <a:ext cx="10058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950" b="1" i="0">
                <a:solidFill>
                  <a:srgbClr val="14263A"/>
                </a:solidFill>
                <a:latin typeface="Consolas"/>
              </a:rPr>
              <a:t>8,785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919472" y="3685032"/>
            <a:ext cx="1097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950" b="1" i="0">
                <a:solidFill>
                  <a:srgbClr val="8B0000"/>
                </a:solidFill>
                <a:latin typeface="Consolas"/>
              </a:rPr>
              <a:t>6,275x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792" y="4009644"/>
            <a:ext cx="53949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8B0000"/>
                </a:solidFill>
                <a:latin typeface="Segoe UI"/>
              </a:rPr>
              <a:t>Even LSTM h=2 (43 params, 31x over) is seed-unstable: AUROC 0.854 / 0.882 / 0.918 across three seeds.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0" y="1261872"/>
            <a:ext cx="5376672" cy="3310128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28816" y="1335024"/>
            <a:ext cx="51206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14263A"/>
                </a:solidFill>
                <a:latin typeface="Segoe UI"/>
              </a:rPr>
              <a:t>WHAT WAS STILL TRIED (HONEST PROBES, LOVO)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0" y="1645920"/>
            <a:ext cx="5029200" cy="2834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950" b="1">
                <a:solidFill>
                  <a:srgbClr val="14263A"/>
                </a:solidFill>
                <a:latin typeface="Segoe UI"/>
              </a:rPr>
              <a:t>Sequence probes (G2, screening):  </a:t>
            </a:r>
            <a:r>
              <a:rPr sz="950" b="0">
                <a:solidFill>
                  <a:srgbClr val="212B36"/>
                </a:solidFill>
                <a:latin typeface="Segoe UI"/>
              </a:rPr>
              <a:t>PCA3 0.868-0.900 (PC1 leak-flagged: r +0.50 vs n_weeks); trend-coefficient Ridge 0.918-0.925; 1-NN margin 0.914. None survives the leak audit with a genuine edge.</a:t>
            </a:r>
          </a:p>
          <a:p>
            <a:pPr algn="l">
              <a:spcAft>
                <a:spcPts val="800"/>
              </a:spcAft>
            </a:pPr>
            <a:r>
              <a:rPr sz="950" b="1">
                <a:solidFill>
                  <a:srgbClr val="14263A"/>
                </a:solidFill>
                <a:latin typeface="Segoe UI"/>
              </a:rPr>
              <a:t>Variant sweep (B4, non-nested V1-era screening):  </a:t>
            </a:r>
            <a:r>
              <a:rPr sz="950" b="0">
                <a:solidFill>
                  <a:srgbClr val="212B36"/>
                </a:solidFill>
                <a:latin typeface="Segoe UI"/>
              </a:rPr>
              <a:t>baseline 0.9214; drop-artifact 0.8643; +within-week noise feature 0.9679 - the screening high-water mark that motivated V1.1's winning feature.</a:t>
            </a:r>
          </a:p>
          <a:p>
            <a:pPr algn="l">
              <a:spcAft>
                <a:spcPts val="800"/>
              </a:spcAft>
            </a:pPr>
            <a:r>
              <a:rPr sz="950" b="1">
                <a:solidFill>
                  <a:srgbClr val="B45309"/>
                </a:solidFill>
                <a:latin typeface="Segoe UI"/>
              </a:rPr>
              <a:t>Screening numbers are NOT comparable to the nested 0.9321 - they exist to pick candidates, and are labeled as such wherever quoted.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11480" y="6053328"/>
            <a:ext cx="6720840" cy="530352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11480" y="6053328"/>
            <a:ext cx="64008" cy="530352"/>
          </a:xfrm>
          <a:prstGeom prst="rect">
            <a:avLst/>
          </a:prstGeom>
          <a:solidFill>
            <a:srgbClr val="142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1792" y="6108192"/>
            <a:ext cx="6400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1" i="0">
                <a:solidFill>
                  <a:srgbClr val="5B6B7C"/>
                </a:solidFill>
                <a:latin typeface="Segoe UI"/>
              </a:rPr>
              <a:t>ENGINEERING TAKEAWAY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1792" y="6272784"/>
            <a:ext cx="6400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1" i="0">
                <a:solidFill>
                  <a:srgbClr val="14263A"/>
                </a:solidFill>
                <a:latin typeface="Segoe UI"/>
              </a:rPr>
              <a:t>At 14 failures, capacity is the enemy: anything bigger than ~5 parameters memorizes epoch, not physics.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269480" y="6053328"/>
            <a:ext cx="4507992" cy="530352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269480" y="6053328"/>
            <a:ext cx="64008" cy="530352"/>
          </a:xfrm>
          <a:prstGeom prst="rect">
            <a:avLst/>
          </a:prstGeom>
          <a:solidFill>
            <a:srgbClr val="0E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479792" y="6108192"/>
            <a:ext cx="42062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1" i="0">
                <a:solidFill>
                  <a:srgbClr val="5B6B7C"/>
                </a:solidFill>
                <a:latin typeface="Segoe UI"/>
              </a:rPr>
              <a:t>REVIEW / DECISION POINT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479792" y="6272784"/>
            <a:ext cx="4206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1" i="0">
                <a:solidFill>
                  <a:srgbClr val="0E6E6E"/>
                </a:solidFill>
                <a:latin typeface="Segoe UI"/>
              </a:rPr>
              <a:t>Adopt the EPV parameter-budget rule for all proposed model work until n_failed &gt;= 30-50.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11480" y="6638544"/>
            <a:ext cx="113842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 i="0">
                <a:solidFill>
                  <a:srgbClr val="5B6B7C"/>
                </a:solidFill>
                <a:latin typeface="Segoe UI"/>
              </a:rPr>
              <a:t>Starter Motor Failure Prediction V1.1  ·  Internal engineering review — full technical disclosure  ·  Not for external distribution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42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" y="0"/>
            <a:ext cx="91440" cy="566928"/>
          </a:xfrm>
          <a:prstGeom prst="rect">
            <a:avLst/>
          </a:prstGeom>
          <a:solidFill>
            <a:srgbClr val="0E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01168"/>
            <a:ext cx="9692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5B6B7C"/>
                </a:solidFill>
                <a:latin typeface="Segoe UI"/>
              </a:rPr>
              <a:t>INTERNAL · TECHNICAL REVIEW  —  DATA-QUALITY AUDIT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29768"/>
            <a:ext cx="104241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300" b="1" i="0">
                <a:solidFill>
                  <a:srgbClr val="14263A"/>
                </a:solidFill>
                <a:latin typeface="Segoe UI"/>
              </a:rPr>
              <a:t>Probe atlas: what the A-track found before a single feature was built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219456"/>
            <a:ext cx="868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1000" b="0" i="0">
                <a:solidFill>
                  <a:srgbClr val="5B6B7C"/>
                </a:solidFill>
                <a:latin typeface="Segoe UI"/>
              </a:rPr>
              <a:t>23 / 25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261872"/>
            <a:ext cx="3675887" cy="2212848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261872"/>
            <a:ext cx="64008" cy="2212848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76072" y="1353312"/>
            <a:ext cx="338327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1" i="0">
                <a:solidFill>
                  <a:srgbClr val="1565C0"/>
                </a:solidFill>
                <a:latin typeface="Segoe UI"/>
              </a:rPr>
              <a:t>P1 · LABELS &amp; LIFETIME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72" y="1664208"/>
            <a:ext cx="3383279" cy="1709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80" b="0" i="0">
                <a:solidFill>
                  <a:srgbClr val="212B36"/>
                </a:solidFill>
                <a:latin typeface="Segoe UI"/>
              </a:rPr>
              <a:t>Failure_type constant across all failed rows; 0 rows after JCOPENDATE; 9/14 failed VINs transmit up to the JCO day; sale-to-failure life 171-671 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56531" y="1261872"/>
            <a:ext cx="3675887" cy="2212848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56531" y="1261872"/>
            <a:ext cx="64008" cy="2212848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21123" y="1353312"/>
            <a:ext cx="338327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1" i="0">
                <a:solidFill>
                  <a:srgbClr val="1565C0"/>
                </a:solidFill>
                <a:latin typeface="Segoe UI"/>
              </a:rPr>
              <a:t>P2 · MISSINGNESS = 3 LAYERS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21123" y="1664208"/>
            <a:ext cx="3383279" cy="1709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80" b="0" i="0">
                <a:solidFill>
                  <a:srgbClr val="212B36"/>
                </a:solidFill>
                <a:latin typeface="Segoe UI"/>
              </a:rPr>
              <a:t>config (SMA-dead: 99.7-99.9% null), regime (engine-off nulls 13-86% = duty cycle), cohort (VSI null 13.3% F vs 18.6% NF). Features must be regime-aware.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01582" y="1261872"/>
            <a:ext cx="3675887" cy="2212848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01582" y="1261872"/>
            <a:ext cx="64008" cy="2212848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66174" y="1353312"/>
            <a:ext cx="338327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1" i="0">
                <a:solidFill>
                  <a:srgbClr val="B45309"/>
                </a:solidFill>
                <a:latin typeface="Segoe UI"/>
              </a:rPr>
              <a:t>P3 · SAMPLING FAMILIES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66174" y="1664208"/>
            <a:ext cx="3383279" cy="1709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80" b="0" i="0">
                <a:solidFill>
                  <a:srgbClr val="212B36"/>
                </a:solidFill>
                <a:latin typeface="Segoe UI"/>
              </a:rPr>
              <a:t>median dt 5 s; continuous (p99 6 s) vs rest-heartbeat (p99 ~900 s). Gap counts classify at 0.868-0.875 = volume proxies -&gt; banned as features.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3621024"/>
            <a:ext cx="3675887" cy="2212848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11480" y="3621024"/>
            <a:ext cx="64008" cy="2212848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6072" y="3712464"/>
            <a:ext cx="338327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1" i="0">
                <a:solidFill>
                  <a:srgbClr val="B45309"/>
                </a:solidFill>
                <a:latin typeface="Segoe UI"/>
              </a:rPr>
              <a:t>P4 · VSI SENSOR REALITY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6072" y="4023360"/>
            <a:ext cx="3383279" cy="1709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80" b="0" i="0">
                <a:solidFill>
                  <a:srgbClr val="212B36"/>
                </a:solidFill>
                <a:latin typeface="Segoe UI"/>
              </a:rPr>
              <a:t>0.2 V quantization (168 distinct values); per-truck setpoints 27.6-28.2 V (fleet std ~1 LSB) -&gt; per-VIN baselining mandatory; stuck runs (&lt;=58 h) not failure-correlated.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56531" y="3621024"/>
            <a:ext cx="3675887" cy="2212848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256531" y="3621024"/>
            <a:ext cx="64008" cy="2212848"/>
          </a:xfrm>
          <a:prstGeom prst="rect">
            <a:avLst/>
          </a:prstGeom>
          <a:solidFill>
            <a:srgbClr val="1B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21123" y="3712464"/>
            <a:ext cx="338327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1" i="0">
                <a:solidFill>
                  <a:srgbClr val="1B7A3D"/>
                </a:solidFill>
                <a:latin typeface="Segoe UI"/>
              </a:rPr>
              <a:t>P5 · SINGLE-SIGNAL SCREENS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21123" y="4023360"/>
            <a:ext cx="3383279" cy="1709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80" b="0" i="0">
                <a:solidFill>
                  <a:srgbClr val="212B36"/>
                </a:solidFill>
                <a:latin typeface="Segoe UI"/>
              </a:rPr>
              <a:t>vsi_drive_std 0.732 · settled p05 0.734 · rest p05 0.729. Dead ends: RPM profile 0.500, crank duration 0.507, dip-depth LEVEL 0.575, success rate 0.543.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101582" y="3621024"/>
            <a:ext cx="3675887" cy="2212848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101582" y="3621024"/>
            <a:ext cx="64008" cy="2212848"/>
          </a:xfrm>
          <a:prstGeom prst="rect">
            <a:avLst/>
          </a:prstGeom>
          <a:solidFill>
            <a:srgbClr val="1B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66174" y="3712464"/>
            <a:ext cx="338327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1" i="0">
                <a:solidFill>
                  <a:srgbClr val="1B7A3D"/>
                </a:solidFill>
                <a:latin typeface="Segoe UI"/>
              </a:rPr>
              <a:t>P6 · LATENT DEGRADATION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66174" y="4023360"/>
            <a:ext cx="3383279" cy="1709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80" b="0" i="0">
                <a:solidFill>
                  <a:srgbClr val="212B36"/>
                </a:solidFill>
                <a:latin typeface="Segoe UI"/>
              </a:rPr>
              <a:t>within-VIN delta(vsi_drive_std), last 8 wks vs own baseline: AUROC 0.893 (calendar-matched control 0.889); 9/14 failed respond; onset up to 294 d (VIN13_F) / 280 d (VIN6_F).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11480" y="6053328"/>
            <a:ext cx="6720840" cy="530352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11480" y="6053328"/>
            <a:ext cx="64008" cy="530352"/>
          </a:xfrm>
          <a:prstGeom prst="rect">
            <a:avLst/>
          </a:prstGeom>
          <a:solidFill>
            <a:srgbClr val="142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1792" y="6108192"/>
            <a:ext cx="6400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1" i="0">
                <a:solidFill>
                  <a:srgbClr val="5B6B7C"/>
                </a:solidFill>
                <a:latin typeface="Segoe UI"/>
              </a:rPr>
              <a:t>ENGINEERING TAKEAWAY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1792" y="6272784"/>
            <a:ext cx="6400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1" i="0">
                <a:solidFill>
                  <a:srgbClr val="14263A"/>
                </a:solidFill>
                <a:latin typeface="Segoe UI"/>
              </a:rPr>
              <a:t>The audit found the signal (within-VIN volatility deltas, P6) and the traps (volume, epoch, config) before modeling began.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269480" y="6053328"/>
            <a:ext cx="4507992" cy="530352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269480" y="6053328"/>
            <a:ext cx="64008" cy="530352"/>
          </a:xfrm>
          <a:prstGeom prst="rect">
            <a:avLst/>
          </a:prstGeom>
          <a:solidFill>
            <a:srgbClr val="0E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479792" y="6108192"/>
            <a:ext cx="42062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1" i="0">
                <a:solidFill>
                  <a:srgbClr val="5B6B7C"/>
                </a:solidFill>
                <a:latin typeface="Segoe UI"/>
              </a:rPr>
              <a:t>REVIEW / DECISION POINT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79792" y="6272784"/>
            <a:ext cx="4206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1" i="0">
                <a:solidFill>
                  <a:srgbClr val="0E6E6E"/>
                </a:solidFill>
                <a:latin typeface="Segoe UI"/>
              </a:rPr>
              <a:t>Carry P2-P4 forward as mandatory preprocessing requirements for the 500-truck scale-up.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11480" y="6638544"/>
            <a:ext cx="113842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 i="0">
                <a:solidFill>
                  <a:srgbClr val="5B6B7C"/>
                </a:solidFill>
                <a:latin typeface="Segoe UI"/>
              </a:rPr>
              <a:t>Starter Motor Failure Prediction V1.1  ·  Internal engineering review — full technical disclosure  ·  Not for external distribution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42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" y="0"/>
            <a:ext cx="91440" cy="566928"/>
          </a:xfrm>
          <a:prstGeom prst="rect">
            <a:avLst/>
          </a:prstGeom>
          <a:solidFill>
            <a:srgbClr val="0E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01168"/>
            <a:ext cx="9692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5B6B7C"/>
                </a:solidFill>
                <a:latin typeface="Segoe UI"/>
              </a:rPr>
              <a:t>INTERNAL · TECHNICAL REVIEW  —  REPRODUCIBILITY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29768"/>
            <a:ext cx="104241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300" b="1" i="0">
                <a:solidFill>
                  <a:srgbClr val="14263A"/>
                </a:solidFill>
                <a:latin typeface="Segoe UI"/>
              </a:rPr>
              <a:t>Artifact dependency map: review this deck by re-running 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219456"/>
            <a:ext cx="868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1000" b="0" i="0">
                <a:solidFill>
                  <a:srgbClr val="5B6B7C"/>
                </a:solidFill>
                <a:latin typeface="Segoe UI"/>
              </a:rPr>
              <a:t>24 / 25</a:t>
            </a:r>
          </a:p>
        </p:txBody>
      </p:sp>
      <p:pic>
        <p:nvPicPr>
          <p:cNvPr id="7" name="Picture 6" descr="MMD_D4_artifact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280160"/>
            <a:ext cx="8229600" cy="3193112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8869680" y="1280160"/>
            <a:ext cx="2907792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97696" y="1353312"/>
            <a:ext cx="26517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14263A"/>
                </a:solidFill>
                <a:latin typeface="Segoe UI"/>
              </a:rPr>
              <a:t>DETERMINISM LEDGER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34272" y="1664208"/>
            <a:ext cx="260604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900" b="1">
                <a:solidFill>
                  <a:srgbClr val="14263A"/>
                </a:solidFill>
                <a:latin typeface="Segoe UI"/>
              </a:rPr>
              <a:t>Seeds: </a:t>
            </a:r>
            <a:r>
              <a:rPr sz="900" b="0">
                <a:solidFill>
                  <a:srgbClr val="212B36"/>
                </a:solidFill>
                <a:latin typeface="Segoe UI"/>
              </a:rPr>
              <a:t>bootstrap 42, permutation 43, global numpy 42.</a:t>
            </a:r>
          </a:p>
          <a:p>
            <a:pPr algn="l">
              <a:spcAft>
                <a:spcPts val="700"/>
              </a:spcAft>
            </a:pPr>
            <a:r>
              <a:rPr sz="900" b="1">
                <a:solidFill>
                  <a:srgbClr val="14263A"/>
                </a:solidFill>
                <a:latin typeface="Segoe UI"/>
              </a:rPr>
              <a:t>Runtimes: </a:t>
            </a:r>
            <a:r>
              <a:rPr sz="900" b="0">
                <a:solidFill>
                  <a:srgbClr val="212B36"/>
                </a:solidFill>
                <a:latin typeface="Segoe UI"/>
              </a:rPr>
              <a:t>nested main 132.7 s; permutation 828.5 s; dashboards ~1 min/VIN.</a:t>
            </a:r>
          </a:p>
          <a:p>
            <a:pPr algn="l">
              <a:spcAft>
                <a:spcPts val="700"/>
              </a:spcAft>
            </a:pPr>
            <a:r>
              <a:rPr sz="900" b="1">
                <a:solidFill>
                  <a:srgbClr val="14263A"/>
                </a:solidFill>
                <a:latin typeface="Segoe UI"/>
              </a:rPr>
              <a:t>Parity: </a:t>
            </a:r>
            <a:r>
              <a:rPr sz="900" b="0">
                <a:solidFill>
                  <a:srgbClr val="212B36"/>
                </a:solidFill>
                <a:latin typeface="Segoe UI"/>
              </a:rPr>
              <a:t>closed-form Ridge replica verified &lt; 1e-9 vs sklearn.</a:t>
            </a:r>
          </a:p>
          <a:p>
            <a:pPr algn="l">
              <a:spcAft>
                <a:spcPts val="700"/>
              </a:spcAft>
            </a:pPr>
            <a:r>
              <a:rPr sz="900" b="1">
                <a:solidFill>
                  <a:srgbClr val="14263A"/>
                </a:solidFill>
                <a:latin typeface="Segoe UI"/>
              </a:rPr>
              <a:t>Interpreter: </a:t>
            </a:r>
            <a:r>
              <a:rPr sz="900" b="0">
                <a:solidFill>
                  <a:srgbClr val="212B36"/>
                </a:solidFill>
                <a:latin typeface="Segoe UI"/>
              </a:rPr>
              <a:t>py -3 (repo convention); no GPU, no cloud dependency.</a:t>
            </a:r>
          </a:p>
          <a:p>
            <a:pPr algn="l">
              <a:spcAft>
                <a:spcPts val="700"/>
              </a:spcAft>
            </a:pPr>
            <a:r>
              <a:rPr sz="900" b="1">
                <a:solidFill>
                  <a:srgbClr val="14263A"/>
                </a:solidFill>
                <a:latin typeface="Segoe UI"/>
              </a:rPr>
              <a:t>Traceability: </a:t>
            </a:r>
            <a:r>
              <a:rPr sz="900" b="0">
                <a:solidFill>
                  <a:srgbClr val="212B36"/>
                </a:solidFill>
                <a:latin typeface="Segoe UI"/>
              </a:rPr>
              <a:t>display renumbering in V1_1_SM_vin_naming_map.csv; gates.json is the machine-readable audit record.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5257800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14263A"/>
                </a:solidFill>
                <a:latin typeface="Segoe UI"/>
              </a:rPr>
              <a:t>Single-command re-runs:  </a:t>
            </a:r>
            <a:r>
              <a:rPr sz="950" b="0">
                <a:solidFill>
                  <a:srgbClr val="212B36"/>
                </a:solidFill>
                <a:latin typeface="Segoe UI"/>
              </a:rPr>
              <a:t>V1_1_SM_features.py -&gt; V1_1_SM_nested_ridge.py -&gt; V1_1_SM_alerts.py -&gt; V1_1_SM_horizon.py -&gt; V1_1_SM_production_graphs.py (each regenerates its artifacts in place).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6053328"/>
            <a:ext cx="6720840" cy="530352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1480" y="6053328"/>
            <a:ext cx="64008" cy="530352"/>
          </a:xfrm>
          <a:prstGeom prst="rect">
            <a:avLst/>
          </a:prstGeom>
          <a:solidFill>
            <a:srgbClr val="142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" y="6108192"/>
            <a:ext cx="6400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1" i="0">
                <a:solidFill>
                  <a:srgbClr val="5B6B7C"/>
                </a:solidFill>
                <a:latin typeface="Segoe UI"/>
              </a:rPr>
              <a:t>ENGINEERING TAKEAWAY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6272784"/>
            <a:ext cx="6400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1" i="0">
                <a:solidFill>
                  <a:srgbClr val="14263A"/>
                </a:solidFill>
                <a:latin typeface="Segoe UI"/>
              </a:rPr>
              <a:t>Fixed seeds, committed artifacts, named scripts - every number in this deck regenerates on demand.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269480" y="6053328"/>
            <a:ext cx="4507992" cy="530352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269480" y="6053328"/>
            <a:ext cx="64008" cy="530352"/>
          </a:xfrm>
          <a:prstGeom prst="rect">
            <a:avLst/>
          </a:prstGeom>
          <a:solidFill>
            <a:srgbClr val="0E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79792" y="6108192"/>
            <a:ext cx="42062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1" i="0">
                <a:solidFill>
                  <a:srgbClr val="5B6B7C"/>
                </a:solidFill>
                <a:latin typeface="Segoe UI"/>
              </a:rPr>
              <a:t>REVIEW / DECISION POINT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79792" y="6272784"/>
            <a:ext cx="4206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1" i="0">
                <a:solidFill>
                  <a:srgbClr val="0E6E6E"/>
                </a:solidFill>
                <a:latin typeface="Segoe UI"/>
              </a:rPr>
              <a:t>Archive the V1.1 artifact set as the frozen reference package for all future iteration comparisons.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6638544"/>
            <a:ext cx="113842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 i="0">
                <a:solidFill>
                  <a:srgbClr val="5B6B7C"/>
                </a:solidFill>
                <a:latin typeface="Segoe UI"/>
              </a:rPr>
              <a:t>Starter Motor Failure Prediction V1.1  ·  Internal engineering review — full technical disclosure  ·  Not for external distribution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42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" y="0"/>
            <a:ext cx="91440" cy="566928"/>
          </a:xfrm>
          <a:prstGeom prst="rect">
            <a:avLst/>
          </a:prstGeom>
          <a:solidFill>
            <a:srgbClr val="0E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201168"/>
            <a:ext cx="9692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5B6B7C"/>
                </a:solidFill>
                <a:latin typeface="Segoe UI"/>
              </a:rPr>
              <a:t>INTERNAL · TECHNICAL REVIEW  —  SIGN-OFF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29768"/>
            <a:ext cx="1042416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2300" b="1" i="0">
                <a:solidFill>
                  <a:srgbClr val="14263A"/>
                </a:solidFill>
                <a:latin typeface="Segoe UI"/>
              </a:rPr>
              <a:t>Recommendations: ship the validated core, instrument for the next ceiling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219456"/>
            <a:ext cx="868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200"/>
              </a:spcAft>
            </a:pPr>
            <a:r>
              <a:rPr sz="1000" b="0" i="0">
                <a:solidFill>
                  <a:srgbClr val="5B6B7C"/>
                </a:solidFill>
                <a:latin typeface="Segoe UI"/>
              </a:rPr>
              <a:t>25 / 25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261872"/>
            <a:ext cx="548640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9496" y="1335024"/>
            <a:ext cx="523036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1B7A3D"/>
                </a:solidFill>
                <a:latin typeface="Segoe UI"/>
              </a:rPr>
              <a:t>SHIP NOW (VALIDATED IN V1.1)</a:t>
            </a:r>
          </a:p>
        </p:txBody>
      </p:sp>
      <p:sp>
        <p:nvSpPr>
          <p:cNvPr id="9" name="Oval 8"/>
          <p:cNvSpPr/>
          <p:nvPr/>
        </p:nvSpPr>
        <p:spPr>
          <a:xfrm>
            <a:off x="621792" y="1709928"/>
            <a:ext cx="100584" cy="100584"/>
          </a:xfrm>
          <a:prstGeom prst="ellipse">
            <a:avLst/>
          </a:prstGeom>
          <a:solidFill>
            <a:srgbClr val="1B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1645920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12B36"/>
                </a:solidFill>
                <a:latin typeface="Segoe UI"/>
              </a:rPr>
              <a:t>Frozen modal-4 nested RidgeClassifier scorer + per-fold Platt probabilities (spec, seeds, artifacts committed)</a:t>
            </a:r>
          </a:p>
        </p:txBody>
      </p:sp>
      <p:sp>
        <p:nvSpPr>
          <p:cNvPr id="11" name="Oval 10"/>
          <p:cNvSpPr/>
          <p:nvPr/>
        </p:nvSpPr>
        <p:spPr>
          <a:xfrm>
            <a:off x="621792" y="2139696"/>
            <a:ext cx="100584" cy="100584"/>
          </a:xfrm>
          <a:prstGeom prst="ellipse">
            <a:avLst/>
          </a:prstGeom>
          <a:solidFill>
            <a:srgbClr val="1B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2075688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12B36"/>
                </a:solidFill>
                <a:latin typeface="Segoe UI"/>
              </a:rPr>
              <a:t>GREEN/AMBER/RED tier rule on recalibrated P (0.35 / 0.55)</a:t>
            </a:r>
          </a:p>
        </p:txBody>
      </p:sp>
      <p:sp>
        <p:nvSpPr>
          <p:cNvPr id="13" name="Oval 12"/>
          <p:cNvSpPr/>
          <p:nvPr/>
        </p:nvSpPr>
        <p:spPr>
          <a:xfrm>
            <a:off x="621792" y="2569464"/>
            <a:ext cx="100584" cy="100584"/>
          </a:xfrm>
          <a:prstGeom prst="ellipse">
            <a:avLst/>
          </a:prstGeom>
          <a:solidFill>
            <a:srgbClr val="1B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" y="2505456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12B36"/>
                </a:solidFill>
                <a:latin typeface="Segoe UI"/>
              </a:rPr>
              <a:t>3-channel alert policy with the verdicts of slide 13</a:t>
            </a:r>
          </a:p>
        </p:txBody>
      </p:sp>
      <p:sp>
        <p:nvSpPr>
          <p:cNvPr id="15" name="Oval 14"/>
          <p:cNvSpPr/>
          <p:nvPr/>
        </p:nvSpPr>
        <p:spPr>
          <a:xfrm>
            <a:off x="621792" y="2999232"/>
            <a:ext cx="100584" cy="100584"/>
          </a:xfrm>
          <a:prstGeom prst="ellipse">
            <a:avLst/>
          </a:prstGeom>
          <a:solidFill>
            <a:srgbClr val="1B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" y="2935224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12B36"/>
                </a:solidFill>
                <a:latin typeface="Segoe UI"/>
              </a:rPr>
              <a:t>Weekly scoring cadence; &lt;=10-week horizon as the only forward claim</a:t>
            </a:r>
          </a:p>
        </p:txBody>
      </p:sp>
      <p:sp>
        <p:nvSpPr>
          <p:cNvPr id="17" name="Oval 16"/>
          <p:cNvSpPr/>
          <p:nvPr/>
        </p:nvSpPr>
        <p:spPr>
          <a:xfrm>
            <a:off x="621792" y="3429000"/>
            <a:ext cx="100584" cy="100584"/>
          </a:xfrm>
          <a:prstGeom prst="ellipse">
            <a:avLst/>
          </a:prstGeom>
          <a:solidFill>
            <a:srgbClr val="1B7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" y="3364992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212B36"/>
                </a:solidFill>
                <a:latin typeface="Segoe UI"/>
              </a:rPr>
              <a:t>34 per-VIN dashboards + explanation cards for workshop use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4041648"/>
            <a:ext cx="5486400" cy="181051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9496" y="4114800"/>
            <a:ext cx="523036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14263A"/>
                </a:solidFill>
                <a:latin typeface="Segoe UI"/>
              </a:rPr>
              <a:t>PILOT WORKSTREAMS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4407408"/>
            <a:ext cx="512064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950" b="0">
                <a:solidFill>
                  <a:srgbClr val="212B36"/>
                </a:solidFill>
                <a:latin typeface="Segoe UI"/>
              </a:rPr>
              <a:t>1. Alert -&gt; workshop-finding feedback loop (labels for the next iteration).</a:t>
            </a:r>
          </a:p>
          <a:p>
            <a:pPr algn="l">
              <a:spcAft>
                <a:spcPts val="500"/>
              </a:spcAft>
            </a:pPr>
            <a:r>
              <a:rPr sz="950" b="0">
                <a:solidFill>
                  <a:srgbClr val="212B36"/>
                </a:solidFill>
                <a:latin typeface="Segoe UI"/>
              </a:rPr>
              <a:t>2. Telemetry-continuity monitoring (the VIN9_F fix).</a:t>
            </a:r>
          </a:p>
          <a:p>
            <a:pPr algn="l">
              <a:spcAft>
                <a:spcPts val="500"/>
              </a:spcAft>
            </a:pPr>
            <a:r>
              <a:rPr sz="950" b="0">
                <a:solidFill>
                  <a:srgbClr val="212B36"/>
                </a:solidFill>
                <a:latin typeface="Segoe UI"/>
              </a:rPr>
              <a:t>3. Physical inspection of VIN19_NF / VIN16_NF (all-channel healthy trucks).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72200" y="1261872"/>
            <a:ext cx="5605272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00216" y="1335024"/>
            <a:ext cx="53492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 i="0">
                <a:solidFill>
                  <a:srgbClr val="0E6E6E"/>
                </a:solidFill>
                <a:latin typeface="Segoe UI"/>
              </a:rPr>
              <a:t>INSTRUMENTATION ASKS (WHAT BREAKS THE CEILING)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1682496"/>
            <a:ext cx="5257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0E6E6E"/>
                </a:solidFill>
                <a:latin typeface="Segoe UI"/>
              </a:rPr>
              <a:t>&gt;= 1 Hz crank-window logging (during SMA=1)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5080" y="1883664"/>
            <a:ext cx="52578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5B6B7C"/>
                </a:solidFill>
                <a:latin typeface="Segoe UI"/>
              </a:rPr>
              <a:t>revives the physically real brush-wear prognosis channel - biggest unlock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5080" y="2231136"/>
            <a:ext cx="5257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0E6E6E"/>
                </a:solidFill>
                <a:latin typeface="Segoe UI"/>
              </a:rPr>
              <a:t>Cranking current or battery SoC/SoH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5080" y="2432304"/>
            <a:ext cx="52578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5B6B7C"/>
                </a:solidFill>
                <a:latin typeface="Segoe UI"/>
              </a:rPr>
              <a:t>ends the battery-vs-starter ambiguity that caps alert precision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5080" y="2779776"/>
            <a:ext cx="5257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0E6E6E"/>
                </a:solidFill>
                <a:latin typeface="Segoe UI"/>
              </a:rPr>
              <a:t>Maintenance / parts-replacement records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55080" y="2980944"/>
            <a:ext cx="52578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5B6B7C"/>
                </a:solidFill>
                <a:latin typeface="Segoe UI"/>
              </a:rPr>
              <a:t>turns data-derived archetypes into supervised labels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55080" y="3328416"/>
            <a:ext cx="5257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i="0">
                <a:solidFill>
                  <a:srgbClr val="0E6E6E"/>
                </a:solidFill>
                <a:latin typeface="Segoe UI"/>
              </a:rPr>
              <a:t>More failure cases (n_failed &gt;= 30-50)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55080" y="3529584"/>
            <a:ext cx="52578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 i="0">
                <a:solidFill>
                  <a:srgbClr val="5B6B7C"/>
                </a:solidFill>
                <a:latin typeface="Segoe UI"/>
              </a:rPr>
              <a:t>unlocks survival modeling and representation learning credibly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72200" y="4041648"/>
            <a:ext cx="5605272" cy="1810512"/>
          </a:xfrm>
          <a:prstGeom prst="rect">
            <a:avLst/>
          </a:prstGeom>
          <a:solidFill>
            <a:srgbClr val="142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82512" y="4187952"/>
            <a:ext cx="5212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1" i="0">
                <a:solidFill>
                  <a:srgbClr val="9FB3C8"/>
                </a:solidFill>
                <a:latin typeface="Segoe UI"/>
              </a:rPr>
              <a:t>BOTTOM LINE FOR APPROVERS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82512" y="4480560"/>
            <a:ext cx="52120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V1.1 is the audited ceiling of the current telemetry: 0.9321 nested AUROC, calibrated probabilities, a zero-false-alarm pager and a proven 10-week window. Approving the five asks of slide 2 - model freeze, calibrated tiers, alert policy, weekly cadence, instrumentation - ships everything the data supports and funds exactly the data that lifts the ceiling.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11480" y="6053328"/>
            <a:ext cx="6720840" cy="530352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11480" y="6053328"/>
            <a:ext cx="64008" cy="530352"/>
          </a:xfrm>
          <a:prstGeom prst="rect">
            <a:avLst/>
          </a:prstGeom>
          <a:solidFill>
            <a:srgbClr val="142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1792" y="6108192"/>
            <a:ext cx="6400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1" i="0">
                <a:solidFill>
                  <a:srgbClr val="5B6B7C"/>
                </a:solidFill>
                <a:latin typeface="Segoe UI"/>
              </a:rPr>
              <a:t>ENGINEERING TAKEAWAY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792" y="6272784"/>
            <a:ext cx="6400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1" i="0">
                <a:solidFill>
                  <a:srgbClr val="14263A"/>
                </a:solidFill>
                <a:latin typeface="Segoe UI"/>
              </a:rPr>
              <a:t>Approve asks 1-5 (slide 2) to move V1.1 from frozen iteration to operating pilot.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269480" y="6053328"/>
            <a:ext cx="4507992" cy="530352"/>
          </a:xfrm>
          <a:prstGeom prst="rect">
            <a:avLst/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269480" y="6053328"/>
            <a:ext cx="64008" cy="530352"/>
          </a:xfrm>
          <a:prstGeom prst="rect">
            <a:avLst/>
          </a:prstGeom>
          <a:solidFill>
            <a:srgbClr val="0E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479792" y="6108192"/>
            <a:ext cx="42062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1" i="0">
                <a:solidFill>
                  <a:srgbClr val="5B6B7C"/>
                </a:solidFill>
                <a:latin typeface="Segoe UI"/>
              </a:rPr>
              <a:t>REVIEW / DECISION POINT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479792" y="6272784"/>
            <a:ext cx="420624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1" i="0">
                <a:solidFill>
                  <a:srgbClr val="0E6E6E"/>
                </a:solidFill>
                <a:latin typeface="Segoe UI"/>
              </a:rPr>
              <a:t>Sign-off: model freeze · tier+alert policy · weekly cadence · instrumentation requests.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11480" y="6638544"/>
            <a:ext cx="113842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 i="0">
                <a:solidFill>
                  <a:srgbClr val="5B6B7C"/>
                </a:solidFill>
                <a:latin typeface="Segoe UI"/>
              </a:rPr>
              <a:t>Starter Motor Failure Prediction V1.1  ·  Internal engineering review — full technical disclosure  ·  Not for external distribution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