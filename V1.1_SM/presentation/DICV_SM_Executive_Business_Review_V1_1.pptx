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47088"/>
            <a:ext cx="128016" cy="14813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9FB3C8"/>
                </a:solidFill>
                <a:latin typeface="Segoe UI"/>
              </a:rPr>
              <a:t>DAIMLER INDIA COMMERCIAL VEHICLES  ·  FLEET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847088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Starter Motor Failure</a:t>
            </a:r>
          </a:p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Prediction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4930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9D6E3"/>
                </a:solidFill>
                <a:latin typeface="Segoe UI"/>
              </a:rPr>
              <a:t>Executive Business Review  ·  Predictive Intelligence for the BharatBenz Fleet  ·  Version 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1772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513892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9FB3C8"/>
                </a:solidFill>
                <a:latin typeface="Segoe UI"/>
              </a:rPr>
              <a:t>vehicles analysed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461772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106M+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513892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9FB3C8"/>
                </a:solidFill>
                <a:latin typeface="Segoe UI"/>
              </a:rPr>
              <a:t>telemetry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61772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13 of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513892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9FB3C8"/>
                </a:solidFill>
                <a:latin typeface="Segoe UI"/>
              </a:rPr>
              <a:t>failures identified in advance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4617720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168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513892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9FB3C8"/>
                </a:solidFill>
                <a:latin typeface="Segoe UI"/>
              </a:rPr>
              <a:t>median early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6144768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9FB3C8"/>
                </a:solidFill>
                <a:latin typeface="Segoe UI"/>
              </a:rPr>
              <a:t>July 2026  ·  Confidential — prepared for DICV leadership, service engineering, warranty and fleet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5B6B7C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4263A"/>
                </a:solidFill>
                <a:latin typeface="Segoe UI"/>
              </a:rPr>
              <a:t>Validated early warning for starter motor failures — months before they happen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02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2487168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61872"/>
            <a:ext cx="2487168" cy="64008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408176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B7A3D"/>
                </a:solidFill>
                <a:latin typeface="Segoe UI"/>
              </a:rPr>
              <a:t>13 of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1993392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12B36"/>
                </a:solidFill>
                <a:latin typeface="Segoe UI"/>
              </a:rPr>
              <a:t>Failures identified in advance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286000"/>
            <a:ext cx="219456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5B6B7C"/>
                </a:solidFill>
                <a:latin typeface="Segoe UI"/>
              </a:rPr>
              <a:t>Across 14 real starter motor failures, 13 vehicles raised a validated early warning before the failure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261872"/>
            <a:ext cx="2487168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1261872"/>
            <a:ext cx="2487168" cy="64008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1408176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4263A"/>
                </a:solidFill>
                <a:latin typeface="Segoe UI"/>
              </a:rPr>
              <a:t>168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1993392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12B36"/>
                </a:solidFill>
                <a:latin typeface="Segoe UI"/>
              </a:rPr>
              <a:t>Median early-warning lead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9544" y="2286000"/>
            <a:ext cx="219456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5B6B7C"/>
                </a:solidFill>
                <a:latin typeface="Segoe UI"/>
              </a:rPr>
              <a:t>First warning arrived a median 168 days before failure (range 77–424 days) — ample time to plan.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1261872"/>
            <a:ext cx="2487168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1261872"/>
            <a:ext cx="2487168" cy="64008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61304" y="1408176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4263A"/>
                </a:solidFill>
                <a:latin typeface="Segoe UI"/>
              </a:rPr>
              <a:t>93%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1993392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12B36"/>
                </a:solidFill>
                <a:latin typeface="Segoe UI"/>
              </a:rPr>
              <a:t>Risk-ranking 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1304" y="2286000"/>
            <a:ext cx="219456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5B6B7C"/>
                </a:solidFill>
                <a:latin typeface="Segoe UI"/>
              </a:rPr>
              <a:t>AUROC 0.93 (95% CI 0.81–0.99): independently validated ability to rank failing vehicles above healthy ones.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11295"/>
            <a:ext cx="2487168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11295"/>
            <a:ext cx="2487168" cy="640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" y="3657599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B45309"/>
                </a:solidFill>
                <a:latin typeface="Segoe UI"/>
              </a:rPr>
              <a:t>10 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" y="42428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12B36"/>
                </a:solidFill>
                <a:latin typeface="Segoe UI"/>
              </a:rPr>
              <a:t>Validated action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" y="4535423"/>
            <a:ext cx="219456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5B6B7C"/>
                </a:solidFill>
                <a:latin typeface="Segoe UI"/>
              </a:rPr>
              <a:t>A flagged vehicle is typically within ~10 weeks of failure — the confirmed window for maintenance action.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3511295"/>
            <a:ext cx="2487168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63240" y="3511295"/>
            <a:ext cx="2487168" cy="64008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9544" y="3657599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B7A3D"/>
                </a:solidFill>
                <a:latin typeface="Segoe U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9544" y="42428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12B36"/>
                </a:solidFill>
                <a:latin typeface="Segoe UI"/>
              </a:rPr>
              <a:t>Battery-cascade false alarms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9544" y="4535423"/>
            <a:ext cx="219456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5B6B7C"/>
                </a:solidFill>
                <a:latin typeface="Segoe UI"/>
              </a:rPr>
              <a:t>The highest-precision alert fired on 4 failing vehicles and on none of the 20 healthy vehicles.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3511295"/>
            <a:ext cx="2487168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0" y="3511295"/>
            <a:ext cx="2487168" cy="64008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61304" y="3657599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5B6B7C"/>
                </a:solidFill>
                <a:latin typeface="Segoe UI"/>
              </a:rPr>
              <a:t>106M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1304" y="42428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12B36"/>
                </a:solidFill>
                <a:latin typeface="Segoe UI"/>
              </a:rPr>
              <a:t>Telemetry records analysed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1304" y="4535423"/>
            <a:ext cx="219456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5B6B7C"/>
                </a:solidFill>
                <a:latin typeface="Segoe UI"/>
              </a:rPr>
              <a:t>34 vehicles · 2,636 vehicle-weeks · 20,471 engine-start events — evidence base for every claim in this review.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85632" y="1261872"/>
            <a:ext cx="3291840" cy="433425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1408176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FLEET HEALTH AT A GLANCE</a:t>
            </a:r>
          </a:p>
        </p:txBody>
      </p:sp>
      <p:pic>
        <p:nvPicPr>
          <p:cNvPr id="39" name="Picture 38" descr="BIZ_tier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737360"/>
            <a:ext cx="2157984" cy="195362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686800" y="4059936"/>
            <a:ext cx="28895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Every vehicle, every week: </a:t>
            </a:r>
            <a:r>
              <a:rPr sz="950" b="0">
                <a:solidFill>
                  <a:srgbClr val="212B36"/>
                </a:solidFill>
                <a:latin typeface="Segoe UI"/>
              </a:rPr>
              <a:t>one clear health status and one clear action.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8B0000"/>
                </a:solidFill>
                <a:latin typeface="Segoe UI"/>
              </a:rPr>
              <a:t>12 RED</a:t>
            </a:r>
            <a:r>
              <a:rPr sz="950" b="0">
                <a:solidFill>
                  <a:srgbClr val="212B36"/>
                </a:solidFill>
                <a:latin typeface="Segoe UI"/>
              </a:rPr>
              <a:t> — 10 later failed; 2 flagged for inspection.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B45309"/>
                </a:solidFill>
                <a:latin typeface="Segoe UI"/>
              </a:rPr>
              <a:t>2 AMBER</a:t>
            </a:r>
            <a:r>
              <a:rPr sz="950" b="0">
                <a:solidFill>
                  <a:srgbClr val="212B36"/>
                </a:solidFill>
                <a:latin typeface="Segoe UI"/>
              </a:rPr>
              <a:t> — bundled into next service visit.</a:t>
            </a:r>
          </a:p>
          <a:p>
            <a:pPr algn="l">
              <a:spcAft>
                <a:spcPts val="300"/>
              </a:spcAft>
            </a:pPr>
            <a:r>
              <a:rPr sz="950" b="1">
                <a:solidFill>
                  <a:srgbClr val="1B7A3D"/>
                </a:solidFill>
                <a:latin typeface="Segoe UI"/>
              </a:rPr>
              <a:t>20 GREEN</a:t>
            </a:r>
            <a:r>
              <a:rPr sz="950" b="0">
                <a:solidFill>
                  <a:srgbClr val="212B36"/>
                </a:solidFill>
                <a:latin typeface="Segoe UI"/>
              </a:rPr>
              <a:t> — 16 healthy on routine ops; 4 subtle failures, 3 of them still caught by the alert layer (slide 8).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961888"/>
            <a:ext cx="672084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5961888"/>
            <a:ext cx="64008" cy="62179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6035040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KEY TAKEAWAY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208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V1.1 reliably separates degrading starter motors from healthy ones, with months of advance notice on real DICV fleet data.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5961888"/>
            <a:ext cx="4507992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69480" y="5961888"/>
            <a:ext cx="64008" cy="6217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9792" y="6035040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RECOMMENDED ACTION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9792" y="62087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C8102E"/>
                </a:solidFill>
                <a:latin typeface="Segoe UI"/>
              </a:rPr>
              <a:t>Endorse pilot deployment to convert validated warnings into avoided breakdowns.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620256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Daimler India Commercial Vehicles  ·  Starter Motor Failure Prediction Program V1.1  ·  Confidential — for internal DICV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5B6B7C"/>
                </a:solidFill>
                <a:latin typeface="Segoe UI"/>
              </a:rPr>
              <a:t>HOW IT WORKS — BUSINESS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4263A"/>
                </a:solidFill>
                <a:latin typeface="Segoe UI"/>
              </a:rPr>
              <a:t>From vehicle operating data to maintenance decisions, every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03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27706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98448"/>
            <a:ext cx="64008" cy="117043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9496" y="1417320"/>
            <a:ext cx="310896" cy="310896"/>
          </a:xfrm>
          <a:prstGeom prst="ellipse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4401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426464"/>
            <a:ext cx="2112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263A"/>
                </a:solidFill>
                <a:latin typeface="Segoe UI"/>
              </a:rPr>
              <a:t>Vehicle Operational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1773936"/>
            <a:ext cx="2496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7C"/>
                </a:solidFill>
                <a:latin typeface="Segoe UI"/>
              </a:rPr>
              <a:t>Standard on-board electrical and usage signals — no new sensors required</a:t>
            </a:r>
          </a:p>
        </p:txBody>
      </p:sp>
      <p:sp>
        <p:nvSpPr>
          <p:cNvPr id="13" name="Chevron 12"/>
          <p:cNvSpPr/>
          <p:nvPr/>
        </p:nvSpPr>
        <p:spPr>
          <a:xfrm>
            <a:off x="3177540" y="1801368"/>
            <a:ext cx="164592" cy="164592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298448"/>
            <a:ext cx="27706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298448"/>
            <a:ext cx="64008" cy="117043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65576" y="1417320"/>
            <a:ext cx="310896" cy="310896"/>
          </a:xfrm>
          <a:prstGeom prst="ellipse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5576" y="14401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7912" y="1426464"/>
            <a:ext cx="2112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263A"/>
                </a:solidFill>
                <a:latin typeface="Segoe UI"/>
              </a:rPr>
              <a:t>Continuous Health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1773936"/>
            <a:ext cx="2496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7C"/>
                </a:solidFill>
                <a:latin typeface="Segoe UI"/>
              </a:rPr>
              <a:t>Predictive Intelligence Engine evaluates each vehicle's electrical behaviour weekly</a:t>
            </a:r>
          </a:p>
        </p:txBody>
      </p:sp>
      <p:sp>
        <p:nvSpPr>
          <p:cNvPr id="20" name="Chevron 19"/>
          <p:cNvSpPr/>
          <p:nvPr/>
        </p:nvSpPr>
        <p:spPr>
          <a:xfrm>
            <a:off x="6103620" y="1801368"/>
            <a:ext cx="164592" cy="164592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298448"/>
            <a:ext cx="27706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298448"/>
            <a:ext cx="64008" cy="117043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91656" y="1417320"/>
            <a:ext cx="310896" cy="310896"/>
          </a:xfrm>
          <a:prstGeom prst="ellipse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14401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1426464"/>
            <a:ext cx="2112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263A"/>
                </a:solidFill>
                <a:latin typeface="Segoe UI"/>
              </a:rPr>
              <a:t>Early Risk Identification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1773936"/>
            <a:ext cx="2496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7C"/>
                </a:solidFill>
                <a:latin typeface="Segoe UI"/>
              </a:rPr>
              <a:t>Departures from the vehicle's own healthy pattern are detected months ahead</a:t>
            </a:r>
          </a:p>
        </p:txBody>
      </p:sp>
      <p:sp>
        <p:nvSpPr>
          <p:cNvPr id="27" name="Chevron 26"/>
          <p:cNvSpPr/>
          <p:nvPr/>
        </p:nvSpPr>
        <p:spPr>
          <a:xfrm>
            <a:off x="9029700" y="1801368"/>
            <a:ext cx="164592" cy="164592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1298448"/>
            <a:ext cx="27706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1298448"/>
            <a:ext cx="64008" cy="117043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17736" y="1417320"/>
            <a:ext cx="310896" cy="310896"/>
          </a:xfrm>
          <a:prstGeom prst="ellipse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7736" y="14401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1426464"/>
            <a:ext cx="2112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263A"/>
                </a:solidFill>
                <a:latin typeface="Segoe UI"/>
              </a:rPr>
              <a:t>Vehicle Risk Classification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6024" y="1773936"/>
            <a:ext cx="2496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7C"/>
                </a:solidFill>
                <a:latin typeface="Segoe UI"/>
              </a:rPr>
              <a:t>Each vehicle is classified GREEN / AMBER / RED with a validated risk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670048"/>
            <a:ext cx="27706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2670048"/>
            <a:ext cx="64008" cy="11704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9496" y="2788920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8117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" y="2798064"/>
            <a:ext cx="2112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263A"/>
                </a:solidFill>
                <a:latin typeface="Segoe UI"/>
              </a:rPr>
              <a:t>Future Failure Outlook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" y="3145536"/>
            <a:ext cx="2496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7C"/>
                </a:solidFill>
                <a:latin typeface="Segoe UI"/>
              </a:rPr>
              <a:t>Flagged vehicles are typically within ~10 weeks of failure — a confirmed planning window</a:t>
            </a:r>
          </a:p>
        </p:txBody>
      </p:sp>
      <p:sp>
        <p:nvSpPr>
          <p:cNvPr id="40" name="Chevron 39"/>
          <p:cNvSpPr/>
          <p:nvPr/>
        </p:nvSpPr>
        <p:spPr>
          <a:xfrm>
            <a:off x="3177540" y="3172968"/>
            <a:ext cx="164592" cy="164592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37560" y="2670048"/>
            <a:ext cx="27706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37560" y="2670048"/>
            <a:ext cx="64008" cy="11704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65576" y="2788920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65576" y="28117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67912" y="2798064"/>
            <a:ext cx="2112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263A"/>
                </a:solidFill>
                <a:latin typeface="Segoe UI"/>
              </a:rPr>
              <a:t>Maintenance Prioritisation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83864" y="3145536"/>
            <a:ext cx="2496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7C"/>
                </a:solidFill>
                <a:latin typeface="Segoe UI"/>
              </a:rPr>
              <a:t>Workshops see a ranked list: which vehicles, how urgent, what to check first</a:t>
            </a:r>
          </a:p>
        </p:txBody>
      </p:sp>
      <p:sp>
        <p:nvSpPr>
          <p:cNvPr id="47" name="Chevron 46"/>
          <p:cNvSpPr/>
          <p:nvPr/>
        </p:nvSpPr>
        <p:spPr>
          <a:xfrm>
            <a:off x="6103620" y="3172968"/>
            <a:ext cx="164592" cy="164592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2670048"/>
            <a:ext cx="277063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2670048"/>
            <a:ext cx="64008" cy="11704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91656" y="2788920"/>
            <a:ext cx="310896" cy="3108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91656" y="281178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93992" y="2798064"/>
            <a:ext cx="2112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263A"/>
                </a:solidFill>
                <a:latin typeface="Segoe UI"/>
              </a:rPr>
              <a:t>Operational Decision Support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9944" y="3145536"/>
            <a:ext cx="24963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B6B7C"/>
                </a:solidFill>
                <a:latin typeface="Segoe UI"/>
              </a:rPr>
              <a:t>Clear actions: inspect in 2–4 weeks, bundle at next service, or continue routine ops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151376"/>
            <a:ext cx="11365992" cy="1417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4288536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WHAT THIS MEANS OPERATIONALLY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5902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12B36"/>
                </a:solidFill>
                <a:latin typeface="Segoe UI"/>
              </a:rPr>
              <a:t>The engine turns raw operating behaviour into a weekly fleet health report. Maintenance teams no longer wait for a breakdown call: degrading vehicles surface on a ranked watch-list months earlier, spare parts and workshop slots are arranged in advance, and healthy vehicles stay on the road undisturbed. The underlying analytics remain fully managed within the platform — DICV teams interact only with clear statuses and actions.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5961888"/>
            <a:ext cx="672084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1480" y="5961888"/>
            <a:ext cx="64008" cy="62179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" y="6035040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KEY TAKEAWAY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6208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A weekly, fully automated pipeline turns existing vehicle data into ranked, actionable maintenance intelligence.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69480" y="5961888"/>
            <a:ext cx="4507992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69480" y="5961888"/>
            <a:ext cx="64008" cy="6217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79792" y="6035040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RECOMMENDED ACTION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79792" y="62087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C8102E"/>
                </a:solidFill>
                <a:latin typeface="Segoe UI"/>
              </a:rPr>
              <a:t>Integrate the weekly health report into existing workshop planning as the single fleet watch-list.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6620256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Daimler India Commercial Vehicles  ·  Starter Motor Failure Prediction Program V1.1  ·  Confidential — for internal DICV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5B6B7C"/>
                </a:solidFill>
                <a:latin typeface="Segoe UI"/>
              </a:rPr>
              <a:t>VEHICLE CASE STUDY — FAILURE PREDICTED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4263A"/>
                </a:solidFill>
                <a:latin typeface="Segoe UI"/>
              </a:rPr>
              <a:t>VIN6: a starter motor failure signalled 168 days in advance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04 / 09</a:t>
            </a:r>
          </a:p>
        </p:txBody>
      </p:sp>
      <p:pic>
        <p:nvPicPr>
          <p:cNvPr id="7" name="Picture 6" descr="V1_1_SM_VIN6_F_SM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178040" cy="4634975"/>
          </a:xfrm>
          <a:prstGeom prst="rect">
            <a:avLst/>
          </a:prstGeom>
          <a:ln w="9525">
            <a:solidFill>
              <a:srgbClr val="D7DEE5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90688" y="1188720"/>
            <a:ext cx="3986784" cy="4617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1856" y="133502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ANATOMY OF A PREDICTED FAILURE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1856" y="1728216"/>
            <a:ext cx="91440" cy="548640"/>
          </a:xfrm>
          <a:prstGeom prst="rect">
            <a:avLst/>
          </a:prstGeom>
          <a:solidFill>
            <a:srgbClr val="6C3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700784"/>
            <a:ext cx="3429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6C3383"/>
                </a:solidFill>
                <a:latin typeface="Segoe UI"/>
              </a:rPr>
              <a:t>19 May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4" y="1901952"/>
            <a:ext cx="34290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Early warning: sustained electrical volatility alert — vehicle enters the watch-list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1856" y="2386584"/>
            <a:ext cx="9144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2359152"/>
            <a:ext cx="3429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B7950B"/>
                </a:solidFill>
                <a:latin typeface="Segoe UI"/>
              </a:rPr>
              <a:t>25 May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560320"/>
            <a:ext cx="34290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Risk score leaves the healthy band — monitoring intensified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6" y="3044952"/>
            <a:ext cx="91440" cy="54864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3017520"/>
            <a:ext cx="3429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8B0000"/>
                </a:solidFill>
                <a:latin typeface="Segoe UI"/>
              </a:rPr>
              <a:t>25 Aug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3218688"/>
            <a:ext cx="34290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Battery-cascade alert confirms the pathway — 70 days before failure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1856" y="3703320"/>
            <a:ext cx="91440" cy="548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3675888"/>
            <a:ext cx="3429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B45309"/>
                </a:solidFill>
                <a:latin typeface="Segoe UI"/>
              </a:rPr>
              <a:t>31 Aug — 19 Oct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877056"/>
            <a:ext cx="34290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Risk climbs steadily into RED: inspection and parts planning window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4361688"/>
            <a:ext cx="91440" cy="548640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4334256"/>
            <a:ext cx="3429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8B0000"/>
                </a:solidFill>
                <a:latin typeface="Segoe UI"/>
              </a:rPr>
              <a:t>04 Nov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4535424"/>
            <a:ext cx="34290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Failure occurs — after a 168-day warning runway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1856" y="5065776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263A"/>
                </a:solidFill>
                <a:latin typeface="Segoe UI"/>
              </a:rPr>
              <a:t>With V1.1 live, this vehicle books a workshop slot in September — not a roadside recovery in November.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961888"/>
            <a:ext cx="672084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961888"/>
            <a:ext cx="64008" cy="62179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035040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KEY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208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Progressive degradation was visible, staged and confirmed by two independent alerts long before failure.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5961888"/>
            <a:ext cx="4507992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9480" y="5961888"/>
            <a:ext cx="64008" cy="6217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9792" y="6035040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RECOMMENDED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62087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C8102E"/>
                </a:solidFill>
                <a:latin typeface="Segoe UI"/>
              </a:rPr>
              <a:t>Use this case as the pilot's operating template: alert → inspect → planned replacement.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620256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Daimler India Commercial Vehicles  ·  Starter Motor Failure Prediction Program V1.1  ·  Confidential — for internal DICV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5B6B7C"/>
                </a:solidFill>
                <a:latin typeface="Segoe UI"/>
              </a:rPr>
              <a:t>VEHICLE CASE STUDIES — FAILURE PREDICTED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4263A"/>
                </a:solidFill>
                <a:latin typeface="Segoe UI"/>
              </a:rPr>
              <a:t>Different failure signatures, same result: months of advance notice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05 / 09</a:t>
            </a:r>
          </a:p>
        </p:txBody>
      </p:sp>
      <p:pic>
        <p:nvPicPr>
          <p:cNvPr id="7" name="Picture 6" descr="V1_1_SM_VIN10_F_SM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07008"/>
            <a:ext cx="5596128" cy="3613509"/>
          </a:xfrm>
          <a:prstGeom prst="rect">
            <a:avLst/>
          </a:prstGeom>
          <a:ln w="9525">
            <a:solidFill>
              <a:srgbClr val="D7DEE5"/>
            </a:solidFill>
          </a:ln>
        </p:spPr>
      </p:pic>
      <p:pic>
        <p:nvPicPr>
          <p:cNvPr id="8" name="Picture 7" descr="V1_1_SM_VIN14_F_SM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207008"/>
            <a:ext cx="5596128" cy="3613509"/>
          </a:xfrm>
          <a:prstGeom prst="rect">
            <a:avLst/>
          </a:prstGeom>
          <a:ln w="9525">
            <a:solidFill>
              <a:srgbClr val="D7DEE5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411480" y="4956048"/>
            <a:ext cx="5596128" cy="8412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038344"/>
            <a:ext cx="5349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VIN10 — starter-mechanism wear signature.  </a:t>
            </a:r>
            <a:r>
              <a:rPr sz="950" b="0">
                <a:solidFill>
                  <a:srgbClr val="212B36"/>
                </a:solidFill>
                <a:latin typeface="Segoe UI"/>
              </a:rPr>
              <a:t>Crank-anomaly alert fired 160 days before failure; risk climbed GREEN → RED five months ahead. Final risk 100%.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4956048"/>
            <a:ext cx="5596128" cy="8412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5038344"/>
            <a:ext cx="5349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VIN14 — mixed electrical signature.  </a:t>
            </a:r>
            <a:r>
              <a:rPr sz="950" b="0">
                <a:solidFill>
                  <a:srgbClr val="212B36"/>
                </a:solidFill>
                <a:latin typeface="Segoe UI"/>
              </a:rPr>
              <a:t>First warning 245 days ahead; battery-cascade confirmation 28 days before failure. Joint-highest risk score in the fleet (1.00).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961888"/>
            <a:ext cx="672084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5961888"/>
            <a:ext cx="64008" cy="62179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035040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KEY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208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The engine catches distinct degradation pathways — battery-driven, starter-mechanism and electrical-noise signatures alike.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5961888"/>
            <a:ext cx="4507992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5961888"/>
            <a:ext cx="64008" cy="6217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6035040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RECOMMENDED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62087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C8102E"/>
                </a:solidFill>
                <a:latin typeface="Segoe UI"/>
              </a:rPr>
              <a:t>Route each alert type to its matching inspection checklist (battery circuit vs. starter system).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620256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Daimler India Commercial Vehicles  ·  Starter Motor Failure Prediction Program V1.1  ·  Confidential — for internal DICV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5B6B7C"/>
                </a:solidFill>
                <a:latin typeface="Segoe UI"/>
              </a:rPr>
              <a:t>VEHICLE CASE STUDY — HEALTHY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4263A"/>
                </a:solidFill>
                <a:latin typeface="Segoe UI"/>
              </a:rPr>
              <a:t>What healthy looks like: stable scores, self-resolving deviations, zero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06 / 09</a:t>
            </a:r>
          </a:p>
        </p:txBody>
      </p:sp>
      <p:pic>
        <p:nvPicPr>
          <p:cNvPr id="7" name="Picture 6" descr="V1_1_SM_VIN17_NF_SM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178040" cy="4634975"/>
          </a:xfrm>
          <a:prstGeom prst="rect">
            <a:avLst/>
          </a:prstGeom>
          <a:ln w="9525">
            <a:solidFill>
              <a:srgbClr val="D7DEE5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790688" y="1188720"/>
            <a:ext cx="3986784" cy="46177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1856" y="133502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THE HEALTHY-VEHICLE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1856" y="1719072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B7A3D"/>
                </a:solidFill>
                <a:latin typeface="Segoe UI"/>
              </a:rPr>
              <a:t>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1755648"/>
            <a:ext cx="24505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final risk score after 702 days of monitoring — firmly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377440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B7A3D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14016"/>
            <a:ext cx="24505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alerts raised across the full observation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3035808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4263A"/>
                </a:solidFill>
                <a:latin typeface="Segoe UI"/>
              </a:rPr>
              <a:t>10 of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3072384"/>
            <a:ext cx="24505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healthy vehicles never triggered any alert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6" y="3694176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4263A"/>
                </a:solidFill>
                <a:latin typeface="Segoe UI"/>
              </a:rPr>
              <a:t>16 of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3730752"/>
            <a:ext cx="24505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healthy vehicles finished in GREEN; 2 AMBER, 2 RED flagged for precautionary inspection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4398264"/>
            <a:ext cx="3611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Reading the contrast:  </a:t>
            </a:r>
            <a:r>
              <a:rPr sz="950" b="0">
                <a:solidFill>
                  <a:srgbClr val="212B36"/>
                </a:solidFill>
                <a:latin typeface="Segoe UI"/>
              </a:rPr>
              <a:t>short-lived score elevations on healthy vehicles settle back to GREEN on their own. Failing vehicles climb and stay high. That difference — sustained versus transient — is what the engine measures every week.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961888"/>
            <a:ext cx="672084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961888"/>
            <a:ext cx="64008" cy="62179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035040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KEY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208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Healthy vehicles stay green and quiet — the system earns trust by leaving well-running trucks alone.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5961888"/>
            <a:ext cx="4507992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5961888"/>
            <a:ext cx="64008" cy="6217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2" y="6035040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RECOMMENDED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62087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C8102E"/>
                </a:solidFill>
                <a:latin typeface="Segoe UI"/>
              </a:rPr>
              <a:t>Track alert-free healthy-fleet share as a standing KPI during the pilot (baseline: 50% fully quiet, 80% green).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620256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Daimler India Commercial Vehicles  ·  Starter Motor Failure Prediction Program V1.1  ·  Confidential — for internal DICV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5B6B7C"/>
                </a:solidFill>
                <a:latin typeface="Segoe UI"/>
              </a:rPr>
              <a:t>VEHICLE-LEVEL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4263A"/>
                </a:solidFill>
                <a:latin typeface="Segoe UI"/>
              </a:rPr>
              <a:t>One ranked view of all 34 vehicles — maintenance effort flows where risk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07 / 09</a:t>
            </a:r>
          </a:p>
        </p:txBody>
      </p:sp>
      <p:pic>
        <p:nvPicPr>
          <p:cNvPr id="7" name="Picture 6" descr="BIZ_fleet_risk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11365992" cy="39182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4864608"/>
            <a:ext cx="2761488" cy="932688"/>
          </a:xfrm>
          <a:prstGeom prst="rect">
            <a:avLst/>
          </a:prstGeom>
          <a:solidFill>
            <a:srgbClr val="FA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4864608"/>
            <a:ext cx="64008" cy="93268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4937760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8B0000"/>
                </a:solidFill>
                <a:latin typeface="Segoe UI"/>
              </a:rPr>
              <a:t>VIN6_F   ·   RED · risk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5193792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Failed as predicted — 168-day warning validated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8124" y="4864608"/>
            <a:ext cx="2761488" cy="932688"/>
          </a:xfrm>
          <a:prstGeom prst="rect">
            <a:avLst/>
          </a:prstGeom>
          <a:solidFill>
            <a:srgbClr val="FA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8124" y="4864608"/>
            <a:ext cx="64008" cy="932688"/>
          </a:xfrm>
          <a:prstGeom prst="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2716" y="4937760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8B0000"/>
                </a:solidFill>
                <a:latin typeface="Segoe UI"/>
              </a:rPr>
              <a:t>VIN19_NF   ·   RED · risk 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2716" y="5193792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In service — priority inspection within 2–4 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4864608"/>
            <a:ext cx="2761488" cy="932688"/>
          </a:xfrm>
          <a:prstGeom prst="rect">
            <a:avLst/>
          </a:prstGeom>
          <a:solidFill>
            <a:srgbClr val="FB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4864608"/>
            <a:ext cx="64008" cy="9326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937760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</a:rPr>
              <a:t>VIN16_NF   ·   AMBER · risk 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193792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In service — bundle checks into next scheduled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1412" y="4864608"/>
            <a:ext cx="2761488" cy="932688"/>
          </a:xfrm>
          <a:prstGeom prst="rect">
            <a:avLst/>
          </a:prstGeom>
          <a:solidFill>
            <a:srgbClr val="D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1412" y="4864608"/>
            <a:ext cx="64008" cy="932688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4937760"/>
            <a:ext cx="24871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7A3D"/>
                </a:solidFill>
                <a:latin typeface="Segoe UI"/>
              </a:rPr>
              <a:t>VIN17_NF   ·   GREEN · risk 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5193792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In service — routine operation, no action required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961888"/>
            <a:ext cx="672084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961888"/>
            <a:ext cx="64008" cy="62179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035040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KEY 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208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Every vehicle carries a current status, a validated risk score and a clear next action — updated weekly.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5961888"/>
            <a:ext cx="4507992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9480" y="5961888"/>
            <a:ext cx="64008" cy="6217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6035040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RECOMMENDED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62087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C8102E"/>
                </a:solidFill>
                <a:latin typeface="Segoe UI"/>
              </a:rPr>
              <a:t>Adopt the tier rule in workshop planning: RED inspect in 2–4 weeks; AMBER at next service; GREEN routine.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Daimler India Commercial Vehicles  ·  Starter Motor Failure Prediction Program V1.1  ·  Confidential — for internal DICV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5B6B7C"/>
                </a:solidFill>
                <a:latin typeface="Segoe UI"/>
              </a:rPr>
              <a:t>FLEET RISK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4263A"/>
                </a:solidFill>
                <a:latin typeface="Segoe UI"/>
              </a:rPr>
              <a:t>The early-warning runway: how much time maintenance teams actually 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08 / 09</a:t>
            </a:r>
          </a:p>
        </p:txBody>
      </p:sp>
      <p:pic>
        <p:nvPicPr>
          <p:cNvPr id="7" name="Picture 6" descr="BIZ_warning_run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6720840" cy="44155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25296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FROM RISK STAGE TO OPERATIONAL 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591056"/>
            <a:ext cx="4370832" cy="932688"/>
          </a:xfrm>
          <a:prstGeom prst="rect">
            <a:avLst/>
          </a:prstGeom>
          <a:solidFill>
            <a:srgbClr val="D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2" y="167335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B7A3D"/>
                </a:solidFill>
                <a:latin typeface="Segoe UI"/>
              </a:rPr>
              <a:t>GREEN  —  Normal 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2" y="1938528"/>
            <a:ext cx="40690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Weekly monitoring continues in the background; no workshop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633471"/>
            <a:ext cx="4370832" cy="932688"/>
          </a:xfrm>
          <a:prstGeom prst="rect">
            <a:avLst/>
          </a:prstGeom>
          <a:solidFill>
            <a:srgbClr val="FB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2" y="2715767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B45309"/>
                </a:solidFill>
                <a:latin typeface="Segoe UI"/>
              </a:rPr>
              <a:t>AMBER  —  Early degradation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2" y="2980943"/>
            <a:ext cx="40690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Plan ahead: reserve a service slot, stage spares, add checks to the next visit.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3675886"/>
            <a:ext cx="4370832" cy="932688"/>
          </a:xfrm>
          <a:prstGeom prst="rect">
            <a:avLst/>
          </a:prstGeom>
          <a:solidFill>
            <a:srgbClr val="FA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2" y="3758182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8B0000"/>
                </a:solidFill>
                <a:latin typeface="Segoe UI"/>
              </a:rPr>
              <a:t>RED  —  High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2" y="4023358"/>
            <a:ext cx="40690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Inspect starter and battery circuit within 2–4 weeks; vehicle typically within ~10 weeks of failure.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718301"/>
            <a:ext cx="4370832" cy="932688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2" y="4800597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CRITICAL  —  Battery-cascade alert 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5065773"/>
            <a:ext cx="40690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Immediate intervention — this alert produced zero false alarms in validation.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961888"/>
            <a:ext cx="672084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5961888"/>
            <a:ext cx="64008" cy="62179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6035040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KEY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208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12 of 13 detected failures gave more than 3 months of notice — enough to plan parts, slots and vehicle rotation.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5961888"/>
            <a:ext cx="4507992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80" y="5961888"/>
            <a:ext cx="64008" cy="6217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9792" y="6035040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RECOMMENDED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62087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C8102E"/>
                </a:solidFill>
                <a:latin typeface="Segoe UI"/>
              </a:rPr>
              <a:t>Build pilot SOPs around the runway: alert → diagnose → schedule → replace before failure.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620256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Daimler India Commercial Vehicles  ·  Starter Motor Failure Prediction Program V1.1  ·  Confidential — for internal DICV 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5B6B7C"/>
                </a:solidFill>
                <a:latin typeface="Segoe UI"/>
              </a:rPr>
              <a:t>BUSINESS OUTCOMES &amp; 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4263A"/>
                </a:solidFill>
                <a:latin typeface="Segoe UI"/>
              </a:rPr>
              <a:t>Deploy what is validated; grow what the data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09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25296"/>
            <a:ext cx="379476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25296"/>
            <a:ext cx="3794760" cy="64008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PREDICTION EFFECTIVENESS —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82496"/>
            <a:ext cx="34290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Coverage-first mode:  </a:t>
            </a:r>
            <a:r>
              <a:rPr sz="900" b="0">
                <a:solidFill>
                  <a:srgbClr val="212B36"/>
                </a:solidFill>
                <a:latin typeface="Segoe UI"/>
              </a:rPr>
              <a:t>13 of 14 failures caught; 5 of 20 healthy flagged for inspection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03703"/>
            <a:ext cx="34290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Precision-first mode:  </a:t>
            </a:r>
            <a:r>
              <a:rPr sz="900" b="0">
                <a:solidFill>
                  <a:srgbClr val="212B36"/>
                </a:solidFill>
                <a:latin typeface="Segoe UI"/>
              </a:rPr>
              <a:t>10 of 14 failures caught; only 2 of 20 healthy flagged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24910"/>
            <a:ext cx="34290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Risk-ranking strength:  </a:t>
            </a:r>
            <a:r>
              <a:rPr sz="900" b="0">
                <a:solidFill>
                  <a:srgbClr val="212B36"/>
                </a:solidFill>
                <a:latin typeface="Segoe UI"/>
              </a:rPr>
              <a:t>AUROC 0.93 (95% CI 0.81–0.99), independently validated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46117"/>
            <a:ext cx="34290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Early warning:  </a:t>
            </a:r>
            <a:r>
              <a:rPr sz="900" b="0">
                <a:solidFill>
                  <a:srgbClr val="212B36"/>
                </a:solidFill>
                <a:latin typeface="Segoe UI"/>
              </a:rPr>
              <a:t>Median 168 days; battery-cascade confirmation median ~9 weeks, zero false alarms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67324"/>
            <a:ext cx="34290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Known limit:  </a:t>
            </a:r>
            <a:r>
              <a:rPr sz="900" b="0">
                <a:solidFill>
                  <a:srgbClr val="212B36"/>
                </a:solidFill>
                <a:latin typeface="Segoe UI"/>
              </a:rPr>
              <a:t>1 of 14 failures gave no signal — the vehicle stopped transmitting 142 days before failing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1225296"/>
            <a:ext cx="361188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225296"/>
            <a:ext cx="3611880" cy="64008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35331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OPERATIONAL BENEFITS</a:t>
            </a:r>
          </a:p>
        </p:txBody>
      </p:sp>
      <p:sp>
        <p:nvSpPr>
          <p:cNvPr id="18" name="Oval 17"/>
          <p:cNvSpPr/>
          <p:nvPr/>
        </p:nvSpPr>
        <p:spPr>
          <a:xfrm>
            <a:off x="4553712" y="1723644"/>
            <a:ext cx="82296" cy="82296"/>
          </a:xfrm>
          <a:prstGeom prst="ellipse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1682496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Fewer roadside failures — degrading vehicles reach the workshop first</a:t>
            </a:r>
          </a:p>
        </p:txBody>
      </p:sp>
      <p:sp>
        <p:nvSpPr>
          <p:cNvPr id="20" name="Oval 19"/>
          <p:cNvSpPr/>
          <p:nvPr/>
        </p:nvSpPr>
        <p:spPr>
          <a:xfrm>
            <a:off x="4553712" y="2153412"/>
            <a:ext cx="82296" cy="82296"/>
          </a:xfrm>
          <a:prstGeom prst="ellipse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112264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Better workshop scheduling — median 5+ months of planning runway</a:t>
            </a:r>
          </a:p>
        </p:txBody>
      </p:sp>
      <p:sp>
        <p:nvSpPr>
          <p:cNvPr id="22" name="Oval 21"/>
          <p:cNvSpPr/>
          <p:nvPr/>
        </p:nvSpPr>
        <p:spPr>
          <a:xfrm>
            <a:off x="4553712" y="2583180"/>
            <a:ext cx="82296" cy="82296"/>
          </a:xfrm>
          <a:prstGeom prst="ellipse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542032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Smarter spares — battery vs. starter signature guides what to stock</a:t>
            </a:r>
          </a:p>
        </p:txBody>
      </p:sp>
      <p:sp>
        <p:nvSpPr>
          <p:cNvPr id="24" name="Oval 23"/>
          <p:cNvSpPr/>
          <p:nvPr/>
        </p:nvSpPr>
        <p:spPr>
          <a:xfrm>
            <a:off x="4553712" y="3012948"/>
            <a:ext cx="82296" cy="82296"/>
          </a:xfrm>
          <a:prstGeom prst="ellipse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971800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Higher fleet availability — planned repairs beat breakdown recovery</a:t>
            </a:r>
          </a:p>
        </p:txBody>
      </p:sp>
      <p:sp>
        <p:nvSpPr>
          <p:cNvPr id="26" name="Oval 25"/>
          <p:cNvSpPr/>
          <p:nvPr/>
        </p:nvSpPr>
        <p:spPr>
          <a:xfrm>
            <a:off x="4553712" y="3442716"/>
            <a:ext cx="82296" cy="82296"/>
          </a:xfrm>
          <a:prstGeom prst="ellipse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401568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Focused effort — 80% of the healthy fleet stays untouched</a:t>
            </a:r>
          </a:p>
        </p:txBody>
      </p:sp>
      <p:sp>
        <p:nvSpPr>
          <p:cNvPr id="28" name="Oval 27"/>
          <p:cNvSpPr/>
          <p:nvPr/>
        </p:nvSpPr>
        <p:spPr>
          <a:xfrm>
            <a:off x="4553712" y="3872484"/>
            <a:ext cx="82296" cy="82296"/>
          </a:xfrm>
          <a:prstGeom prst="ellipse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831336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Warranty insight — degradation evidence per vehicle, per week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1225296"/>
            <a:ext cx="361188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65592" y="1225296"/>
            <a:ext cx="3611880" cy="640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2" y="1353312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STRATEGIC ROADMAP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48472" y="1700784"/>
            <a:ext cx="91440" cy="74980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1682496"/>
            <a:ext cx="3044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C8102E"/>
                </a:solidFill>
                <a:latin typeface="Segoe UI"/>
              </a:rPr>
              <a:t>NOW — Pilot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1901952"/>
            <a:ext cx="30449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212B36"/>
                </a:solidFill>
                <a:latin typeface="Segoe UI"/>
              </a:rPr>
              <a:t>Deploy on the active fleet; validate alerts against workshop findings; adopt tier-based SOPs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48472" y="2560320"/>
            <a:ext cx="91440" cy="749808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2542032"/>
            <a:ext cx="3044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NEXT — Integrate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2761488"/>
            <a:ext cx="30449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212B36"/>
                </a:solidFill>
                <a:latin typeface="Segoe UI"/>
              </a:rPr>
              <a:t>Service-centre integration, fleet dashboards, automated scheduling hooks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48472" y="3419856"/>
            <a:ext cx="91440" cy="7498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3401568"/>
            <a:ext cx="3044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F3A5F"/>
                </a:solidFill>
                <a:latin typeface="Segoe UI"/>
              </a:rPr>
              <a:t>THEN — Scale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621024"/>
            <a:ext cx="30449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212B36"/>
                </a:solidFill>
                <a:latin typeface="Segoe UI"/>
              </a:rPr>
              <a:t>Enterprise rollout across the BharatBenz fleet; richer vehicle data feeds — identified during validation — to push detection coverage and precision further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553712"/>
            <a:ext cx="11365992" cy="1225296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4553712"/>
            <a:ext cx="91440" cy="122529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468172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9FB3C8"/>
                </a:solidFill>
                <a:latin typeface="Segoe UI"/>
              </a:rPr>
              <a:t>EXECUTIVE CLOSING MESSAGE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495604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V1.1 demonstrates that predictive vehicle intelligence moves DICV from reactive repair to proactive, data-informed fleet reliability management — improving operational continuity, maintenance planning and customer satisfaction, while the underlying predictive technology remains fully protected.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961888"/>
            <a:ext cx="672084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5961888"/>
            <a:ext cx="64008" cy="62179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6035040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KEY TAKEAWAY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620877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4263A"/>
                </a:solidFill>
                <a:latin typeface="Segoe UI"/>
              </a:rPr>
              <a:t>The capability is validated, the operating model is defined, and the scaling path is clear.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9480" y="5961888"/>
            <a:ext cx="4507992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69480" y="5961888"/>
            <a:ext cx="64008" cy="6217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79792" y="6035040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RECOMMENDED ACTION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79792" y="62087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C8102E"/>
                </a:solidFill>
                <a:latin typeface="Segoe UI"/>
              </a:rPr>
              <a:t>Approve the pilot and nominate the first operating fleet and service centres.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620256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Daimler India Commercial Vehicles  ·  Starter Motor Failure Prediction Program V1.1  ·  Confidential — for internal DICV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