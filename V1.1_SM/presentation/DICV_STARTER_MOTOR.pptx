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329184"/>
            <a:ext cx="41148" cy="34747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10896"/>
            <a:ext cx="141732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spc="120">
                <a:solidFill>
                  <a:srgbClr val="E2231A"/>
                </a:solidFill>
                <a:latin typeface="Calibri"/>
              </a:rPr>
              <a:t>PREDICTIVE MAINTENANCE · FLEET RESULTS &amp; PHASE-2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900" b="1">
                <a:solidFill>
                  <a:srgbClr val="262626"/>
                </a:solidFill>
                <a:latin typeface="Calibri"/>
              </a:rPr>
              <a:t>Starter-Motor Failure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>
                <a:solidFill>
                  <a:srgbClr val="5E5E5E"/>
                </a:solidFill>
                <a:latin typeface="Calibri"/>
              </a:rPr>
              <a:t>for the BharatBenz 5528T Fleet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9572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  <a:latin typeface="Calibri"/>
              </a:rPr>
              <a:t>From roadside no-starts to a monitored, scored fleet program</a:t>
            </a:r>
          </a:p>
        </p:txBody>
      </p:sp>
      <p:pic>
        <p:nvPicPr>
          <p:cNvPr id="9" name="Picture 8" descr="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783080"/>
            <a:ext cx="3657600" cy="162614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2889504"/>
            <a:ext cx="3108960" cy="279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54096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62626"/>
                </a:solidFill>
                <a:latin typeface="Calibri"/>
              </a:rPr>
              <a:t>93.2% ranking accuracy · 13 of 14 failures caught · median ~6 months' warning · zero battery-alert false alarms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64992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Calibri"/>
              </a:rPr>
              <a:t>9 of 11 predicted service windows contained the actual failure</a:t>
            </a:r>
            <a:r>
              <a:rPr sz="1100" b="0">
                <a:solidFill>
                  <a:srgbClr val="5E5E5E"/>
                </a:solidFill>
                <a:latin typeface="Calibri"/>
              </a:rPr>
              <a:t> — and both misses were on the safe side (the truck failed after the window closed).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75887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8C8C8C"/>
                </a:solidFill>
                <a:latin typeface="Calibri"/>
              </a:rPr>
              <a:t>Prepared for Fleet Operations, Maintenance &amp; Engineering    |    July 2026    |    Version V1.1_SM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06240"/>
            <a:ext cx="2139696" cy="1207008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431596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spc="60">
                <a:solidFill>
                  <a:srgbClr val="B9BEC6"/>
                </a:solidFill>
                <a:latin typeface="Calibri"/>
              </a:rPr>
              <a:t>TRUCKS IN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35424"/>
            <a:ext cx="19568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Calibri"/>
              </a:rPr>
              <a:t>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02920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760" b="0">
                <a:solidFill>
                  <a:srgbClr val="C7CCD3"/>
                </a:solidFill>
                <a:latin typeface="Calibri"/>
              </a:rPr>
              <a:t>14 failed · 20 in-service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61488" y="4206240"/>
            <a:ext cx="2139696" cy="1207008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1216" y="431596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spc="60">
                <a:solidFill>
                  <a:srgbClr val="B9BEC6"/>
                </a:solidFill>
                <a:latin typeface="Calibri"/>
              </a:rPr>
              <a:t>RANKING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2928" y="4535424"/>
            <a:ext cx="19568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Calibri"/>
              </a:rPr>
              <a:t>93.2%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6" y="502920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760" b="0">
                <a:solidFill>
                  <a:srgbClr val="C7CCD3"/>
                </a:solidFill>
                <a:latin typeface="Calibri"/>
              </a:rPr>
              <a:t>failing vs. healthy (AUROC)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0056" y="4206240"/>
            <a:ext cx="2139696" cy="1207008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9784" y="431596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spc="60">
                <a:solidFill>
                  <a:srgbClr val="B9BEC6"/>
                </a:solidFill>
                <a:latin typeface="Calibri"/>
              </a:rPr>
              <a:t>FAILURES CAUGHT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4535424"/>
            <a:ext cx="19568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E0A201"/>
                </a:solidFill>
                <a:latin typeface="Calibri"/>
              </a:rPr>
              <a:t>13 / 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502920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760" b="0">
                <a:solidFill>
                  <a:srgbClr val="C7CCD3"/>
                </a:solidFill>
                <a:latin typeface="Calibri"/>
              </a:rPr>
              <a:t>catch-most setting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78624" y="4206240"/>
            <a:ext cx="2139696" cy="1207008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88352" y="431596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spc="60">
                <a:solidFill>
                  <a:srgbClr val="B9BEC6"/>
                </a:solidFill>
                <a:latin typeface="Calibri"/>
              </a:rPr>
              <a:t>MEDIAN WARNING LEAD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70064" y="4535424"/>
            <a:ext cx="19568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Calibri"/>
              </a:rPr>
              <a:t>168 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88352" y="502920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760" b="0">
                <a:solidFill>
                  <a:srgbClr val="C7CCD3"/>
                </a:solidFill>
                <a:latin typeface="Calibri"/>
              </a:rPr>
              <a:t>≈ 5.5 months (77–424 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37192" y="4206240"/>
            <a:ext cx="2139696" cy="1207008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4315968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spc="60">
                <a:solidFill>
                  <a:srgbClr val="B9BEC6"/>
                </a:solidFill>
                <a:latin typeface="Calibri"/>
              </a:rPr>
              <a:t>BATTERY-ALERT FALSE ALARMS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8632" y="4535424"/>
            <a:ext cx="195681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2E8B57"/>
                </a:solidFill>
                <a:latin typeface="Calibri"/>
              </a:rPr>
              <a:t>0 / 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5029200"/>
            <a:ext cx="1920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760" b="0">
                <a:solidFill>
                  <a:srgbClr val="C7CCD3"/>
                </a:solidFill>
                <a:latin typeface="Calibri"/>
              </a:rPr>
              <a:t>cascade detector, healthy trucks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0533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Calibri"/>
              </a:rPr>
              <a:t>Confidential — internal distribution only</a:t>
            </a:r>
          </a:p>
        </p:txBody>
      </p:sp>
      <p:pic>
        <p:nvPicPr>
          <p:cNvPr id="35" name="Picture 34" descr="bytedg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28816"/>
            <a:ext cx="820730" cy="1828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36815" y="6519672"/>
            <a:ext cx="4251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8C8C8C"/>
                </a:solidFill>
                <a:latin typeface="Calibri"/>
              </a:rPr>
              <a:t>BharatBenz 5528T Predictive Maintenance · Frozen V1.1_SM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329184"/>
            <a:ext cx="41148" cy="34747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10896"/>
            <a:ext cx="141732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1089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spc="120">
                <a:solidFill>
                  <a:srgbClr val="E2231A"/>
                </a:solidFill>
                <a:latin typeface="Calibri"/>
              </a:rPr>
              <a:t>01 · WHAT WAS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62626"/>
                </a:solidFill>
                <a:latin typeface="Calibri"/>
              </a:rPr>
              <a:t>Turning existing truck telemetry into actionable maintenance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85855" cy="2032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91056"/>
            <a:ext cx="11185855" cy="2281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822191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spc="40">
                <a:solidFill>
                  <a:srgbClr val="262626"/>
                </a:solidFill>
                <a:latin typeface="Calibri"/>
              </a:rPr>
              <a:t>THREE PLAIN-LANGUAGE CAPABILITIES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9663"/>
            <a:ext cx="3602736" cy="148132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169663"/>
            <a:ext cx="3602736" cy="82296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4315967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B6CA8"/>
                </a:solidFill>
                <a:latin typeface="Calibri"/>
              </a:rPr>
              <a:t>1 · Risk 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4645151"/>
            <a:ext cx="329184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860" b="1">
                <a:solidFill>
                  <a:srgbClr val="1B6CA8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Every truck gets a calibrated risk score from its own voltage patterns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860" b="1">
                <a:solidFill>
                  <a:srgbClr val="1B6CA8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Scores map to GREEN / AMBER / RED maintenance tiers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860" b="1">
                <a:solidFill>
                  <a:srgbClr val="1B6CA8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13 of 14 past failures ranked as high-risk (AUROC 0.93)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4169663"/>
            <a:ext cx="3602736" cy="148132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4169663"/>
            <a:ext cx="3602736" cy="82296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4315967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E2231A"/>
                </a:solidFill>
                <a:latin typeface="Calibri"/>
              </a:rPr>
              <a:t>2 · Early-warning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645151"/>
            <a:ext cx="329184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860" b="1">
                <a:solidFill>
                  <a:srgbClr val="E2231A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Median 168-day lead from the first validated alert to failure (77–424 days)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860" b="1">
                <a:solidFill>
                  <a:srgbClr val="E2231A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Two validated service windows — battery ~1–3 months, persistence ~4–9 months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860" b="1">
                <a:solidFill>
                  <a:srgbClr val="E2231A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Battery-cascade alert: ~9.5-week median lead, zero false alarms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6" y="4169663"/>
            <a:ext cx="3602736" cy="148132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6" y="4169663"/>
            <a:ext cx="3602736" cy="822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4315967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8B57"/>
                </a:solidFill>
                <a:latin typeface="Calibri"/>
              </a:rPr>
              <a:t>3 · Battery-vs-starter triage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4645151"/>
            <a:ext cx="329184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860" b="1">
                <a:solidFill>
                  <a:srgbClr val="2E8B57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Detects the battery-degradation cascade that mimics starter failure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860" b="1">
                <a:solidFill>
                  <a:srgbClr val="2E8B57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Screen-grade — tells the depot where to look first (battery-first)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860" b="1">
                <a:solidFill>
                  <a:srgbClr val="2E8B57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Agreed with failure type on 9 of 11 · 0 of 20 false attributions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852160"/>
            <a:ext cx="11185855" cy="4572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852160"/>
            <a:ext cx="108200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E2231A"/>
                </a:solidFill>
                <a:latin typeface="Calibri"/>
              </a:rPr>
              <a:t>RECOMMENDED ACTION:   </a:t>
            </a:r>
            <a:r>
              <a:rPr sz="1050">
                <a:solidFill>
                  <a:srgbClr val="FFFFFF"/>
                </a:solidFill>
                <a:latin typeface="Calibri"/>
              </a:rPr>
              <a:t>Deploy the risk ranking, tier flags and alert channels on existing CAN-bus data now — no new sensors are required to start getting value.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19088"/>
            <a:ext cx="11185855" cy="11430"/>
          </a:xfrm>
          <a:prstGeom prst="rect">
            <a:avLst/>
          </a:prstGeom>
          <a:solidFill>
            <a:srgbClr val="D3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ytedg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28816"/>
            <a:ext cx="820730" cy="18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840480" y="65196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C"/>
                </a:solidFill>
                <a:latin typeface="Calibri"/>
              </a:rPr>
              <a:t>DICV · Starter-Motor Predictive Maintenance · V1.1_SM —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65196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0">
                <a:solidFill>
                  <a:srgbClr val="8C8C8C"/>
                </a:solidFill>
                <a:latin typeface="Calibri"/>
              </a:rPr>
              <a:t>Figures audited to V1.1_SM source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5895" y="6501384"/>
            <a:ext cx="320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E5E5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329184"/>
            <a:ext cx="41148" cy="34747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10896"/>
            <a:ext cx="141732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1089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spc="120">
                <a:solidFill>
                  <a:srgbClr val="E2231A"/>
                </a:solidFill>
                <a:latin typeface="Calibri"/>
              </a:rPr>
              <a:t>02 · HOW IT WAS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62626"/>
                </a:solidFill>
                <a:latin typeface="Calibri"/>
              </a:rPr>
              <a:t>From 107 million rows of raw telemetry to four trusted signals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85855" cy="2032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u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11185855" cy="19921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76732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40">
                <a:solidFill>
                  <a:srgbClr val="262626"/>
                </a:solidFill>
                <a:latin typeface="Calibri"/>
              </a:rPr>
              <a:t>THE 56 HEURISTICS SPAN FIVE ENGINEERING FAMILIES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4059936"/>
          <a:ext cx="6720840" cy="16459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2880360"/>
                <a:gridCol w="1508760"/>
              </a:tblGrid>
              <a:tr h="274319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What it probes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Calibri"/>
                        </a:rPr>
                        <a:t>In the model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pPr algn="l"/>
                      <a:r>
                        <a:rPr sz="790" b="1">
                          <a:solidFill>
                            <a:srgbClr val="262626"/>
                          </a:solidFill>
                          <a:latin typeface="Calibri"/>
                        </a:rPr>
                        <a:t>A · Crank duration &amp; effort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90" b="0">
                          <a:solidFill>
                            <a:srgbClr val="262626"/>
                          </a:solidFill>
                          <a:latin typeface="Calibri"/>
                        </a:rPr>
                        <a:t>Brush / commutator / bearing wear via crank waveform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90" b="0">
                          <a:solidFill>
                            <a:srgbClr val="262626"/>
                          </a:solidFill>
                          <a:latin typeface="Calibri"/>
                        </a:rPr>
                        <a:t>Crank-dip signal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pPr algn="l"/>
                      <a:r>
                        <a:rPr sz="790" b="1">
                          <a:solidFill>
                            <a:srgbClr val="262626"/>
                          </a:solidFill>
                          <a:latin typeface="Calibri"/>
                        </a:rPr>
                        <a:t>B · Start failure &amp; retry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90" b="0">
                          <a:solidFill>
                            <a:srgbClr val="262626"/>
                          </a:solidFill>
                          <a:latin typeface="Calibri"/>
                        </a:rPr>
                        <a:t>Solenoid / pinion engagement + hard-start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90" b="0">
                          <a:solidFill>
                            <a:srgbClr val="262626"/>
                          </a:solidFill>
                          <a:latin typeface="Calibri"/>
                        </a:rPr>
                        <a:t>Admissible (not selected)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pPr algn="l"/>
                      <a:r>
                        <a:rPr sz="790" b="1">
                          <a:solidFill>
                            <a:srgbClr val="262626"/>
                          </a:solidFill>
                          <a:latin typeface="Calibri"/>
                        </a:rPr>
                        <a:t>C · Voltage &amp; battery ★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90" b="0">
                          <a:solidFill>
                            <a:srgbClr val="262626"/>
                          </a:solidFill>
                          <a:latin typeface="Calibri"/>
                        </a:rPr>
                        <a:t>Supply-voltage stability &amp; resting floor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90" b="0">
                          <a:solidFill>
                            <a:srgbClr val="262626"/>
                          </a:solidFill>
                          <a:latin typeface="Calibri"/>
                        </a:rPr>
                        <a:t>3 of 4 model features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pPr algn="l"/>
                      <a:r>
                        <a:rPr sz="790" b="1">
                          <a:solidFill>
                            <a:srgbClr val="262626"/>
                          </a:solidFill>
                          <a:latin typeface="Calibri"/>
                        </a:rPr>
                        <a:t>D · Usage &amp; duty cycle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90" b="0">
                          <a:solidFill>
                            <a:srgbClr val="262626"/>
                          </a:solidFill>
                          <a:latin typeface="Calibri"/>
                        </a:rPr>
                        <a:t>Cycle-dose exposure and wear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90" b="0">
                          <a:solidFill>
                            <a:srgbClr val="262626"/>
                          </a:solidFill>
                          <a:latin typeface="Calibri"/>
                        </a:rPr>
                        <a:t>Screened out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274324">
                <a:tc>
                  <a:txBody>
                    <a:bodyPr wrap="square"/>
                    <a:lstStyle/>
                    <a:p>
                      <a:pPr algn="l"/>
                      <a:r>
                        <a:rPr sz="790" b="1">
                          <a:solidFill>
                            <a:srgbClr val="262626"/>
                          </a:solidFill>
                          <a:latin typeface="Calibri"/>
                        </a:rPr>
                        <a:t>E · Environment &amp; season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90" b="0">
                          <a:solidFill>
                            <a:srgbClr val="262626"/>
                          </a:solidFill>
                          <a:latin typeface="Calibri"/>
                        </a:rPr>
                        <a:t>Thermal stress (needs new sensors)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90" b="0">
                          <a:solidFill>
                            <a:srgbClr val="262626"/>
                          </a:solidFill>
                          <a:latin typeface="Calibri"/>
                        </a:rPr>
                        <a:t>Infeasible today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589520" y="376732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40">
                <a:solidFill>
                  <a:srgbClr val="262626"/>
                </a:solidFill>
                <a:latin typeface="Calibri"/>
              </a:rPr>
              <a:t>HOW THE FUNNEL WAS POLICED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4078224"/>
            <a:ext cx="4114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860" b="1">
                <a:solidFill>
                  <a:srgbClr val="E2231A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Every feature is anchored to each truck's own healthy baseline (change-based, not level-based) — it flags real degradation, not truck-to-truck differences.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860" b="1">
                <a:solidFill>
                  <a:srgbClr val="E2231A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A dominant-frequency candidate was exposed as a history-length artifact by the fixed-window control — caught, banned and locked out by a feature registry.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860" b="1">
                <a:solidFill>
                  <a:srgbClr val="E2231A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7 SMA-dead trucks (a telemetry config) are cohort-masked, so missing crank data is never read as a fault.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852160"/>
            <a:ext cx="11185855" cy="4572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52160"/>
            <a:ext cx="108200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E2231A"/>
                </a:solidFill>
                <a:latin typeface="Calibri"/>
              </a:rPr>
              <a:t>THE DESIGN CHOICE:   </a:t>
            </a:r>
            <a:r>
              <a:rPr sz="1050">
                <a:solidFill>
                  <a:srgbClr val="FFFFFF"/>
                </a:solidFill>
                <a:latin typeface="Calibri"/>
              </a:rPr>
              <a:t>Small on purpose — at 14 failure events, a four-signal model that generalises beats a forty-signal model that memorises.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19088"/>
            <a:ext cx="11185855" cy="11430"/>
          </a:xfrm>
          <a:prstGeom prst="rect">
            <a:avLst/>
          </a:prstGeom>
          <a:solidFill>
            <a:srgbClr val="D3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ytedg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28816"/>
            <a:ext cx="820730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40480" y="65196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C"/>
                </a:solidFill>
                <a:latin typeface="Calibri"/>
              </a:rPr>
              <a:t>DICV · Starter-Motor Predictive Maintenance · V1.1_SM —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65196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0">
                <a:solidFill>
                  <a:srgbClr val="8C8C8C"/>
                </a:solidFill>
                <a:latin typeface="Calibri"/>
              </a:rPr>
              <a:t>Figures audited to V1.1_SM source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05895" y="6501384"/>
            <a:ext cx="320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E5E5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329184"/>
            <a:ext cx="41148" cy="34747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10896"/>
            <a:ext cx="141732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1089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spc="120">
                <a:solidFill>
                  <a:srgbClr val="E2231A"/>
                </a:solidFill>
                <a:latin typeface="Calibri"/>
              </a:rPr>
              <a:t>03 · THE FOUR SIGNALS IT WATCHES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62626"/>
                </a:solidFill>
                <a:latin typeface="Calibri"/>
              </a:rPr>
              <a:t>Physically meaningful, always read together — no black box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85855" cy="2032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672084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3063240"/>
                <a:gridCol w="13258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What it measures (one line)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Role in the model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Within-week voltage noise</a:t>
                      </a:r>
                    </a:p>
                    <a:p>
                      <a:pPr algn="l"/>
                      <a:r>
                        <a:rPr sz="679" i="1">
                          <a:solidFill>
                            <a:srgbClr val="8C8C8C"/>
                          </a:solidFill>
                          <a:latin typeface="Calibri"/>
                        </a:rPr>
                        <a:t>vsi_withinwk_std_ratio_30d_w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Voltage jitter within a week vs the truck's own healthy baseline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The workhorse — carries most of the score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Weekly voltage-range trend</a:t>
                      </a:r>
                    </a:p>
                    <a:p>
                      <a:pPr algn="l"/>
                      <a:r>
                        <a:rPr sz="679" i="1">
                          <a:solidFill>
                            <a:srgbClr val="8C8C8C"/>
                          </a:solidFill>
                          <a:latin typeface="Calibri"/>
                        </a:rPr>
                        <a:t>vsi_range_trend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Whether the weekly voltage swing is widening or narrowing (robust 12-wk slope)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Suppressor — sharpens the ranking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Resting-voltage floor</a:t>
                      </a:r>
                    </a:p>
                    <a:p>
                      <a:pPr algn="l"/>
                      <a:r>
                        <a:rPr sz="679" i="1">
                          <a:solidFill>
                            <a:srgbClr val="8C8C8C"/>
                          </a:solidFill>
                          <a:latin typeface="Calibri"/>
                        </a:rPr>
                        <a:t>rest_vsi_p05_delta90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How far the engine-off battery floor has sagged vs own baseline (swap-aware)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The battery-cascade signature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Crank dip depth</a:t>
                      </a:r>
                    </a:p>
                    <a:p>
                      <a:pPr algn="l"/>
                      <a:r>
                        <a:rPr sz="679" i="1">
                          <a:solidFill>
                            <a:srgbClr val="8C8C8C"/>
                          </a:solidFill>
                          <a:latin typeface="Calibri"/>
                        </a:rPr>
                        <a:t>dip_depth_last90_delta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How much deeper voltage dips during cranking, last 90 d vs own baseline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The crank-circuit load signature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627632"/>
            <a:ext cx="4389120" cy="20146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0920" y="358444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5E5E5E"/>
                </a:solidFill>
                <a:latin typeface="Calibri"/>
              </a:rPr>
              <a:t>Weights are learned (Ridge, standardised) — not hand-set. The two voltage signals are a core pair selected in 34 of 34 CV folds.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502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40">
                <a:solidFill>
                  <a:srgbClr val="262626"/>
                </a:solidFill>
                <a:latin typeface="Calibri"/>
              </a:rPr>
              <a:t>ON TOP OF THE SCORE: THREE ALERT HEURISTICS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206240"/>
            <a:ext cx="3602736" cy="148132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206240"/>
            <a:ext cx="3602736" cy="82296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4352544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6CA8"/>
                </a:solidFill>
                <a:latin typeface="Calibri"/>
              </a:rPr>
              <a:t>Persistence flag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4681728"/>
            <a:ext cx="329184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860" b="1">
                <a:solidFill>
                  <a:srgbClr val="1B6CA8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Risk stays elevated for consecutive weeks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860" b="1">
                <a:solidFill>
                  <a:srgbClr val="1B6CA8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The primary early-warning channel — schedules 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4206240"/>
            <a:ext cx="3602736" cy="148132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4206240"/>
            <a:ext cx="3602736" cy="82296"/>
          </a:xfrm>
          <a:prstGeom prst="rect">
            <a:avLst/>
          </a:prstGeom>
          <a:solidFill>
            <a:srgbClr val="E0A2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4352544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A201"/>
                </a:solidFill>
                <a:latin typeface="Calibri"/>
              </a:rPr>
              <a:t>A1 · Crank-burst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681728"/>
            <a:ext cx="329184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860" b="1">
                <a:solidFill>
                  <a:srgbClr val="E0A201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A burst of failed or retried cranks appears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860" b="1">
                <a:solidFill>
                  <a:srgbClr val="E0A201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Corroborates the risk score near failure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6" y="4206240"/>
            <a:ext cx="3602736" cy="148132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37576" y="4206240"/>
            <a:ext cx="3602736" cy="822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4352544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Calibri"/>
              </a:rPr>
              <a:t>A2 · Battery-cascade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4681728"/>
            <a:ext cx="329184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860" b="1">
                <a:solidFill>
                  <a:srgbClr val="2E8B57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Rest-floor sag + deeper dips + rising crank failures together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860" b="1">
                <a:solidFill>
                  <a:srgbClr val="2E8B57"/>
                </a:solidFill>
                <a:latin typeface="Calibri"/>
              </a:rPr>
              <a:t>‣  </a:t>
            </a:r>
            <a:r>
              <a:rPr sz="860" b="0">
                <a:solidFill>
                  <a:srgbClr val="262626"/>
                </a:solidFill>
                <a:latin typeface="Calibri"/>
              </a:rPr>
              <a:t>0 of 20 false alarms · ~9.5-wk lead · routes battery-first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852160"/>
            <a:ext cx="11185855" cy="4572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852160"/>
            <a:ext cx="108200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E2231A"/>
                </a:solidFill>
                <a:latin typeface="Calibri"/>
              </a:rPr>
              <a:t>THE KEY POINT:   </a:t>
            </a:r>
            <a:r>
              <a:rPr sz="1050">
                <a:solidFill>
                  <a:srgbClr val="FFFFFF"/>
                </a:solidFill>
                <a:latin typeface="Calibri"/>
              </a:rPr>
              <a:t>No single signal decides anything — the model reads all four together, which is why weak individual cues combine into a 93.2% ranking.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419088"/>
            <a:ext cx="11185855" cy="11430"/>
          </a:xfrm>
          <a:prstGeom prst="rect">
            <a:avLst/>
          </a:prstGeom>
          <a:solidFill>
            <a:srgbClr val="D3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ytedg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28816"/>
            <a:ext cx="820730" cy="1828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840480" y="65196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C"/>
                </a:solidFill>
                <a:latin typeface="Calibri"/>
              </a:rPr>
              <a:t>DICV · Starter-Motor Predictive Maintenance · V1.1_SM —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65196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0">
                <a:solidFill>
                  <a:srgbClr val="8C8C8C"/>
                </a:solidFill>
                <a:latin typeface="Calibri"/>
              </a:rPr>
              <a:t>Figures audited to V1.1_SM source files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5895" y="6501384"/>
            <a:ext cx="320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E5E5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329184"/>
            <a:ext cx="41148" cy="34747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10896"/>
            <a:ext cx="141732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1089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spc="120">
                <a:solidFill>
                  <a:srgbClr val="E2231A"/>
                </a:solidFill>
                <a:latin typeface="Calibri"/>
              </a:rPr>
              <a:t>04 · HOW WELL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62626"/>
                </a:solidFill>
                <a:latin typeface="Calibri"/>
              </a:rPr>
              <a:t>Validated across 34 trucks — 14 known failures + 20 in-service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85855" cy="2032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1_1_SM_daily_risk_VIN6_F_SM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36192"/>
            <a:ext cx="3310128" cy="21374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77639" y="157276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spc="40">
                <a:solidFill>
                  <a:srgbClr val="262626"/>
                </a:solidFill>
                <a:latin typeface="Calibri"/>
              </a:rPr>
              <a:t>DAILY DEGRADATION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883664"/>
            <a:ext cx="4206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B6CA8"/>
                </a:solidFill>
                <a:latin typeface="Calibri"/>
              </a:rPr>
              <a:t>‣  </a:t>
            </a:r>
            <a:r>
              <a:rPr sz="900" b="0">
                <a:solidFill>
                  <a:srgbClr val="262626"/>
                </a:solidFill>
                <a:latin typeface="Calibri"/>
              </a:rPr>
              <a:t>Each truck gets a daily-updated degradation view; colours are action tiers (green = healthy, red = act now).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B6CA8"/>
                </a:solidFill>
                <a:latin typeface="Calibri"/>
              </a:rPr>
              <a:t>‣  </a:t>
            </a:r>
            <a:r>
              <a:rPr sz="900" b="0">
                <a:solidFill>
                  <a:srgbClr val="262626"/>
                </a:solidFill>
                <a:latin typeface="Calibri"/>
              </a:rPr>
              <a:t>This failed truck (VIN6) walked the full green-to-red path; the battery-cascade alert fired ~70 days early.</a:t>
            </a:r>
          </a:p>
          <a:p>
            <a:pPr>
              <a:lnSpc>
                <a:spcPct val="103000"/>
              </a:lnSpc>
              <a:spcAft>
                <a:spcPts val="600"/>
              </a:spcAft>
            </a:pPr>
            <a:r>
              <a:rPr sz="900" b="1">
                <a:solidFill>
                  <a:srgbClr val="1B6CA8"/>
                </a:solidFill>
                <a:latin typeface="Calibri"/>
              </a:rPr>
              <a:t>‣  </a:t>
            </a:r>
            <a:r>
              <a:rPr sz="900" b="0">
                <a:solidFill>
                  <a:srgbClr val="5E5E5E"/>
                </a:solidFill>
                <a:latin typeface="Calibri"/>
              </a:rPr>
              <a:t>The dotted tail is a fleet-average projection, not a failure date.</a:t>
            </a:r>
          </a:p>
        </p:txBody>
      </p:sp>
      <p:pic>
        <p:nvPicPr>
          <p:cNvPr id="11" name="Picture 10" descr="fleet_ri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1572768"/>
            <a:ext cx="3310128" cy="20617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80390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spc="40">
                <a:solidFill>
                  <a:srgbClr val="262626"/>
                </a:solidFill>
                <a:latin typeface="Calibri"/>
              </a:rPr>
              <a:t>HEADLINE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858768"/>
            <a:ext cx="624535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0">
                <a:solidFill>
                  <a:srgbClr val="8C8C8C"/>
                </a:solidFill>
                <a:latin typeface="Calibri"/>
              </a:rPr>
              <a:t>Display numbering: VIN1-14 failed, VIN15-34 in-service (raw-file map: results/V1_1_SM_vin_naming_map.csv).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2920" y="4078224"/>
          <a:ext cx="11183112" cy="16322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5440680"/>
                <a:gridCol w="3776472"/>
              </a:tblGrid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Business impact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10" b="1">
                          <a:solidFill>
                            <a:srgbClr val="262626"/>
                          </a:solidFill>
                          <a:latin typeface="Calibri"/>
                        </a:rPr>
                        <a:t>Failure detection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0" b="0">
                          <a:solidFill>
                            <a:srgbClr val="262626"/>
                          </a:solidFill>
                          <a:latin typeface="Calibri"/>
                        </a:rPr>
                        <a:t>13 of 14 caught at the catch-most setting (5 of 20 healthy flagged)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0" b="0">
                          <a:solidFill>
                            <a:srgbClr val="262626"/>
                          </a:solidFill>
                          <a:latin typeface="Calibri"/>
                        </a:rPr>
                        <a:t>High-risk trucks inspected before they strand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10" b="1">
                          <a:solidFill>
                            <a:srgbClr val="262626"/>
                          </a:solidFill>
                          <a:latin typeface="Calibri"/>
                        </a:rPr>
                        <a:t>Early warning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0" b="0">
                          <a:solidFill>
                            <a:srgbClr val="262626"/>
                          </a:solidFill>
                          <a:latin typeface="Calibri"/>
                        </a:rPr>
                        <a:t>Median 168-day first-fire lead (77–424); battery alerts ~9.5 wks ahead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0" b="0">
                          <a:solidFill>
                            <a:srgbClr val="262626"/>
                          </a:solidFill>
                          <a:latin typeface="Calibri"/>
                        </a:rPr>
                        <a:t>Time to schedule, source parts, avoid roadside events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10" b="1">
                          <a:solidFill>
                            <a:srgbClr val="262626"/>
                          </a:solidFill>
                          <a:latin typeface="Calibri"/>
                        </a:rPr>
                        <a:t>Service windows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0" b="0">
                          <a:solidFill>
                            <a:srgbClr val="262626"/>
                          </a:solidFill>
                          <a:latin typeface="Calibri"/>
                        </a:rPr>
                        <a:t>9 of 11 windowed failures fell inside; both misses on the safe side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0" b="0">
                          <a:solidFill>
                            <a:srgbClr val="262626"/>
                          </a:solidFill>
                          <a:latin typeface="Calibri"/>
                        </a:rPr>
                        <a:t>Failures pre-empted by a scheduled service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10" b="1">
                          <a:solidFill>
                            <a:srgbClr val="262626"/>
                          </a:solidFill>
                          <a:latin typeface="Calibri"/>
                        </a:rPr>
                        <a:t>False-alarm burden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0" b="0">
                          <a:solidFill>
                            <a:srgbClr val="262626"/>
                          </a:solidFill>
                          <a:latin typeface="Calibri"/>
                        </a:rPr>
                        <a:t>2 of 20 healthy at the stricter RED tier; 0 of 20 on the battery alert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0" b="0">
                          <a:solidFill>
                            <a:srgbClr val="262626"/>
                          </a:solidFill>
                          <a:latin typeface="Calibri"/>
                        </a:rPr>
                        <a:t>Inspection effort goes where the risk is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10" b="1">
                          <a:solidFill>
                            <a:srgbClr val="262626"/>
                          </a:solidFill>
                          <a:latin typeface="Calibri"/>
                        </a:rPr>
                        <a:t>vs. first-generation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0" b="0">
                          <a:solidFill>
                            <a:srgbClr val="262626"/>
                          </a:solidFill>
                          <a:latin typeface="Calibri"/>
                        </a:rPr>
                        <a:t>+1 failure caught (incl. its worst miss); honest probabilities + alerts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0" b="0">
                          <a:solidFill>
                            <a:srgbClr val="262626"/>
                          </a:solidFill>
                          <a:latin typeface="Calibri"/>
                        </a:rPr>
                        <a:t>The upgrade is measured, not asserted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810" b="1">
                          <a:solidFill>
                            <a:srgbClr val="262626"/>
                          </a:solidFill>
                          <a:latin typeface="Calibri"/>
                        </a:rPr>
                        <a:t>Fleet status today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0" b="0">
                          <a:solidFill>
                            <a:srgbClr val="262626"/>
                          </a:solidFill>
                          <a:latin typeface="Calibri"/>
                        </a:rPr>
                        <a:t>16 LOW / 2 WATCH / 2 HIGH (VIN19_NF &amp; VIN34_NF are HIGH)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0" b="0">
                          <a:solidFill>
                            <a:srgbClr val="262626"/>
                          </a:solidFill>
                          <a:latin typeface="Calibri"/>
                        </a:rPr>
                        <a:t>Two trucks need inspection now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02920" y="5852160"/>
            <a:ext cx="11185855" cy="4572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52160"/>
            <a:ext cx="108200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E2231A"/>
                </a:solidFill>
                <a:latin typeface="Calibri"/>
              </a:rPr>
              <a:t>RECOMMENDED ACTION:   </a:t>
            </a:r>
            <a:r>
              <a:rPr sz="1050">
                <a:solidFill>
                  <a:srgbClr val="FFFFFF"/>
                </a:solidFill>
                <a:latin typeface="Calibri"/>
              </a:rPr>
              <a:t>One dial, one honest trade — catch-most flags 13/14 (5/20 healthy); the stricter RED tier flags 10/14 (2/20). Operations picks the setting per cost.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19088"/>
            <a:ext cx="11185855" cy="11430"/>
          </a:xfrm>
          <a:prstGeom prst="rect">
            <a:avLst/>
          </a:prstGeom>
          <a:solidFill>
            <a:srgbClr val="D3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ytedge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6528816"/>
            <a:ext cx="820730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40480" y="65196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C"/>
                </a:solidFill>
                <a:latin typeface="Calibri"/>
              </a:rPr>
              <a:t>DICV · Starter-Motor Predictive Maintenance · V1.1_SM —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5196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0">
                <a:solidFill>
                  <a:srgbClr val="8C8C8C"/>
                </a:solidFill>
                <a:latin typeface="Calibri"/>
              </a:rPr>
              <a:t>Figures audited to V1.1_SM source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05895" y="6501384"/>
            <a:ext cx="320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E5E5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329184"/>
            <a:ext cx="41148" cy="34747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10896"/>
            <a:ext cx="141732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1089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spc="120">
                <a:solidFill>
                  <a:srgbClr val="E2231A"/>
                </a:solidFill>
                <a:latin typeface="Calibri"/>
              </a:rPr>
              <a:t>05 · WHY THE NUMBERS ARE TRUSTWORTHY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62626"/>
                </a:solidFill>
                <a:latin typeface="Calibri"/>
              </a:rPr>
              <a:t>A strong score on only 14 events invites one question — is it real?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85855" cy="2032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72768"/>
          <a:ext cx="11183112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3063240"/>
                <a:gridCol w="7708392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Validation layer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What it showed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840" b="1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262626"/>
                          </a:solidFill>
                          <a:latin typeface="Calibri"/>
                        </a:rPr>
                        <a:t>Nested leave-one-truck-out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262626"/>
                          </a:solidFill>
                          <a:latin typeface="Calibri"/>
                        </a:rPr>
                        <a:t>Every truck scored blind across 34 folds — a deployment-grade number, not an in-sample flatterer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840" b="1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262626"/>
                          </a:solidFill>
                          <a:latin typeface="Calibri"/>
                        </a:rPr>
                        <a:t>Selection optimism measured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262626"/>
                          </a:solidFill>
                          <a:latin typeface="Calibri"/>
                        </a:rPr>
                        <a:t>In-sample 262 vs honest 261 of 280 pairs — a one-pair gap (a memoriser shows a large gap)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840" b="1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262626"/>
                          </a:solidFill>
                          <a:latin typeface="Calibri"/>
                        </a:rPr>
                        <a:t>Label-shuffle test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262626"/>
                          </a:solidFill>
                          <a:latin typeface="Calibri"/>
                        </a:rPr>
                        <a:t>0 of 200 shuffled-label runs beat the real score (p = 0.005)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840" b="1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262626"/>
                          </a:solidFill>
                          <a:latin typeface="Calibri"/>
                        </a:rPr>
                        <a:t>Fixed-window control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262626"/>
                          </a:solidFill>
                          <a:latin typeface="Calibri"/>
                        </a:rPr>
                        <a:t>Every feature recomputed on equal windows — score reproduced bit-for-bit (0.0 borrowed from history length)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840" b="1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262626"/>
                          </a:solidFill>
                          <a:latin typeface="Calibri"/>
                        </a:rPr>
                        <a:t>Leak-ceiling audit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262626"/>
                          </a:solidFill>
                          <a:latin typeface="Calibri"/>
                        </a:rPr>
                        <a:t>Observation-length proxies scored as upper bounds; one artifact feature banned by a binding registry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840" b="1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262626"/>
                          </a:solidFill>
                          <a:latin typeface="Calibri"/>
                        </a:rPr>
                        <a:t>Predecessor restated honestly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262626"/>
                          </a:solidFill>
                          <a:latin typeface="Calibri"/>
                        </a:rPr>
                        <a:t>The first-generation 0.921 was revised down to 0.893 under these stricter rules — disclosed, not hidden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840" b="1">
                          <a:solidFill>
                            <a:srgbClr val="26262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262626"/>
                          </a:solidFill>
                          <a:latin typeface="Calibri"/>
                        </a:rPr>
                        <a:t>Reproduced &amp; attacked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40" b="0">
                          <a:solidFill>
                            <a:srgbClr val="262626"/>
                          </a:solidFill>
                          <a:latin typeface="Calibri"/>
                        </a:rPr>
                        <a:t>Benchmark reproduced exactly 4× (V2–V3.1); 17 pre-registered challenger features all rejected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261104"/>
            <a:ext cx="11185855" cy="13716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389120"/>
            <a:ext cx="1078351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spc="60">
                <a:solidFill>
                  <a:srgbClr val="E2231A"/>
                </a:solidFill>
                <a:latin typeface="Calibri"/>
              </a:rPr>
              <a:t>WHAT THIS BUYS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681728"/>
            <a:ext cx="1078351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Calibri"/>
              </a:rPr>
              <a:t>When this system says 93.2% ranking accuracy, that is what you will see on unseen trucks. The score has survived a shuffle test, a fixed-window control, a leak audit, four independent reproductions and seventeen attempts to beat it. The ceiling here is the data, not the method — so every number sharpens as the fleet grows, using this same validated pipeline.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52160"/>
            <a:ext cx="11185855" cy="4572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852160"/>
            <a:ext cx="108200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E2231A"/>
                </a:solidFill>
                <a:latin typeface="Calibri"/>
              </a:rPr>
              <a:t>IN OPERATION:   </a:t>
            </a:r>
            <a:r>
              <a:rPr sz="1050">
                <a:solidFill>
                  <a:srgbClr val="FFFFFF"/>
                </a:solidFill>
                <a:latin typeface="Calibri"/>
              </a:rPr>
              <a:t>The same rigour ships with the deployment — retrain only under the audited protocol, never by hand-tuning a threshold.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19088"/>
            <a:ext cx="11185855" cy="11430"/>
          </a:xfrm>
          <a:prstGeom prst="rect">
            <a:avLst/>
          </a:prstGeom>
          <a:solidFill>
            <a:srgbClr val="D3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yted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28816"/>
            <a:ext cx="820730" cy="182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40480" y="65196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C"/>
                </a:solidFill>
                <a:latin typeface="Calibri"/>
              </a:rPr>
              <a:t>DICV · Starter-Motor Predictive Maintenance · V1.1_SM —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65196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0">
                <a:solidFill>
                  <a:srgbClr val="8C8C8C"/>
                </a:solidFill>
                <a:latin typeface="Calibri"/>
              </a:rPr>
              <a:t>Figures audited to V1.1_SM source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05895" y="6501384"/>
            <a:ext cx="320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E5E5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329184"/>
            <a:ext cx="41148" cy="34747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10896"/>
            <a:ext cx="141732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1089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spc="120">
                <a:solidFill>
                  <a:srgbClr val="E2231A"/>
                </a:solidFill>
                <a:latin typeface="Calibri"/>
              </a:rPr>
              <a:t>06 · HONEST BOUNDARIES — AND WHAT UNLOCKS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62626"/>
                </a:solidFill>
                <a:latin typeface="Calibri"/>
              </a:rPr>
              <a:t>Every limit below is a data limit, not a method limit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85855" cy="2032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ffective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6537960" cy="17402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69480" y="153619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spc="40">
                <a:solidFill>
                  <a:srgbClr val="262626"/>
                </a:solidFill>
                <a:latin typeface="Calibri"/>
              </a:rPr>
              <a:t>HONEST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865376"/>
            <a:ext cx="44805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69" b="1">
                <a:solidFill>
                  <a:srgbClr val="E2231A"/>
                </a:solidFill>
                <a:latin typeface="Calibri"/>
              </a:rPr>
              <a:t>‣  </a:t>
            </a:r>
            <a:r>
              <a:rPr sz="869" b="1">
                <a:solidFill>
                  <a:srgbClr val="E2231A"/>
                </a:solidFill>
                <a:latin typeface="Calibri"/>
              </a:rPr>
              <a:t>It does not predict failure dates.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69" b="1">
                <a:solidFill>
                  <a:srgbClr val="E2231A"/>
                </a:solidFill>
                <a:latin typeface="Calibri"/>
              </a:rPr>
              <a:t>‣  </a:t>
            </a:r>
            <a:r>
              <a:rPr sz="869" b="0">
                <a:solidFill>
                  <a:srgbClr val="262626"/>
                </a:solidFill>
                <a:latin typeface="Calibri"/>
              </a:rPr>
              <a:t>With 14 examples a countdown clock is unsupportable — every timing model lost to a simple fleet-average (576 d vs 44 d error). We say ‘within ~10 weeks’, never ‘on 14 June’.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69" b="1">
                <a:solidFill>
                  <a:srgbClr val="E2231A"/>
                </a:solidFill>
                <a:latin typeface="Calibri"/>
              </a:rPr>
              <a:t>‣  </a:t>
            </a:r>
            <a:r>
              <a:rPr sz="869" b="1">
                <a:solidFill>
                  <a:srgbClr val="E2231A"/>
                </a:solidFill>
                <a:latin typeface="Calibri"/>
              </a:rPr>
              <a:t>~4 of 14 failures are electrically invisible.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69" b="1">
                <a:solidFill>
                  <a:srgbClr val="E2231A"/>
                </a:solidFill>
                <a:latin typeface="Calibri"/>
              </a:rPr>
              <a:t>‣  </a:t>
            </a:r>
            <a:r>
              <a:rPr sz="869" b="0">
                <a:solidFill>
                  <a:srgbClr val="262626"/>
                </a:solidFill>
                <a:latin typeface="Calibri"/>
              </a:rPr>
              <a:t>Sudden internal failures (windings, seizure) and telemetry-silent trucks give no electrical warning at this data resolution.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69" b="1">
                <a:solidFill>
                  <a:srgbClr val="E2231A"/>
                </a:solidFill>
                <a:latin typeface="Calibri"/>
              </a:rPr>
              <a:t>‣  </a:t>
            </a:r>
            <a:r>
              <a:rPr sz="869" b="1">
                <a:solidFill>
                  <a:srgbClr val="E2231A"/>
                </a:solidFill>
                <a:latin typeface="Calibri"/>
              </a:rPr>
              <a:t>Some alerts are early or precautionary.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869" b="1">
                <a:solidFill>
                  <a:srgbClr val="E2231A"/>
                </a:solidFill>
                <a:latin typeface="Calibri"/>
              </a:rPr>
              <a:t>‣  </a:t>
            </a:r>
            <a:r>
              <a:rPr sz="869" b="0">
                <a:solidFill>
                  <a:srgbClr val="262626"/>
                </a:solidFill>
                <a:latin typeface="Calibri"/>
              </a:rPr>
              <a:t>A few healthy trucks are flagged: cheap insurance inspections, but not failures.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1363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spc="40">
                <a:solidFill>
                  <a:srgbClr val="262626"/>
                </a:solidFill>
                <a:latin typeface="Calibri"/>
              </a:rPr>
              <a:t>DATA GAPS — AND THE UNLOCK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4206240"/>
          <a:ext cx="11183112" cy="16459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63240"/>
                <a:gridCol w="4754880"/>
                <a:gridCol w="3364992"/>
              </a:tblGrid>
              <a:tr h="274319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Impact on the system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The unlock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Voltage sampled only every 5 seconds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The 2–4 month brush-wear warning is physically unreadable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High-frequency crank logging (≥1 Hz)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No cranking-current or battery-health signal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Battery vs. starter can only be inferred, not proven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Add current or battery SoC/SoH sensing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No maintenance / parts records in the data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Failure modes are inferred from patterns, not confirmed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Link workshop records to telemetry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Only 14 failure examples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Wide statistical band on every number (CI 0.81–0.99)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Scale to 500 trucks (~30–50+ failures)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274324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7 of 34 trucks transmit no crank data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An SMA-dead config hides starter activity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Telemetry-config audit; treat silence as a trigger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02920" y="5852160"/>
            <a:ext cx="11185855" cy="4572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852160"/>
            <a:ext cx="108200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E2231A"/>
                </a:solidFill>
                <a:latin typeface="Calibri"/>
              </a:rPr>
              <a:t>THE KEY POINT:   </a:t>
            </a:r>
            <a:r>
              <a:rPr sz="1050">
                <a:solidFill>
                  <a:srgbClr val="FFFFFF"/>
                </a:solidFill>
                <a:latin typeface="Calibri"/>
              </a:rPr>
              <a:t>Each boundary lifts at 500-truck scale using this same validated method — and only new sensing (≥1 Hz crank logging, battery health) breaks the silent-failure floor.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19088"/>
            <a:ext cx="11185855" cy="11430"/>
          </a:xfrm>
          <a:prstGeom prst="rect">
            <a:avLst/>
          </a:prstGeom>
          <a:solidFill>
            <a:srgbClr val="D3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ytedg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6528816"/>
            <a:ext cx="820730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40480" y="65196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C"/>
                </a:solidFill>
                <a:latin typeface="Calibri"/>
              </a:rPr>
              <a:t>DICV · Starter-Motor Predictive Maintenance · V1.1_SM —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65196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0">
                <a:solidFill>
                  <a:srgbClr val="8C8C8C"/>
                </a:solidFill>
                <a:latin typeface="Calibri"/>
              </a:rPr>
              <a:t>Figures audited to V1.1_SM source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05895" y="6501384"/>
            <a:ext cx="320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E5E5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43439" y="329184"/>
            <a:ext cx="41148" cy="34747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310896"/>
            <a:ext cx="1417320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1089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spc="120">
                <a:solidFill>
                  <a:srgbClr val="E2231A"/>
                </a:solidFill>
                <a:latin typeface="Calibri"/>
              </a:rPr>
              <a:t>07 · RECOMMENDED ACTIONS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03504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62626"/>
                </a:solidFill>
                <a:latin typeface="Calibri"/>
              </a:rPr>
              <a:t>Priority actions for fleet operations, and what to invest in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89888"/>
            <a:ext cx="11185855" cy="2032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3619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spc="40">
                <a:solidFill>
                  <a:srgbClr val="2E8B57"/>
                </a:solidFill>
                <a:latin typeface="Calibri"/>
              </a:rPr>
              <a:t>IMMEDIATE ACTIONS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47088"/>
          <a:ext cx="553212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"/>
                <a:gridCol w="3063240"/>
                <a:gridCol w="1143000"/>
                <a:gridCol w="96012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Timeline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Inspect the 2 HIGH trucks (VIN19_NF, VIN34_NF): starter + battery circuit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Fleet Ops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2–4 weeks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Bundle the 2 WATCH trucks (VIN16_NF, VIN24_NF) into next service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Fleet Ops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Next service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Stand up weekly fleet scoring with monthly tier review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This quarter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Enable battery-first routing on cascade alerts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Maint. Planning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This quarter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55080" y="15361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spc="40">
                <a:solidFill>
                  <a:srgbClr val="1B6CA8"/>
                </a:solidFill>
                <a:latin typeface="Calibri"/>
              </a:rPr>
              <a:t>WHAT TO INVEST IN NEXT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55080" y="1847088"/>
          <a:ext cx="5330952" cy="1975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"/>
                <a:gridCol w="2514600"/>
                <a:gridCol w="2039112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Investment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Calibri"/>
                        </a:rPr>
                        <a:t>Expected impact</a:t>
                      </a:r>
                    </a:p>
                  </a:txBody>
                  <a:tcPr marL="64008" marR="64008" marT="27432" marB="27432" anchor="ctr">
                    <a:solidFill>
                      <a:srgbClr val="26262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High-frequency crank logging (≥1 Hz)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Unlocks months-ahead brush-wear warning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P0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Cranking-current or battery-health signal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Proves battery-vs-starter; sharper alerts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Link maintenance / parts records to telemetry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Confirms failure modes; better labels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P1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Keep collecting failure examples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Narrows uncertainty on every number</a:t>
                      </a:r>
                    </a:p>
                  </a:txBody>
                  <a:tcPr marL="64008" marR="64008" marT="27432" marB="27432" anchor="ctr">
                    <a:solidFill>
                      <a:srgbClr val="F2F4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19" b="1">
                          <a:solidFill>
                            <a:srgbClr val="262626"/>
                          </a:solidFill>
                          <a:latin typeface="Calibri"/>
                        </a:rPr>
                        <a:t>P2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Scale to 500 trucks (Phase 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19" b="0">
                          <a:solidFill>
                            <a:srgbClr val="262626"/>
                          </a:solidFill>
                          <a:latin typeface="Calibri"/>
                        </a:rPr>
                        <a:t>~30–50+ failures → per-truck timing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4114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spc="40">
                <a:solidFill>
                  <a:srgbClr val="262626"/>
                </a:solidFill>
                <a:latin typeface="Calibri"/>
              </a:rPr>
              <a:t>OPERATING RHYTHM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462272"/>
            <a:ext cx="5532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Calibri"/>
              </a:rPr>
              <a:t>‣  </a:t>
            </a:r>
            <a:r>
              <a:rPr sz="950" b="1">
                <a:solidFill>
                  <a:srgbClr val="262626"/>
                </a:solidFill>
                <a:latin typeface="Calibri"/>
              </a:rPr>
              <a:t>Weekly — 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Calibri"/>
              </a:rPr>
              <a:t>‣  </a:t>
            </a:r>
            <a:r>
              <a:rPr sz="950" b="0">
                <a:solidFill>
                  <a:srgbClr val="262626"/>
                </a:solidFill>
                <a:latin typeface="Calibri"/>
              </a:rPr>
              <a:t>Re-score every truck; a new RED or battery-cascade alert triggers a work order.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Calibri"/>
              </a:rPr>
              <a:t>‣  </a:t>
            </a:r>
            <a:r>
              <a:rPr sz="950" b="1">
                <a:solidFill>
                  <a:srgbClr val="262626"/>
                </a:solidFill>
                <a:latin typeface="Calibri"/>
              </a:rPr>
              <a:t>Monthly — 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Calibri"/>
              </a:rPr>
              <a:t>‣  </a:t>
            </a:r>
            <a:r>
              <a:rPr sz="950" b="0">
                <a:solidFill>
                  <a:srgbClr val="262626"/>
                </a:solidFill>
                <a:latin typeface="Calibri"/>
              </a:rPr>
              <a:t>Tier review with fleet ops; track watch-list trucks for drift or recovery.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462272"/>
            <a:ext cx="533095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Calibri"/>
              </a:rPr>
              <a:t>‣  </a:t>
            </a:r>
            <a:r>
              <a:rPr sz="950" b="1">
                <a:solidFill>
                  <a:srgbClr val="262626"/>
                </a:solidFill>
                <a:latin typeface="Calibri"/>
              </a:rPr>
              <a:t>On each confirmed failure or repair — 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Calibri"/>
              </a:rPr>
              <a:t>‣  </a:t>
            </a:r>
            <a:r>
              <a:rPr sz="950" b="0">
                <a:solidFill>
                  <a:srgbClr val="262626"/>
                </a:solidFill>
                <a:latin typeface="Calibri"/>
              </a:rPr>
              <a:t>Feed the outcome back; retrain only under the audited validation protocol.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Calibri"/>
              </a:rPr>
              <a:t>‣  </a:t>
            </a:r>
            <a:r>
              <a:rPr sz="950" b="1">
                <a:solidFill>
                  <a:srgbClr val="262626"/>
                </a:solidFill>
                <a:latin typeface="Calibri"/>
              </a:rPr>
              <a:t>Rule of communication — </a:t>
            </a:r>
          </a:p>
          <a:p>
            <a:pPr>
              <a:lnSpc>
                <a:spcPct val="100000"/>
              </a:lnSpc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Calibri"/>
              </a:rPr>
              <a:t>‣  </a:t>
            </a:r>
            <a:r>
              <a:rPr sz="950" b="0">
                <a:solidFill>
                  <a:srgbClr val="262626"/>
                </a:solidFill>
                <a:latin typeface="Calibri"/>
              </a:rPr>
              <a:t>Quote risk tiers and the ~10-week horizon — never a single failure 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852160"/>
            <a:ext cx="11185855" cy="4572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852160"/>
            <a:ext cx="1082009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>
                <a:solidFill>
                  <a:srgbClr val="E2231A"/>
                </a:solidFill>
                <a:latin typeface="Calibri"/>
              </a:rPr>
              <a:t>THE BOTTOM LINE:   </a:t>
            </a:r>
            <a:r>
              <a:rPr sz="1050">
                <a:solidFill>
                  <a:srgbClr val="FFFFFF"/>
                </a:solidFill>
                <a:latin typeface="Calibri"/>
              </a:rPr>
              <a:t>Value today: two HIGH trucks to inspect, a weekly scoring rhythm and battery-first triage — a modeled ~43% saving vs run-to-failure. The biggest next unlock is new signals + Phase-2 scale, not more modelling on the same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19088"/>
            <a:ext cx="11185855" cy="11430"/>
          </a:xfrm>
          <a:prstGeom prst="rect">
            <a:avLst/>
          </a:prstGeom>
          <a:solidFill>
            <a:srgbClr val="D3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ytedg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528816"/>
            <a:ext cx="820730" cy="1828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40480" y="6519672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50" b="0">
                <a:solidFill>
                  <a:srgbClr val="8C8C8C"/>
                </a:solidFill>
                <a:latin typeface="Calibri"/>
              </a:rPr>
              <a:t>DICV · Starter-Motor Predictive Maintenance · V1.1_SM —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51967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0">
                <a:solidFill>
                  <a:srgbClr val="8C8C8C"/>
                </a:solidFill>
                <a:latin typeface="Calibri"/>
              </a:rPr>
              <a:t>Figures audited to V1.1_SM source files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05895" y="6501384"/>
            <a:ext cx="320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5E5E5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