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88952" cy="54864"/>
          </a:xfrm>
          <a:prstGeom prst="rect">
            <a:avLst/>
          </a:prstGeom>
          <a:solidFill>
            <a:srgbClr val="C58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DAIMLER STARTER MOTOR PREDICTIVE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0">
                <a:solidFill>
                  <a:srgbClr val="C58B1F"/>
                </a:solidFill>
                <a:latin typeface="Calibri"/>
              </a:defRPr>
            </a:pPr>
            <a:r>
              <a:t>Calibrated Fleet Risk Tiers, Validated Early-Warning Alerts &amp; a Measured Detection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0B8C4"/>
                </a:solidFill>
                <a:latin typeface="Calibri"/>
              </a:defRPr>
            </a:pPr>
            <a:r>
              <a:t>BharatBenz 5528T  |  Fleet of 34 VINs (14F + 20NF)  |  V1.1_SM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B0B8C4"/>
                </a:solidFill>
                <a:latin typeface="Calibri"/>
              </a:defRPr>
            </a:pPr>
            <a:r>
              <a:t>June 2026  |  Version: V1.1_SM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200" b="0">
                <a:solidFill>
                  <a:srgbClr val="B0B8C4"/>
                </a:solidFill>
                <a:latin typeface="Calibri"/>
              </a:defRPr>
            </a:pPr>
            <a:r>
              <a:t>Prepared by Data Science &amp; Engineering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C58B1F"/>
                </a:solidFill>
                <a:latin typeface="Calibri"/>
              </a:defRPr>
            </a:pPr>
            <a:r>
              <a:t>BytEdge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Starter motor failure prediction across 34 BharatBenz 5528T trucks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247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Nested-LOVO AUROC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A5CB0"/>
                </a:solidFill>
                <a:latin typeface="Calibri"/>
              </a:defRPr>
            </a:pPr>
            <a:r>
              <a:t>93.2%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1E8C45"/>
                </a:solidFill>
                <a:latin typeface="Calibri"/>
              </a:defRPr>
            </a:pPr>
            <a:r>
              <a:t>PASS (&gt;89.3% V1)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05156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11247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Recall (Youden)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1325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A5CB0"/>
                </a:solidFill>
                <a:latin typeface="Calibri"/>
              </a:defRPr>
            </a:pPr>
            <a:r>
              <a:t>13/14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167335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SPEC 15/20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2624" y="105156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1247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RED-Tier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1325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A5CB0"/>
                </a:solidFill>
                <a:latin typeface="Calibri"/>
              </a:defRPr>
            </a:pPr>
            <a:r>
              <a:t>10/14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67335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SPEC 18/20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6056" y="105156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11247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Calibration Slope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1325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57F3D"/>
                </a:solidFill>
                <a:latin typeface="Calibri"/>
              </a:defRPr>
            </a:pPr>
            <a:r>
              <a:t>0.86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167335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1E8C45"/>
                </a:solidFill>
                <a:latin typeface="Calibri"/>
              </a:defRPr>
            </a:pPr>
            <a:r>
              <a:t>PASS [0.5, 2]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05156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7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11247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Detection Horizon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1325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B87A0F"/>
                </a:solidFill>
                <a:latin typeface="Calibri"/>
              </a:defRPr>
            </a:pPr>
            <a:r>
              <a:t>10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167335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DECAY VERIFIED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05740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13055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Failed Trucks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331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B02A2A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67919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POST-HOC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79192" y="205740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70632" y="213055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In-Service Trucks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0632" y="2331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57F3D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0632" y="267919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16 GRN / 2 AMB / 2 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92624" y="205740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84064" y="213055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Features (Ridge)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2331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A5CB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4064" y="267919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ADMISSIBILITY-AUDITED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06056" y="205740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97496" y="213055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A2 Cascade Alert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7496" y="2331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57F3D"/>
                </a:solidFill>
                <a:latin typeface="Calibri"/>
              </a:defRPr>
            </a:pPr>
            <a:r>
              <a:t>4/5 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7496" y="267919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0/20 NF, ~9.5 wk LEAD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19488" y="205740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10928" y="213055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Permutation 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8" y="2331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57F3D"/>
                </a:solidFill>
                <a:latin typeface="Calibri"/>
              </a:defRPr>
            </a:pPr>
            <a:r>
              <a:t>0.005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0928" y="267919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1E8C45"/>
                </a:solidFill>
                <a:latin typeface="Calibri"/>
              </a:defRPr>
            </a:pPr>
            <a:r>
              <a:t>PASS (N=200 floor)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1089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Objective: Predict starter motor failure risk and provide validated early warning from CAN bus voltage and crank telemetry.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Ridge classifier achieves nested-LOVO AUROC 0.9321 (95% CI [0.811, 0.986], permutation p=0.005) with 4 audited features. Recall 13/14 at the Youden point; RED tier gives 10/14 at 18/20 specificity.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Honest-validation differentiator: V1's reported 0.9214 was restated to 0.8929 under the fully nested protocol before being beaten. V1.1's selection optimism is +0.0036 (vs V1's hidden +0.0285). Probabilities are calibrated (slope 0.86, Brier 0.124) and shippable.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Three validated alert channels (A2 battery-cascade ~9.5-week (66.5 d) lead with 0/20 NF false alarms; tier-gated persistence flag; A1 crank-burst corroborator) cover 13/14 failed trucks. Detection horizon: k* = 10 weeks, decay-to-chance verified. ~4/14 silent/abrupt failures remain structurally invisible.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937760"/>
            <a:ext cx="11430000" cy="1033271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983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1937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Nested AUROC 0.9321 beats the honestly-restated V1 baseline (0.8929) under a strictly harder protocol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5367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V1's worst miss (VIN8_F_SM, P=0.303) is now caught at recalibrated 0.716, RED tier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5412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New capability: validated early warning with a measured 10-week horizon -- V1 had none (its trend battery fired on 90% of healthy trucks)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7150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2/20 in-service trucks are RED (VIN19_NF, VIN34_NF) and should be prioritized for starter + battery circuit inspection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Why starter motor predictive maintenance matters for heavy-duty fleets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D1B2A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 failed starter motor strands the truck wherever it last parked -- no crank, no trip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No advance warning in the current time/km-based maintenance regime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Starter failures are entangled with battery health -- the wrong part gets replaced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Fleet telemetry (CAN bus) streams voltage and crank activity -- untapped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14 of 34 study trucks failed within the observation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D1B2A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Classify fleet into risk tiers (GREEN / AMBER / RED) with calibrated probabilities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Ship only leakage-audited features under a fully nested validation protocol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Provide validated early-warning alerts with measured lead times and FP burden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Route battery-vs-starter triage so the cheapest correct intervention happens first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Quantify what is achievable (and what is not) with 5-second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D1B2A"/>
                </a:solidFill>
                <a:latin typeface="Calibri"/>
              </a:defRPr>
            </a:pPr>
            <a:r>
              <a:t>FOUR-LAYER APPROACH (methodology inherited from the Alternator V10.6.2 program)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Layer 1 -- Fleet Risk Model: 4-feature nested-LOVO Ridge, calibrated probability + GREEN/AMBER/RED tier (AUROC 0.9321)</a:t>
            </a:r>
          </a:p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Layer 2 -- Early-Warning Alerts: A2 battery-cascade detector (~9.5-wk lead, 0/20 NF), tier-gated persistence flag, A1 crank-burst corroborator</a:t>
            </a:r>
          </a:p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Layer 3 -- Honest RUL: validity-horizon statement (flagged truck typically within ~10 weeks of failure) instead of unsupportable day-precision dates</a:t>
            </a:r>
          </a:p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Layer 4 -- Explainability: exact per-truck linear attributions, archetype assignment, raw-unit counterfactual with every 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983480"/>
            <a:ext cx="11430000" cy="832104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3951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Starter failure is a no-start stranding event; battery-vs-starter misdiagnosis is the single largest avoidable-cost lever (DICV A6)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41324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Four-layer architecture: calibrated risk tier, validated alerts, horizon statement, and an explanation card per truck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58698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Honest framing: ~4/14 failures are silent/abrupt and invisible to any voltage-based method at 5 s sampling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Characterizing the starter motor failure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Key Question: Can we predict starter motor failure risk and warn early from CAN bus telemetry?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FAILURE ARCHETYPES (DATA-DERIVED)</a:t>
            </a:r>
          </a:p>
        </p:txBody>
      </p:sp>
      <p:pic>
        <p:nvPicPr>
          <p:cNvPr id="7" name="Picture 6" descr="arche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566928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WHAT EACH ARCHETYPE MEANS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920240"/>
          <a:ext cx="5486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Archetype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Mechanism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Observable?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A1 Solenoid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Intermittent engagement, crank retry bursts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 -- days-to-weeks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A2 Battery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Rest-floor sag + deepening dips (cascade)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 -- best channel (~9 wk)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A3 Volatility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Within-week voltage noise drifting 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 -- weeks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A4 Silent/Abrupt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Windings, seizure, control loss, telemetry death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-- detection ceiling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3703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5/14 failed trucks go silent 32-142 days before the recorded failure date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7/34 trucks have an SMA-dead telematics config -- crank features unobservable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A4 (4/14) sets the honest recall ceiling at ~10-11/14 for lead-time alerting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09160"/>
            <a:ext cx="11430000" cy="1033271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9651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Three of four archetypes (A1/A2/A3, ~10-11 trucks) are observable in voltage/crank telemetry -- A4 is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389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A2 battery cascade is the best-observed pathway and the prime confound: weak battery accelerates solenoid wear and vice versa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126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Silent gaps and SMA-dead configs are telemetry-architecture problems, not modeling problems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The physics audit predicted the recall ceiling (~10-11/14) before modeling -- the model lands exactly there at the RED tier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CAN bus telemetry streams and fleet composition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834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CAN SIGNAL INVENTORY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154680"/>
          <a:ext cx="5486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109728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VSI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Power Supply Voltage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0-36V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Electrical health (primary)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SMA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Starter Motor Active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{0,1}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Crank-event catalog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RPM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Engine Speed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0-3500 rev/min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Crank success / rest detection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CSP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Vehicle Speed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0-100 km/h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Drive vs rest separation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ANR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Engine Torque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-400-1300 Nm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Load context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Alternator Excitation State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{0,1,2,3}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Data-quality covariate only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2834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FLEET COMPOSITION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3154680"/>
          <a:ext cx="4846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31520"/>
                <a:gridCol w="109728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Suffix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Failed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_F_SM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Post-hoc analysis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In-Service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_NF_SM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Active monitoring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~106M CAN rows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4572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106,445,161 raw 5-second rows -&gt; 2,636 truck-weeks + 20,471 gap-aware crank events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5 s sampling / ~0.2 V resolution; no cranking current, temperature, or battery SoC signal</a:t>
            </a:r>
          </a:p>
          <a:p>
            <a:pPr>
              <a:spcAft>
                <a:spcPts val="3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•  Sequential fleet numbering: VIN1-14 failed, VIN15-34 in-service (raw-file mapping: results/V1_1_SM_vin_naming_map.csv).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212080"/>
            <a:ext cx="11430000" cy="86868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257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46811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VSI (power supply voltage) is again the winning signal family -- 3 of 4 model features derive from it; 1 from crank 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4184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SM has no GED=2 channel: zero GED2 in all 14 failed trucks -- the ALT emergency layer does not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81558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KT crank claims reconciled: durations only +3% (not +48%); whole-life &gt;5% failed-crank threshold refuted -- only the last-90-day change discriminates (AUROC 0.74)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HONEST VALIDATION &amp; LEAKAGE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V1's headline was restated before being beaten -- the differentiator of this program</a:t>
            </a:r>
          </a:p>
        </p:txBody>
      </p:sp>
      <p:pic>
        <p:nvPicPr>
          <p:cNvPr id="5" name="Picture 4" descr="auroc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0350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051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WHY THE RESTATEMENT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V1 reported 0.9214 -- but feature screening + subset selection sat outside the LOVO loop (+0.0285 optimism), and one recall point came from a post-hoc pooled threshold.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Nested restatement: V1's true out-of-sample AUROC is 0.8929 (recall 12/14).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V1's top-2 feature (vsi_dominant_freq) was a 1/n_weeks artifact -- it collapses 0.748 to 0.525 under a fixed-window control. Banned.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V1.1 redoes screening, subset search, threshold, and Platt recalibration inside every fold: optimism +0.0036.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Ablation: the nested protocol on V1-era features scores 0.8429 -- the V1.1 gain (+0.089) is feature engineering, not protocol arithmetic.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564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LEAKAGE GATES (ALL ENFORCED PER REFIT)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730752"/>
          <a:ext cx="114300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4114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Hazard it controls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Leak ceilings measured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n_weeks alone classifies at AUROC 0.952; t_start at 0.893 (failed trucks stop transmitting because they failed)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All such features banned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G1 fixed-L40 window control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Observation-length artifacts laundered through denominators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Drop 0.0000 -- matrices bit-identical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G3 prequential time-locking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Epoch/length leak vs true failure signal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Screening-feature curve: holds to k=10 wks, chance at k=11 (0.536) -- failure-locked. NB: the frozen final-model curve (slide 16) decays slower: 0.704 at k=11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G4 winner-subset stability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Fold-to-fold feature-selection instability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Strict modal criterion FAIL (14/34 &lt; 17/34; a k=3/k=4 tie). Substantively stable: core pair vsi_withinwk + range_trend in 34/34 folds; only 3 distinct subsets total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G6 banned-token scan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vsi_dominant_freq, calendar features, cumulative counts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 banned tokens in selected features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Permutation test (full pipeline)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Selection noise masquerading as signal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 = 0.005 (0/200 shuffles reach 0.9321)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6016752"/>
            <a:ext cx="11430000" cy="50292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624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27278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V1 0.9214 (reported) -&gt; 0.8929 (restated, nested) -&gt; 0.9321 (V1.1 nested) -- measured under a strictly harder protocol; vs V1-as-reported the recall swap is VIN8_F gained, VIN9_F (nominally caught by V1 at P=0.4825) lost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The leak ceilings in this data (AUROC 0.95 from data volume alone) exceed any honest model -- which is why the gates exist and are binding; G4 is the one strict FAIL, disclosed above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04  MODELING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B0B8C4"/>
                </a:solidFill>
                <a:latin typeface="Calibri"/>
              </a:defRPr>
            </a:pPr>
            <a:r>
              <a:t>Four-layer architecture: Risk Tiers -&gt; Alerts -&gt; Horizon -&gt;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MODELING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Nested-LOVO Ridge + validated alert channels + horizon statement +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D1B2A"/>
                </a:solidFill>
                <a:latin typeface="Calibri"/>
              </a:defRPr>
            </a:pPr>
            <a:r>
              <a:t>LAYER 1: RISK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697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RidgeClassifier(alpha=1.0)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4 audited features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Fully nested 34-fold LOVO: AUROC 0.9321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95% CI [0.811, 0.986], p=0.005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Per-fold Platt recalibration (slope 0.86)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Tiers: GREEN &lt;0.35 &lt;= AMBER &lt;0.55 &lt;= RED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Score weekly, review monthly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515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D1B2A"/>
                </a:solidFill>
                <a:latin typeface="Calibri"/>
              </a:defRPr>
            </a:pPr>
            <a:r>
              <a:t>LAYER 2: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697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A2 battery-cascade: 4/5 archetype, 0/20 NF, median lead 66.5d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Persistence flag: 13/14, 4/20 NF -- tier-gated condition flag only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A1 crank-burst: corroborator only (1.52 FP eps/truck-yr standalone)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Combined: 13/14 failed fire &gt;=1 channel; 10/20 NF fully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0515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D1B2A"/>
                </a:solidFill>
                <a:latin typeface="Calibri"/>
              </a:defRPr>
            </a:pPr>
            <a:r>
              <a:t>LAYER 3: HONEST RUL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2697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No day-precision RUL, no survival layer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Validity-horizon statement: flagged truck typically within ~10 weeks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Tier -&gt; maintenance window: RED 2-4 wks; AMBER next service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Proof of ceiling: hazard RUL MAE 576d vs 44d for a constant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051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D1B2A"/>
                </a:solidFill>
                <a:latin typeface="Calibri"/>
              </a:defRPr>
            </a:pPr>
            <a:r>
              <a:t>LAYER 4: 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37160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Exact linear attribution (coef x z = SHAP for a linear model)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34 per-VIN explanation cards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Archetype assignment per truck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Raw-unit counterfactual per flagged truck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Governance-grade model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DECISION ENGINE: HOW THE LAYERS COMBINE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61188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657600"/>
                <a:gridCol w="1737360"/>
                <a:gridCol w="27432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Timing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A2 battery-cascade fires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BATTERY-FIRST INSPECTION (DICV A6 routing)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Weeks (~9.5 wk lead)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 (0/20 NF false alarms)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Tier 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STARTER + BATTERY CIRCUIT INSPECTION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2-4 weeks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 (18/20 specificity)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Tier AMBER + persistence flag active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BUNDLE INTO NEXT SCHEDULED SERVICE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Medium (tier-gated flag)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A1 crank burst on AMBER/RED truck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CORROBORATE -- ADVANCE THE INSPECTION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Days-weeks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Medium (rescued VIN1_F)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Tier GREEN, no channel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NORMAL OPERATION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Score valid ~2.3 months (70 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 (10/20 NF fully clean)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5623560"/>
            <a:ext cx="11430000" cy="77724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795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Four layers, each shipping only LOVO/physics-validated numbers -- alert channels are gated behind tiers, never standalone pagers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533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A2 battery-cascade is the only short-fuse (~1-3 month) signal and the highest-confidence channel (0/20 NF false alarms)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270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Alert channels recover 3 of the 4 Layer-1 GREEN-tier misses (VIN1/3/4_F) -- redundant coverage by design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4 winners from a 10-candidate audited pool, selected inside every fold</a:t>
            </a:r>
          </a:p>
        </p:txBody>
      </p:sp>
      <p:pic>
        <p:nvPicPr>
          <p:cNvPr id="5" name="Picture 4" descr="feature_coe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66928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FEATURE DESCRIPTIONS &amp; PHYSICS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41732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651760"/>
                <a:gridCol w="7315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Physics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Coef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vsi_withinwk_std_ratio_30d_w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Within-week voltage noise vs own baseline -- volatility drift (univariate AUROC 0.921)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+0.886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rest_vsi_p05_delta90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Engine-off rest-voltage floor sag -- battery cascade (step-aware re-baseline)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-0.270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vsi_range_trend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Weekly voltage-range slope -- suppressor (physics says widening = risk; flipped by r=+0.82 collinearity)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-0.414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dip_depth_last90_delta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Crank dip widening vs own baseline -- heavier cranking load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+0.141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Selection: V1-faithful screening + exhaustive k=3-6 subset search redone inside each of 34 folds. Core pair selected 34/34 folds; only 3 distinct subsets ever chosen -- though gate G4's strict modal criterion FAILS (14/34 &lt; 17/34, a k=3/k=4 tie; disclosed on the gates slide).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All features window-anchored (last 40 masked weeks / last-90-day events) and per-VIN baselined -- the L40 control matrix is bit-identical to production (zero-drop by construction).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Two physics candidates (retry-burst, extended-crank-tail) were admissible but fleet-weak -- rejected by in-fold screening 34/34; they live on inside the A1 alert channel instead.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983480"/>
            <a:ext cx="11430000" cy="832104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23951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The workhorse is the within-week voltage noise ratio (coef +0.886, univariate AUROC 0.921) -- volatility drift against the truck's own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41324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vsi_range_trend is honestly flagged as a statistical suppressor: its negative weight is a collinearity correction, not physics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58698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Battery-step awareness matters: rest-VSI baselines re-anchored after detected battery replacements (VIN8_F + 5 NF trucks)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RESULTS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Nested 34-fold LOVO performance, operating points and calibration</a:t>
            </a:r>
          </a:p>
        </p:txBody>
      </p:sp>
      <p:pic>
        <p:nvPicPr>
          <p:cNvPr id="5" name="Picture 4" descr="ridg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69280" cy="2286000"/>
          </a:xfrm>
          <a:prstGeom prst="rect">
            <a:avLst/>
          </a:prstGeom>
        </p:spPr>
      </p:pic>
      <p:pic>
        <p:nvPicPr>
          <p:cNvPr id="6" name="Picture 5" descr="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411480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PERFORMANCE SCORECARD (ALL NESTED-LOVO OUT-OF-FOLD)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947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737360"/>
                <a:gridCol w="70408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Context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AUROC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0.9321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Bootstrap 95% CI [0.811, 0.986]; permutation p = 0.005 (N=200 floor)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Recall @ per-fold Youden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13/14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TP 13, FP 5, FN 1, TN 15 -- recall-greedy operating point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RED-tier operating 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10/14 @ 18/20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Matched-specificity alternative; choose per maintenance economics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F1 / MCC @ Youden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0.812 / 0.669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Recall-weighted; V1 restated was 12/14 @ 18/20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slope 0.86, Brier 0.124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CITL -0.062; slope in [0.5, 2] -- probabilities shippable (V1 slope was 4.72)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Selection optimism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+0.0036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Non-nested 0.9357 vs nested 0.9321; V1 hid +0.0285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Jackknife stability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0.927-0.951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AUROC range 0.024, std 0.007 across leave-one-out reruns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6309360"/>
            <a:ext cx="11430000" cy="50292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Two pre-registered operating points: Youden (13/14 recall @ 15/20) and RED tier (10/14 @ 18/20) -- both honest, neither dominates V1 on every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7391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The single miss (VIN9_F_SM, prob 0.401 vs threshold 0.406) is the structurally invisible A4 + SMA-dead + 142-day-silent-gap truck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9128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Calibrated probabilities are a new deliverable: V1 scores were rank-only (slope 4.72); V1.1 ships slope 0.86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07  DETAILED VIN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B0B8C4"/>
                </a:solidFill>
                <a:latin typeface="Calibri"/>
              </a:defRPr>
            </a:pPr>
            <a:r>
              <a:t>Failed trucks, in-service fleet, alert channels and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FAILED TRUCK ANALYSIS -- 14 VINs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Out-of-fold probability, tier, archetype and first-firing alert channel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77724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822960"/>
                <a:gridCol w="822960"/>
                <a:gridCol w="822960"/>
                <a:gridCol w="2011680"/>
                <a:gridCol w="146304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OOF P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 P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Archetype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First Channel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Lead (d)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VIN1_F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0.260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GREEN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A1 solenoid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A1 crank burst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VIN2_F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0.598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0.904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A2 battery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VIN3_F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0.438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0.338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GREEN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A2 battery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VIN4_F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0.429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0.339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GREEN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A4 silent/abrupt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VIN5_F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0.756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0.992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A4 silent/abrupt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392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VIN6_F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0.825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0.998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A2 battery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168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VIN7_F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0.612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A3 volatility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VIN8_F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0.521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0.716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A4 silent/abrupt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98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VIN9_F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0.224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GREEN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A4 silent/abrupt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VIN10_F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0.782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0.995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A1 solenoid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A1 crank burst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160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VIN11_F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0.651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0.958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A3 volatility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VIN12_F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0.658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0.955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A3 volatility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A1 crank burst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128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VIN13_F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0.496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0.654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A2 battery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VIN14_F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0.798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0.998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A1+A2 mixed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245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5897880"/>
            <a:ext cx="11430000" cy="86868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15391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10/14 failed trucks score RED on recalibrated probability; 13/14 are caught at the per-fold Youden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32764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VIN8_F -- V1's worst miss (P=0.303) -- is now RED at 0.716 via the within-week volatility and battery-floor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0138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VIN9_F is the only full miss on every layer: A4 silent + SMA-dead + 142-day silent gap -- the irreducible blind spot of this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Three GREEN-tier failures (VIN1/3/4_F) are recovered by the alert channels -- the layers are redundant by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IN-SERVICE FLEET STATUS -- 20 VINs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Recalibrated out-of-fold risk across the full fleet</a:t>
            </a:r>
          </a:p>
        </p:txBody>
      </p:sp>
      <p:pic>
        <p:nvPicPr>
          <p:cNvPr id="5" name="Picture 4" descr="V1_1_SM_fleet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315200" cy="3657600"/>
          </a:xfrm>
          <a:prstGeom prst="rect">
            <a:avLst/>
          </a:prstGeom>
        </p:spPr>
      </p:pic>
      <p:pic>
        <p:nvPicPr>
          <p:cNvPr id="6" name="Picture 5" descr="nf_t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051560"/>
            <a:ext cx="402336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36576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RED: VIN19_NF (0.96), VIN34_NF (0.62) -- inspect starter + battery circuit within 2-4 weeks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AMBER: VIN16_NF (0.45), VIN24_NF (0.43) -- bundle into next scheduled service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Persistence-flag NF trucks (VIN16/19/22/29_NF) are tracked: future failures or first evidence of rule drift -- either is informative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074920"/>
            <a:ext cx="11430000" cy="832104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120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30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16/20 in-service trucks are GREEN; 2 AMBER and 2 RED warrant action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0468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NF false alarms may be right-censored degraders: VIN19_NF shows genuinely elevated electrical noise; VIN34_NF is tier-only evidence (SMA-dead truck, no alert channel fired)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67842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Re-score weekly (the 10-week horizon gives only ~2 reads per month otherwise); review tiers monthly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VIN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The recovered miss and the textbook battery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8C45"/>
                </a:solidFill>
                <a:latin typeface="Calibri"/>
              </a:defRPr>
            </a:pPr>
            <a:r>
              <a:t>VIN8_F -- V1's MISS, NOW CAUGHT (RED 0.716)</a:t>
            </a:r>
          </a:p>
        </p:txBody>
      </p:sp>
      <p:pic>
        <p:nvPicPr>
          <p:cNvPr id="6" name="Picture 5" descr="V1_1_SM_VIN8_F_SM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6692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0515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0D1B2A"/>
                </a:solidFill>
                <a:latin typeface="Calibri"/>
              </a:defRPr>
            </a:pPr>
            <a:r>
              <a:t>VIN6_F -- A2 BATTERY CASCADE (RED 0.998)</a:t>
            </a:r>
          </a:p>
        </p:txBody>
      </p:sp>
      <p:pic>
        <p:nvPicPr>
          <p:cNvPr id="8" name="Picture 7" descr="V1_1_SM_VIN6_F_SM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66928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2062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VIN8_F: V1 scored it 0.303 (missed). V1.1's within-week volatility ratio plus the battery-step-aware rest-VSI delta lift it to OOF 0.521 (recal 0.716, RED) -- and the persistence flag fired 98 days before end of telemetry. SMA-dead config and a 37-day silent gap are honestly flagged on its card.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VIN6_F: the textbook A2 battery cascade -- rest floor sagging -3.15 V, crank dips +4.12 V deeper, within-week noise 2.07x baseline. RED at 0.998; the A2 triple detector fired 70 days before failure and routes the work order battery-first.</a:t>
            </a:r>
          </a:p>
          <a:p>
            <a:pPr>
              <a:spcAft>
                <a:spcPts val="300"/>
              </a:spcAft>
              <a:defRPr sz="1000" b="0">
                <a:solidFill>
                  <a:srgbClr val="606060"/>
                </a:solidFill>
                <a:latin typeface="Calibri"/>
              </a:defRPr>
            </a:pPr>
            <a:r>
              <a:t>•  Two visual views ship per truck: the weekly risk-probability trajectory (shown here) and a daily RUL-style degradation view (see the Daily-Risk RUL Views slides that follow the Detection Horizon).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760720"/>
            <a:ext cx="11430000" cy="59436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0167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VIN8_F shows the V1.1 gain concretely: new physics features recover a previously-missed failure vs the restated baseline (transparency: vs V1-as-reported, V1.1 trades VIN9_F -- nominally caught at 0.4825 -- for VIN8_F)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9048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VIN6_F shows the triage value: battery-first routing on a cascade signature is the cheapest correct intervention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ALERT CHANNELS &amp; VALIDATED LEADS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Three LOVO/physics-validated channels -- V1 had zero</a:t>
            </a:r>
          </a:p>
        </p:txBody>
      </p:sp>
      <p:pic>
        <p:nvPicPr>
          <p:cNvPr id="5" name="Picture 4" descr="alert_l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76656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0515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SHIP / DON'T-SHIP VERDICTS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37160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1E8C45"/>
                </a:solidFill>
                <a:latin typeface="Calibri"/>
              </a:defRPr>
            </a:pPr>
            <a:r>
              <a:t>•  A2 battery cascade -- SHIP: 4/5 battery archetype, 0/20 NF, median lead 66.5d; battery replacements provably don't fire</a:t>
            </a:r>
          </a:p>
          <a:p>
            <a:pPr>
              <a:spcAft>
                <a:spcPts val="300"/>
              </a:spcAft>
              <a:defRPr sz="900" b="1">
                <a:solidFill>
                  <a:srgbClr val="B87A0F"/>
                </a:solidFill>
                <a:latin typeface="Calibri"/>
              </a:defRPr>
            </a:pPr>
            <a:r>
              <a:t>•  Persistence flag -- SHIP tier-gated only: 13/14 recall, 4/20 NF at end-state; as a raw walking alarm it visits all 20 NF trucks (31% of weeks) -- never a first-crossing pager</a:t>
            </a:r>
          </a:p>
          <a:p>
            <a:pPr>
              <a:spcAft>
                <a:spcPts val="300"/>
              </a:spcAft>
              <a:defRPr sz="900" b="1">
                <a:solidFill>
                  <a:srgbClr val="B87A0F"/>
                </a:solidFill>
                <a:latin typeface="Calibri"/>
              </a:defRPr>
            </a:pPr>
            <a:r>
              <a:t>•  A1 crank burst -- corroborator only: 4/12 applicable failed fire, but 1.52 FP episodes/truck-year standalone; rescued GREEN-tier VIN1_F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COMBINED POLICY (TIER + PERSISTENCE + A1 + A2)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02336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70408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Quantity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Honest note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Failed trucks firing &gt;=1 channel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13/14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 first on 10, A1 first on 3; A2 corroborates 4 and is the only ~1-3-month-fuse signal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Median first-fire lead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168 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Long leads = condition flag, not failure-imminent timer (min 28 d, VIN4_F)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NF trucks fully clean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10/20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 NF show 1 channel, 2 show 2, 2 show 3 -- repeat offenders may be right-censored degraders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GREEN-tier failures recovered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 of 4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VIN1_F (A1 burst), VIN3_F and VIN4_F (persistence); only VIN9_F fires nothing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5897880"/>
            <a:ext cx="11430000" cy="54864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15391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A2 is the deployment star: zero NF false alarms, ~9.5-week (66.5 d) median lead, and a built-in battery-vs-starter triage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32764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The persistence rule is honest about its weakness: recall holds out-of-fold (13/14) but NF FP doubled to 4/20 -- shipped tier-gated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DETECTION HORIZON -- 10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Prequential walk-back of the frozen 4-feature model (X4)</a:t>
            </a:r>
          </a:p>
        </p:txBody>
      </p:sp>
      <p:pic>
        <p:nvPicPr>
          <p:cNvPr id="5" name="Picture 4" descr="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343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Method: per VIN, truncate all data k weeks before its own end of history, recompute the 4 frozen features causally, re-run LOVO -- no re-screening. k=0 reconciles exactly to the X2 figure (0.9357).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Result: AUROC 0.9357 at k=0 decays to 0.768 at k=10 and 0.704 at k=11; far-tail (k=23-26) mean 0.592 with every CI spanning 0.5.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Why this matters twice: (1) operations gets a validity statement -- a flagged truck is typically within ~10 weeks of failure, a clean score is good for ~2.3 months (70 d); (2) the decay-to-chance is the leak disambiguation -- an observation-length artifact would NOT decay with distance to failure.</a:t>
            </a:r>
          </a:p>
          <a:p>
            <a:pPr>
              <a:spcAft>
                <a:spcPts val="300"/>
              </a:spcAft>
              <a:defRPr sz="1000" b="0">
                <a:solidFill>
                  <a:srgbClr val="606060"/>
                </a:solidFill>
                <a:latin typeface="Calibri"/>
              </a:defRPr>
            </a:pPr>
            <a:r>
              <a:t>•  Curve identity: this is the FROZEN FINAL-MODEL curve (0.704 at k=11, chance past ~k=20). The G3 gate's 'chance at k=11' (slide 6) is the discovery-phase screening-feature curve (0.536 at k=11) -- two different objects, not a contradiction.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806440"/>
            <a:ext cx="11430000" cy="68580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52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0624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k* = 10 weeks: claim 'risk score valid ~2.3 months (70 d) out', never quote failure 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Decay is gradual (slow-burn degradation signal), reaching chance past ~k=20 -- honest about the k=13-16 hover at 0.62-0.77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0994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This curve is the single strongest evidence that the model reads failure physics, not telemetry bookkeeping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DAILY-RISK RUL VIEWS -- HOW TO READ (VIN1_F)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A1 solenoid archetype -- early warning, a real telemetry gap, and a terminal silent gap on one canvas</a:t>
            </a:r>
          </a:p>
        </p:txBody>
      </p:sp>
      <p:pic>
        <p:nvPicPr>
          <p:cNvPr id="5" name="Picture 4" descr="V1_1_SM_daily_risk_VIN1_F_SM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7818120" cy="50482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07899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D1B2A"/>
                </a:solidFill>
                <a:latin typeface="Calibri"/>
              </a:defRPr>
            </a:pPr>
            <a:r>
              <a:t>HOW TO READ THE DAILY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417320"/>
            <a:ext cx="3611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Curve breaks = no telemetry received. VIN1_F has a real 34-day mid-history gap (2025-07-31 -&gt; 2025-09-02): the line is masked, never interpolated.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Hatched band = terminal silent gap: 72 days with no data before the recorded failure (2025-11-26). Going quiet is itself information.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Dotted segment = fleet-Weibull-anchored projection beyond the last received data -- an illustration layer, not a measurement.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Early-warning annotation marks the A1 crank-burst corroboration; background colors are the action tiers (GREEN -&gt; RED).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Bottom strip: daily VSI mean/range against the truck's own setpoint -- the raw physics behind the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5166360"/>
            <a:ext cx="3611880" cy="105156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B87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52578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606060"/>
                </a:solidFill>
                <a:latin typeface="Calibri"/>
              </a:defRPr>
            </a:pPr>
            <a:r>
              <a:t>Honest note: the daily RUL curve is a fleet-Weibull-anchored illustration -- the validated deliverable is the calibrated risk tier + &lt;=10-week horizon statement, never a failure 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DAILY-RISK RUL VIEW -- VIN6_F (A2 BATTERY CASCADE)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The textbook battery cascade: full GREEN -&gt; RED zone progression before failure</a:t>
            </a:r>
          </a:p>
        </p:txBody>
      </p:sp>
      <p:pic>
        <p:nvPicPr>
          <p:cNvPr id="5" name="Picture 4" descr="V1_1_SM_daily_risk_VIN6_F_SM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7818120" cy="50482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07899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D1B2A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417320"/>
            <a:ext cx="3611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Full tier progression GREEN -&gt; AMBER -&gt; RED across the history; recalibrated Ridge risk reaches 0.998 (RED) at end of telemetry.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Cascade physics visible in the VSI strip: rest-voltage floor sagging -3.15 V, crank dips +4.12 V deeper, within-week noise 2.07x baseline.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The A2 battery-cascade alert fired 70 days before failure -- it routes the work order battery-first (DICV A6), the cheapest correct intervention.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This is the trajectory shape the daily view is designed to surface: monotone degradation a weekly tier review can act on 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5166360"/>
            <a:ext cx="3611880" cy="105156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B87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52578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606060"/>
                </a:solidFill>
                <a:latin typeface="Calibri"/>
              </a:defRPr>
            </a:pPr>
            <a:r>
              <a:t>Honest note: the daily RUL curve is a fleet-Weibull-anchored illustration -- the validated deliverable is the calibrated risk tier + &lt;=10-week horizon statement, never a failure 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DAILY-RISK RUL VIEW -- VIN15_NF (HEALTHY IN-SERVICE)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The healthy contrast: what a GREEN truck's daily view looks like</a:t>
            </a:r>
          </a:p>
        </p:txBody>
      </p:sp>
      <p:pic>
        <p:nvPicPr>
          <p:cNvPr id="5" name="Picture 4" descr="V1_1_SM_daily_risk_VIN15_NF_SM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7818120" cy="50482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07899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0D1B2A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1417320"/>
            <a:ext cx="3611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Healthy contrast: the truck stays GREEN across its entire history; recalibrated risk 0.07 at last score, status ACTIVE.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The dotted forecast segment is the same fleet-Weibull-anchored projection drawn on every truck -- on a healthy truck it is a planning aid, not a failure prediction.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Flat VSI strip with no rest-floor sag or dip widening -- the physics agrees with the score.</a:t>
            </a:r>
          </a:p>
          <a:p>
            <a:pPr>
              <a:spcAft>
                <a:spcPts val="300"/>
              </a:spcAft>
              <a:defRPr sz="950" b="0">
                <a:solidFill>
                  <a:srgbClr val="1A1A2E"/>
                </a:solidFill>
                <a:latin typeface="Calibri"/>
              </a:defRPr>
            </a:pPr>
            <a:r>
              <a:t>•  Operating rule: a clean GREEN score is valid ~2.3 months (70 d); re-score weekly, review tiers monthly.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5166360"/>
            <a:ext cx="3611880" cy="105156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B87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525780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606060"/>
                </a:solidFill>
                <a:latin typeface="Calibri"/>
              </a:defRPr>
            </a:pPr>
            <a:r>
              <a:t>Honest note: the daily RUL curve is a fleet-Weibull-anchored illustration -- the validated deliverable is the calibrated risk tier + &lt;=10-week horizon statement, never a failure 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08  OPERATIONAL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B0B8C4"/>
                </a:solidFill>
                <a:latin typeface="Calibri"/>
              </a:defRPr>
            </a:pPr>
            <a:r>
              <a:t>Explainability, closed dead ends, limitations and the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Exact attributions, archetypes and counterfactuals -- one card per truck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Linear model -&gt; exact decomposition: contribution = coefficient x z-scored feature (equals SHAP for a linear model; no approximation, no library)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34 per-VIN explanation cards: ranked drivers in physical language, archetype assignment, data-quality caveats (SMA-dead, silent gaps, battery steps)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Raw-unit counterfactual per flagged truck -- a ceteris paribus statement, not a repair prescription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The suppressor (vsi_range_trend) is flagged on every card: physical value and model use stated separately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0D1B2A"/>
                </a:solidFill>
                <a:latin typeface="Calibri"/>
              </a:defRPr>
            </a:pPr>
            <a:r>
              <a:t>EXAMPLE CARD -- VIN6_F (RED, P 0.998, A2 BATTERY CASCADE)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65176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D1B2A"/>
                </a:solidFill>
                <a:latin typeface="Calibri"/>
              </a:defRPr>
            </a:pPr>
            <a:r>
              <a:t>•  Drivers (exact linear attribution):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Within-week noise 2.07x own baseline -&gt; +1.202 (toward failure)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Rest-voltage floor -3.15 V vs baseline -&gt; +0.957 (battery floor sagging)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Crank dips +4.12 V deeper (last 90 d) -&gt; +0.579 (cascade signature)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Range trend +0.200 V/wk -&gt; -1.084 (suppressor term, flagged)</a:t>
            </a:r>
          </a:p>
          <a:p>
            <a:pPr>
              <a:spcAft>
                <a:spcPts val="300"/>
              </a:spcAft>
              <a:defRPr sz="900" b="1">
                <a:solidFill>
                  <a:srgbClr val="1A1A2E"/>
                </a:solidFill>
                <a:latin typeface="Calibri"/>
              </a:defRPr>
            </a:pPr>
            <a:r>
              <a:t>•  Counterfactual: drops RED -&gt; AMBER if within-week noise ratio falls from 2.07x to 1.01x, all else equal.</a:t>
            </a:r>
          </a:p>
          <a:p>
            <a:pPr>
              <a:spcAft>
                <a:spcPts val="300"/>
              </a:spcAft>
              <a:defRPr sz="900" b="1">
                <a:solidFill>
                  <a:srgbClr val="1E8C45"/>
                </a:solidFill>
                <a:latin typeface="Calibri"/>
              </a:defRPr>
            </a:pPr>
            <a:r>
              <a:t>•  Routing: A2 cascade -&gt; battery-first inspection (DICV A6).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434840"/>
            <a:ext cx="11430000" cy="832104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908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Every alert ships with its reasons: a depot engineer sees which physical channel moved and by how much in volts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6460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Counterfactuals make tiers actionable: 'returns to GREEN if the rest floor recovers 0.4 V' is a checkable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3834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Governance: model card with banned-feature registry, gate results, horizon curve and known-miss class (A4)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CLOSED DEAD ENDS -- WITH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Every shelved method now has evidence attached, not vibes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51560"/>
          <a:ext cx="11430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3840480"/>
                <a:gridCol w="2286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 family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was tried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Survival / hazard RUL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Discrete-time hazard, Cox, Weibull AFT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Truck ranking 0.586 vs 0.893 (classifier); RUL MAE 576 d vs 44 d for a constant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CLOSED -- a constant beats every survival formulation at 14 events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Day-precision RUL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All of the above + calibration analysis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Calibrated weekly hazard (~0.005/wk) and day-precision are mathematically incompatible at 14 events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CLOSED -- ship the 10-week horizon statement instead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Deep sequence models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LSTM/BiLSTM/TCN/Transformer/TFT/Informer/PatchTST/TimeXer, DeepSurv/DeepHit/DSM, VAE/contrastive/Siamese (sized)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235x-6,275x over the parameter budget at 14 events; a 43-parameter LSTM's seed variance exceeds any signal difference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CLOSED until n_failed &gt;= 30-50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Honest simple probes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PCA, trend coefficients, distance methods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All saturate at the same ~0.89-0.93 single degree of freedom the engineered features already capture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CLOSED -- no untapped signal in the weekly aggregates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GED emergency channel (ALT transfer)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GED=2 storm detection on SM fleet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Zero GED2 events in all 14 failed SM trucks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CLOSED -- does not transfer; GED is a data-quality covariate only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4069080"/>
            <a:ext cx="11430000" cy="832104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2511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Survival modeling made things measurably worse: RUL MAE 576 d vs 44 d for a constant -- the proof that 'no RUL' is the honest 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49884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Deep learning is closed by arithmetic, not opinion: every requested architecture is hundreds-to-thousands of times over the events-per-parameter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7258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One shelved future path: self-supervised crank-encoder pretraining on the 106M raw rows, defensible at n_failed &gt;= 30-50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Honest assessment of what the data and models cannot 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5156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3017520"/>
                <a:gridCol w="29260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A4 silent/abrupt failures are invisible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~4/14 failures (29%) fire nothing on any layer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Windings, seizure, control loss, telemetry death -- no electrical precursor at 5 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Transmission-health monitoring: a truck going quiet is itself a maintenance trigger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operating point dominates V1 everywhere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Youden: 13/14 @ 15/20; RED tier: 10/14 @ 18/20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Recall-specificity trade at n=34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Two pre-registered points; operations choose per maintenance economics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 s / 0.2 V sampling destroys brush-wear channel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The one genuine 60-120 d precursor is unreadable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Sub-sample dip shape and sub-second duration growth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High-frequency crank logging (&gt;=1 Hz during SMA=1) -- the single biggest unlock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n=34 trucks, 14 events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Wide CI [0.811, 0.986]; thresholds decided by a handful of trucks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Real-world failure-data scarcity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Keep collecting failures; archetypes stay suggestive, not inferential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OOF scores correlate with leak axes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Spearman -0.64 (n_weeks), +0.51 (t_start) -- above tripwire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Label-mediated: failed trucks transmit less because they failed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Zero-drop L40 control + decay-to-chance curve; a larger fleet is the only definitive cure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Persistence-flag NF false positives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4/20 NF trucks flagged at end of history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Right-censored degraders -- or rule drift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Track VIN16/19/22/29_NF; either outcome is informative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Battery-vs-starter ambiguity caps precision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A2 routes battery-first but cannot prove the component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cranking current or battery SoC/SoH signal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Instrument current or SoC -- ends the ambiguity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5760720"/>
            <a:ext cx="11430000" cy="54864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806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0167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These are physics and data-size constraints, stated with numbers -- the honesty is itself a 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9048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The 10-week horizon is the ceiling of this telemetry; reliable improvement requires new signals, not new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DEPLOYMENT, GOVERNANCE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Operating cadence, refit rules, and ranked data 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DEPLOYMENT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Score the fleet weekly (features need 30-90-day windows; the 10-week horizon is built on weekly scoring); review tiers monthly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RED -&gt; starter + battery circuit inspection within 2-4 weeks; AMBER -&gt; bundle into next scheduled service; GREEN -&gt; normal operation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Refit only when new failure labels arrive, always under the full nested protocol with all gates re-run and the permutation test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Banned-feature registry is binding (vsi_dominant_freq, calendar features, observation-length features)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If calibration slope leaves [0.5, 2] on a refit: ship tiers only, not probabilities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Alert channels remain tier-gated -- no standalone pagers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RANKED DATA ASKS (VALUE PER RUPEE)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417320"/>
          <a:ext cx="5486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560320"/>
                <a:gridCol w="25603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Ask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unlocks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High-frequency crank logging (&gt;=1 Hz during SMA=1)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Revives the 60-120 d brush-wear channel and true dip physics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Cranking current or battery SoC/SoH signal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Ends battery-vs-starter ambiguity; sharpens alert precision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Maintenance / parts-replacement records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Turns data-derived archetypes into supervised labels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Keep collecting failures (target n_failed &gt;= 30-50)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Unlocks SSL crank-encoder pretraining and meaningful survival modeling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Ambient temperature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Cold-start conditioning of crank features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4983480"/>
            <a:ext cx="11430000" cy="832104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23951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V1.1 is the honest ceiling of this dataset -- improvement beyond it requires new signals, not new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41324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Stop doing: chasing longer lead times in this data; evaluating deep/sequence/survival models below n_failed =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58698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VIN9_F-class failures need transmission-health monitoring, not a better classifier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CONCLUSIONS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Summary of findings and priority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D1B2A"/>
                </a:solidFill>
                <a:latin typeface="Calibri"/>
              </a:defRPr>
            </a:pPr>
            <a:r>
              <a:t>SUMMARY OF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Nested-LOVO Ridge (AUROC 0.9321, CI [0.811, 0.986], p=0.005) beats the honestly-restated V1 baseline (0.8929) under a strictly harder protocol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Calibrated probabilities ship for the first time (slope 0.86, Brier 0.124); recall 13/14 including V1's worst miss (VIN8_F)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Three validated alert channels give 13/14 early-warning coverage with a measured 10-week horizon -- V1 had none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A2 battery-cascade detector (0/20 NF false alarms, ~9.5-week lead) builds battery-vs-starter triage into the work order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Day-precision RUL is closed with proof (hazard MAE 576 d vs 44 d for a constant); the deliverable is the validity-horizon statement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~4/14 silent/abrupt failures are structurally invisible -- the honest recall ceiling for tier alerting is ~10-11/14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D1B2A"/>
                </a:solidFill>
                <a:latin typeface="Calibri"/>
              </a:defRPr>
            </a:pPr>
            <a:r>
              <a:t>PRIORITY RECOMMENDATIONS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6576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6400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Recommendation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Rationale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Inspect VIN19_NF_SM and VIN34_NF_SM (RED tier)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Recalibrated risk 0.96 / 0.62; starter + battery circuit within 2-4 weeks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Stand up weekly fleet scoring with tier review monthly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The 10-week horizon requires weekly reads to be actionable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Enable A2 battery-cascade alert with battery-first routing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0/20 NF false alarms; the single largest avoidable-cost lever (DICV A6)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Track persistence-flag NF trucks (VIN16/19/22/29_NF)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Future failures or first evidence of rule drift -- either is informative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Procure high-frequency crank logging + battery SoC/current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The two ranked data asks that raise the ceiling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Keep the banned-feature registry and nested protocol binding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Leak ceilings (AUROC 0.95 from data volume alone) exceed any honest model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Communicate the honest picture to stakeholders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Tiers + horizon + triage, not failure dates; A4 blind spot stated in every deployment doc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APPENDIX &amp; TECHNICAL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Key terms, data sources, and pipeline specifications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51560"/>
          <a:ext cx="1143000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AUROC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Area Under ROC Curve -- measures classifier discrimination (1.0 = perfect)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Nested LOVO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Leave-One-Vehicle-Out CV with feature screening, subset selection, threshold and recalibration redone inside every fold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Classifier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L2-regularized linear classifier for binary failure-pattern prediction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Platt Recalibration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Logistic mapping of decision values to calibrated probabilities, fitted per fold on inner out-of-fold values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Youden’s J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Threshold maximizing Sensitivity + Specificity - 1, chosen per fold on inner-OOF predictions (pre-registered)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VSI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Power Supply Voltage (CAN signal): 24V system; per-truck regulation setpoints span 27.6-28.2 V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SMA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Starter Motor Active (CAN signal): 0=Not operated, 1=Operated -- basis of the crank-event catalog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Archetype (A1-A4)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Data-derived failure pathway: A1 solenoid intermittency, A2 battery cascade, A3 volatility drift, A4 silent/abrupt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Persistence flag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Causal within-week VSI-std ratio above training-fold NF p90 envelope in &gt;=4 of last 12 weeks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A2 triple detector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Rest-VSI step down + drive-VSI step up + crank-dip widening, all causal -- battery-cascade signature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Detection horizon k*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Largest k (weeks of data removed before end of history) with sustained AUROC &gt;= 0.75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L40 control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Full rerun with every VIN clipped to its last 40 masked weeks -- zero drop proves no length artifact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SMA-dead cohort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Telematics config with &lt;1% SMA coverage (7 trucks) -- crank features NaN + fold-internal median impute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•  Data sources: STARTER MOTOR/V1.1/results/ (model spec, gates, nested predictions, horizon curve, alert validation), V1.1/reports/ (model card, comparison, alerts+horizon, experiment results), STARTER MOTOR/reports/V1_SM_final_report.md</a:t>
            </a:r>
          </a:p>
          <a:p>
            <a:pPr>
              <a:spcAft>
                <a:spcPts val="3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•  All metrics are nested-LOVO out-of-fold unless stated. See docs/column_dictionary.md for signal definitions. SM VINs are independent of ALT VINs (different physical trucks).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V1.1_SM  |  2026-06-10  |  BharatBenz 5528T Starter Motor Predictive Maintenance  |  BytEdge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